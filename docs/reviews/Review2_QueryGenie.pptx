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64" r:id="rId2"/>
    <p:sldId id="265" r:id="rId3"/>
    <p:sldId id="270" r:id="rId4"/>
    <p:sldId id="268" r:id="rId8"/>
    <p:sldId id="267" r:id="rId7"/>
    <p:sldId id="266" r:id="rId5"/>
    <p:sldId id="272" r:id="rId9"/>
    <p:sldId id="271" r:id="rId10"/>
    <p:sldId id="273" r:id="rId11"/>
    <p:sldId id="274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D77D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Medium Style 2 - Accent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  <a:tblStyle styleId="{21E4AEA4-8DFA-4A89-87EB-49C32662AFE0}" styleName="Medium Style 2 - Accent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8514"/>
    <p:restoredTop sz="94747"/>
  </p:normalViewPr>
  <p:slideViewPr>
    <p:cSldViewPr snapToGrid="0">
      <p:cViewPr varScale="1">
        <p:scale>
          <a:sx n="123" d="100"/>
          <a:sy n="123" d="100"/>
        </p:scale>
        <p:origin x="224" y="2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D580D2-3210-912A-EAB9-9FB8B9C990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DC29709-DACA-6248-E100-B0ECBF06C23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E9E0CAD-274A-8EB8-41BB-0A2DAD955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861E2-95D1-6345-9736-0F1D842AE3C6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D1D9FF-5437-8580-7E8D-5E093A4856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18477B7-A933-51E1-7ED8-C5FD3C166B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215315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896D5C5-34BB-D05C-5BF1-D3EBB9BA007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9BE47A8-E79B-B989-D2F4-E5FA5C71C80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007EEB9-1376-EE8F-F3DC-3FCFE18678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861E2-95D1-6345-9736-0F1D842AE3C6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5F3384B-BA06-0930-C01C-B2F6086C474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278B126-C958-C555-6CFA-73CE22E1C6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92921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84D28E-80CC-F7AA-32D7-B6BC8EA5853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49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B7718AA-1385-5C98-0620-D46E4EB3DE1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49" y="4589465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8891A3-72AB-D73B-8135-C924572ACD4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861E2-95D1-6345-9736-0F1D842AE3C6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CC52309-F54E-EADA-1B95-D5D29CFCB3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6447D4D-C2F1-14A0-DB09-545C9E469D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205171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2DCCD33-3C2D-BA95-6FC7-E8F2C27023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2E36976-4EEE-6FF8-C74E-E83ED795155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1E6B0CA-C266-3574-3AEF-337918AD282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4ECF2A0-02E1-51C5-5759-BC8B15CB87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861E2-95D1-6345-9736-0F1D842AE3C6}" type="datetimeFigureOut">
              <a:rPr lang="en-US" smtClean="0"/>
              <a:t>8/3/26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349E6B7-6CE7-B841-9BFE-410A0CB7C1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76A247AA-0BC7-711F-DA03-1EECB85DB7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532675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30D93B1-E183-30AC-47C3-21AC8F75A1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6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974F9DE-EF14-7665-901E-4880A8D0655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9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31C9DB0-FEE4-35F7-9E4F-44CEA1464D9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9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5666758-71E4-5F6B-675E-D1ECA0F96C5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1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482D50A-0E2E-96E7-05EC-52A743BA3DC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1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A297762-018C-12BC-04DB-6E7E88C087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861E2-95D1-6345-9736-0F1D842AE3C6}" type="datetimeFigureOut">
              <a:rPr lang="en-US" smtClean="0"/>
              <a:t>8/3/26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804C95DE-965E-895A-DBB2-B12F5DA025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9DB6364D-694A-6CA7-B515-4407450E40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58511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693264-EBD3-3D1C-0FC0-833B97AA15F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8D267DA-78FA-229A-BDF6-3EB519EA15B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861E2-95D1-6345-9736-0F1D842AE3C6}" type="datetimeFigureOut">
              <a:rPr lang="en-US" smtClean="0"/>
              <a:t>8/3/26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226282F-E5CA-8CF4-6042-8E073B7682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8B1BE6-C620-0CBA-57BA-190BC4392C0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35965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9BC1A99-8DAE-9613-1174-ACFD557454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861E2-95D1-6345-9736-0F1D842AE3C6}" type="datetimeFigureOut">
              <a:rPr lang="en-US" smtClean="0"/>
              <a:t>8/3/26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251C0C3C-FAD8-81F9-1824-6EBFF43595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2A7FDA3-15A7-8D68-D9AA-BAB73E6812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0377662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C977DF-3358-881E-2F48-C5FE9EBD3E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1003E0-17B9-1DB5-6348-2E2985E25B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F952784-4692-7036-E89B-B1F462776D8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56BC907-6808-EB7A-21CC-5927FF5019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861E2-95D1-6345-9736-0F1D842AE3C6}" type="datetimeFigureOut">
              <a:rPr lang="en-US" smtClean="0"/>
              <a:t>8/3/26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BDC2BC6-C248-AC24-F465-FB9E556E99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C69868C-55F4-3EF2-38B6-D9E379DD8D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855799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476681-A4F3-464B-9B36-3D2554B299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7E22278-9479-94E9-D59F-D556B16BFDE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6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85C56DC-F45F-AEE8-F25F-92AA686F9C2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E319543-A28E-71D0-F201-4C6DA3D361F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861E2-95D1-6345-9736-0F1D842AE3C6}" type="datetimeFigureOut">
              <a:rPr lang="en-US" smtClean="0"/>
              <a:t>8/3/26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FD414BC-640B-3629-FBBB-1DE6F5F920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7C6521F-240F-37D7-DA3B-7BCFAEC4EB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24221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9A6EF38-9505-8578-AA43-638C99C1C5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7A715CF6-DA69-9F0C-3071-AF5DEEFD606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F10D348-45B5-F666-DEA7-93D3F7C2C66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861E2-95D1-6345-9736-0F1D842AE3C6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1B2C03D-B434-7AD0-8324-A872298573D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B49DC2E-99F3-5512-42AA-38731A554D7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46900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6D72120-70B8-1E4B-D211-AE4F23EDE85D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1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EFFE469-F259-EBEE-F382-0506895E0EC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1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E41F4DD-7ABA-78CD-F2CA-14BE94C9CA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C861E2-95D1-6345-9736-0F1D842AE3C6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7CCB28F-35DC-5294-9DA9-786B75ECED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CD13FEE-C90B-CDF5-9562-CC93F8FD08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015169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Relationship Id="rId13" Type="http://schemas.openxmlformats.org/officeDocument/2006/relationships/image" Target="../media/image1.png"/><Relationship Id="rId14" Type="http://schemas.microsoft.com/office/2007/relationships/hdphoto" Target="../media/hdphoto1.wdp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13">
            <a:alphaModFix amt="3000"/>
            <a:lum/>
            <a:extLst>
              <a:ext uri="{BEBA8EAE-BF5A-486C-A8C5-ECC9F3942E4B}">
                <a14:imgProps xmlns:a14="http://schemas.microsoft.com/office/drawing/2010/main">
                  <a14:imgLayer r:embed="rId14">
                    <a14:imgEffect>
                      <a14:artisticPencilGrayscale pencilSize="26"/>
                    </a14:imgEffect>
                  </a14:imgLayer>
                </a14:imgProps>
              </a:ext>
            </a:extLst>
          </a:blip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4D08B6F-8CC1-E0E9-AA2E-1B00742739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76CFCE2-44B5-14D0-6A3B-CBCF7F8F505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A16BEAC-4286-09DA-3AD0-5D588AA60F5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C861E2-95D1-6345-9736-0F1D842AE3C6}" type="datetimeFigureOut">
              <a:rPr lang="en-US" smtClean="0"/>
              <a:t>8/3/26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B1CF0DC-7878-B607-45D5-6F8D06D709E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2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36BBAB7-AC82-3663-8F80-B1959BD239D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751B1A3-848F-1A45-AC87-3024D5F6155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09072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377" rtl="0" eaLnBrk="1" latinLnBrk="0" hangingPunct="1">
        <a:lnSpc>
          <a:spcPct val="90000"/>
        </a:lnSpc>
        <a:spcBef>
          <a:spcPct val="0"/>
        </a:spcBef>
        <a:buNone/>
        <a:defRPr sz="3200" b="1" kern="1200">
          <a:solidFill>
            <a:srgbClr val="002060"/>
          </a:solidFill>
          <a:latin typeface="+mj-lt"/>
          <a:ea typeface="+mj-ea"/>
          <a:cs typeface="+mj-cs"/>
        </a:defRPr>
      </a:lvl1pPr>
    </p:titleStyle>
    <p:bodyStyle>
      <a:lvl1pPr marL="228594" indent="-228594" algn="l" defTabSz="91437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78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971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160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349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607987-A089-04F2-3763-62E5D827BC97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002060"/>
                </a:solidFill>
              </a:rPr>
              <a:t>QueryGenie: A Self-Correcting Natural Language to SQL Interface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86BF962-D7B8-3044-BC3C-112E78CC19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364818"/>
          </a:xfrm>
        </p:spPr>
        <p:txBody>
          <a:bodyPr/>
          <a:lstStyle/>
          <a:p>
            <a:pPr algn="r"/>
            <a:r>
              <a:rPr lang="en-US" dirty="0"/>
              <a:t>2320090050 : N V V S S Jayakanth Kamisetti</a:t>
            </a:r>
          </a:p>
          <a:p>
            <a:pPr algn="r"/>
            <a:r>
              <a:rPr lang="en-US" dirty="0"/>
              <a:t>2320090009 : Bodupally Narendar</a:t>
            </a:r>
          </a:p>
          <a:p>
            <a:pPr algn="r"/>
            <a:r>
              <a:rPr lang="en-US" dirty="0"/>
              <a:t>Project Review II   ·   29 August 2026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BB207E50-8B7C-54B1-3E27-4620CCBA6CF4}"/>
              </a:ext>
            </a:extLst>
          </p:cNvPr>
          <p:cNvSpPr txBox="1">
            <a:spLocks/>
          </p:cNvSpPr>
          <p:nvPr/>
        </p:nvSpPr>
        <p:spPr>
          <a:xfrm>
            <a:off x="1524000" y="5320145"/>
            <a:ext cx="3546764" cy="81742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0" indent="0" algn="ctr" defTabSz="914377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189" indent="0" algn="ctr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377" indent="0" algn="ctr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566" indent="0" algn="ctr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754" indent="0" algn="ctr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5943" indent="0" algn="ctr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1" indent="0" algn="ctr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indent="0" algn="ctr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indent="0" algn="ctr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r>
              <a:rPr lang="en-US" b="1" dirty="0">
                <a:solidFill>
                  <a:schemeClr val="accent2">
                    <a:lumMod val="50000"/>
                  </a:schemeClr>
                </a:solidFill>
              </a:rPr>
              <a:t>Project Supervisor : M Parameswar</a:t>
            </a:r>
            <a:endParaRPr lang="en-US" dirty="0"/>
          </a:p>
          <a:p>
            <a:pPr algn="r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83579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E820424-00EE-4DF7-F2C6-50391674B79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Outline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D1BC2F5-B651-06DA-36E3-17F7CACB037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lang="en-US" b="1" dirty="0"/>
              <a:t>Research paper implementation</a:t>
            </a:r>
          </a:p>
          <a:p>
            <a:r>
              <a:rPr lang="en-US" b="1" dirty="0"/>
              <a:t>Architecture diagram</a:t>
            </a:r>
          </a:p>
          <a:p>
            <a:r>
              <a:rPr lang="en-US" b="1" dirty="0"/>
              <a:t>GitHub code availability</a:t>
            </a:r>
          </a:p>
          <a:p>
            <a:r>
              <a:rPr lang="en-US" b="1" dirty="0"/>
              <a:t>Code execution &amp; reproduction results</a:t>
            </a:r>
          </a:p>
          <a:p>
            <a:r>
              <a:rPr lang="en-US" b="1" dirty="0"/>
              <a:t>Contributions</a:t>
            </a:r>
          </a:p>
          <a:p>
            <a:r>
              <a:rPr lang="en-US" b="1" dirty="0"/>
              <a:t>Reproducibility documentation (10 pages)</a:t>
            </a:r>
          </a:p>
          <a:p>
            <a:r>
              <a:rPr lang="en-US" b="1" dirty="0"/>
              <a:t>Enhancements / improvements &amp; next-review work</a:t>
            </a:r>
          </a:p>
        </p:txBody>
      </p:sp>
    </p:spTree>
    <p:extLst>
      <p:ext uri="{BB962C8B-B14F-4D97-AF65-F5344CB8AC3E}">
        <p14:creationId xmlns:p14="http://schemas.microsoft.com/office/powerpoint/2010/main" val="32491090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EA47EC-F709-BA87-FB72-313CFD69E8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833ACFE-A3CB-D225-E1F3-DC82C3073DD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Research Paper Implementation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7020EC-224E-A5B3-968C-E3C7BFDFE07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lang="en-US" b="1" dirty="0"/>
              <a:t>Anchor paper — CodeS (SIGMOD 2024, arXiv:2402.16347): a fully open-source text-to-SQL model (StarCoder base, incremental pre-training, schema filter + value retriever, supervised fine-tuning). We implement its inference pipeline end-to-end and reproduce it on the Spider benchmark.</a:t>
            </a:r>
          </a:p>
          <a:p>
            <a:r>
              <a:rPr lang="en-US" b="1" dirty="0"/>
              <a:t>Two-tier reproduction:  Tier 1 (liveness) — the released codes-1b loads, generates SQL from a schema + question, and executes it (Week-4 red-flag gate: CLEARED).  Tier 2 (faithful) — Spider-dev Execution-Accuracy evaluation with the released CodeS-1B checkpoint.</a:t>
            </a:r>
          </a:p>
          <a:p>
            <a:r>
              <a:rPr lang="en-US" b="1" dirty="0"/>
              <a:t>Working prototype:  a local app (Gradio) runs the full pipeline on-device — natural-language question → CodeS → SQL → execute → self-correct on failure → results table + auto-selected chart. Nothing leaves the machine.</a:t>
            </a:r>
          </a:p>
        </p:txBody>
      </p:sp>
    </p:spTree>
    <p:extLst>
      <p:ext uri="{BB962C8B-B14F-4D97-AF65-F5344CB8AC3E}">
        <p14:creationId xmlns:p14="http://schemas.microsoft.com/office/powerpoint/2010/main" val="288807665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BEFB8A5-CBB4-AB86-EE45-892BA9278E4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002060"/>
                </a:solidFill>
                <a:latin typeface="+mn-lt"/>
              </a:rPr>
              <a:t>Code Execution &amp; Reproduction Results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BF87D798-5446-8714-262B-462E922AAA8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2050429"/>
              </p:ext>
            </p:extLst>
          </p:nvPr>
        </p:nvGraphicFramePr>
        <p:xfrm>
          <a:off x="614275" y="2501900"/>
          <a:ext cx="11193345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38669">
                  <a:extLst>
                    <a:ext uri="{9D8B030D-6E8A-4147-A177-3AD203B41FA5}">
                      <a16:colId xmlns:a16="http://schemas.microsoft.com/office/drawing/2014/main" val="1434240176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1552005630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980165990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3823210105"/>
                    </a:ext>
                  </a:extLst>
                </a:gridCol>
                <a:gridCol w="2238669">
                  <a:extLst>
                    <a:ext uri="{9D8B030D-6E8A-4147-A177-3AD203B41FA5}">
                      <a16:colId xmlns:a16="http://schemas.microsoft.com/office/drawing/2014/main" val="123622819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t>Item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Setup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Metric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Result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Status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110826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t>Tier-1 gate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codes-1b · Colab T4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SQL executes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Correct row returned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Cleared (T1-001)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86042627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t>Prototype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codes-3b-spider · Apple M4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Example queries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Correct SQL + auto chart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Working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564546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t>Tier-2 (Spider dev)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codes-1b-spider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Execution Accuracy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73.3% (prelim, 30 ex)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Full run completing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817884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t>Paper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CodeS-1B · Spider dev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EX (Table 5)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77.9%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t>Within ±10% tolerance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26650465"/>
                  </a:ext>
                </a:extLst>
              </a:tr>
            </a:tbl>
          </a:graphicData>
        </a:graphic>
      </p:graphicFrame>
      <p:sp>
        <p:nvSpPr>
          <p:cNvPr id="5" name="TextBox 4">
            <a:extLst>
              <a:ext uri="{FF2B5EF4-FFF2-40B4-BE49-F238E27FC236}">
                <a16:creationId xmlns:a16="http://schemas.microsoft.com/office/drawing/2014/main" id="{43DFD4E5-BFA1-8D55-9C9A-9EE1A2351655}"/>
              </a:ext>
            </a:extLst>
          </p:cNvPr>
          <p:cNvSpPr txBox="1"/>
          <p:nvPr/>
        </p:nvSpPr>
        <p:spPr>
          <a:xfrm>
            <a:off x="758537" y="1726962"/>
            <a:ext cx="940475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Execution verified on real databases; Tier-2 measures Spider-dev Execution Accuracy vs the paper's 77.9%.</a:t>
            </a:r>
          </a:p>
        </p:txBody>
      </p:sp>
    </p:spTree>
    <p:extLst>
      <p:ext uri="{BB962C8B-B14F-4D97-AF65-F5344CB8AC3E}">
        <p14:creationId xmlns:p14="http://schemas.microsoft.com/office/powerpoint/2010/main" val="395790717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25DDE0-8A2C-ED6B-154D-D21691F720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GitHub Code Availability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C3DDA3-3837-1013-1D85-7CA3CDCC80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lang="en-US" dirty="0"/>
              <a:t>Repository: github.com/jayakanthh/QueryGenie  (private; project supervisor and both team members added as collaborators — both commit under their own accounts).</a:t>
            </a:r>
          </a:p>
          <a:p>
            <a:r>
              <a:rPr lang="en-US" dirty="0"/>
              <a:t>Structure:  src/ — prototype (app.py, model.py, engine.py, database.py, charts.py);  scripts/ — download_spider.py, convert_mlx.py;  notebooks/ — Week-4 gate;  results/ — reproduction_log.csv + evidence;  docs/ — reproducibility report, architecture, weekly reports.</a:t>
            </a:r>
          </a:p>
          <a:p>
            <a:r>
              <a:rPr lang="en-US" dirty="0"/>
              <a:t>Run locally:  pip install -r requirements.txt  →  python src/app.py.  The dataset and model weights are fetched from approved sources (Hugging Face); large artefacts are git-ignored and regenerable.</a:t>
            </a:r>
          </a:p>
        </p:txBody>
      </p:sp>
    </p:spTree>
    <p:extLst>
      <p:ext uri="{BB962C8B-B14F-4D97-AF65-F5344CB8AC3E}">
        <p14:creationId xmlns:p14="http://schemas.microsoft.com/office/powerpoint/2010/main" val="376585297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28E3DF0-FB58-63D4-45FC-2D647681FA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Architecture Diagram (CodeS pipeline)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5B99294-2DD4-54FB-DEAC-067E7BB887D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/>
            </a:r>
          </a:p>
        </p:txBody>
      </p:sp>
      <p:pic>
        <p:nvPicPr>
          <p:cNvPr id="4" name="Picture 3" descr="codes_architecture_flowcha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2496" y="1825625"/>
            <a:ext cx="6527007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907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1601173-DB9D-2A55-1AC2-0B9A859619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002060"/>
                </a:solidFill>
                <a:latin typeface="Aptos" panose="020B0004020202020204" pitchFamily="34" charset="0"/>
              </a:rPr>
              <a:t>Contributions</a:t>
            </a:r>
            <a:endParaRPr lang="en-US" b="1" dirty="0">
              <a:solidFill>
                <a:srgbClr val="00206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E775B2-4CCF-E3CC-67EB-BAFDAAE3AD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lang="en-US" dirty="0"/>
              <a:t>1) Execution-guided self-correction — detect SQL that fails to execute and repair it automatically (prototype already built; formalised and measured in Month 3).</a:t>
            </a:r>
          </a:p>
          <a:p>
            <a:r>
              <a:rPr lang="en-US" dirty="0"/>
              <a:t>2) Confidence-aware abstention (novel) — generate multiple candidates, measure their agreement, and abstain with a clarifying question when confidence is low; reported as an accuracy-vs-coverage curve. Existing systems answer with uniform confidence and never report this.</a:t>
            </a:r>
          </a:p>
          <a:p>
            <a:r>
              <a:rPr lang="en-US" dirty="0"/>
              <a:t>3) Benchmark-to-reality gap — evaluate on a custom academic schema alongside Spider to quantify and narrow the drop published models show on real databases.</a:t>
            </a:r>
          </a:p>
          <a:p>
            <a:r>
              <a:rPr lang="en-US" dirty="0"/>
              <a:t>Each enhancement is measured against the reproduced baseline with statistical significance (paired t-test / Wilcoxon).</a:t>
            </a:r>
          </a:p>
        </p:txBody>
      </p:sp>
    </p:spTree>
    <p:extLst>
      <p:ext uri="{BB962C8B-B14F-4D97-AF65-F5344CB8AC3E}">
        <p14:creationId xmlns:p14="http://schemas.microsoft.com/office/powerpoint/2010/main" val="34724893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AA656B-0821-0969-8445-5D6D4A10347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Enhancements, Improvements &amp; Next-Review Work</a:t>
            </a:r>
            <a:endParaRPr lang="en-US" dirty="0">
              <a:solidFill>
                <a:srgbClr val="002060"/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EC7D505-03EF-17A6-20CD-8D127B1AE7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lang="en-US" b="1" dirty="0"/>
              <a:t>Reproducibility documentation: a 10-page Code Reproducibility Report accompanies this review (scope, environment, executed runs, documented deviations, metrics, artefact index).</a:t>
            </a:r>
          </a:p>
          <a:p>
            <a:r>
              <a:rPr lang="en-US" b="1" dirty="0"/>
              <a:t>Improvement to close the reproduction gap: adopt the full CodeS database prompt (schema filter + BM25 value retriever + metadata) to move EX from 73.3% toward the reported 77.9%.</a:t>
            </a:r>
          </a:p>
          <a:p>
            <a:r>
              <a:rPr lang="en-US" b="1" dirty="0"/>
              <a:t>Next-review work: complete the full 1034-example Spider-dev run and log three runs; finalise EX vs the 77.9% target; Week-7 schema-filter ablation; begin the enhancement implementation (self-correction → confidence-aware abstention).</a:t>
            </a:r>
          </a:p>
        </p:txBody>
      </p:sp>
    </p:spTree>
    <p:extLst>
      <p:ext uri="{BB962C8B-B14F-4D97-AF65-F5344CB8AC3E}">
        <p14:creationId xmlns:p14="http://schemas.microsoft.com/office/powerpoint/2010/main" val="6215132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C3C1D4-A931-668D-A188-5C11E68A13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algn="ctr"/>
            <a:r>
              <a:rPr lang="en-US" b="1" dirty="0">
                <a:solidFill>
                  <a:srgbClr val="002060"/>
                </a:solidFill>
              </a:rPr>
              <a:t>References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4A35C1D-7495-EB2D-9FA3-079F416634F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wrap="square"/>
          <a:lstStyle/>
          <a:p>
            <a:r>
              <a:rPr lang="en-US" dirty="0"/>
              <a:t>Li, H., et al. (2024). CodeS: Towards Building Open-source Language Models for Text-to-SQL. SIGMOD. arXiv:2402.16347</a:t>
            </a:r>
          </a:p>
          <a:p>
            <a:r>
              <a:rPr lang="en-US" dirty="0"/>
              <a:t>Li, H., et al. (2023). RESDSQL: Decoupling Schema Linking and Skeleton Parsing for Text-to-SQL. AAAI. arXiv:2302.05965</a:t>
            </a:r>
          </a:p>
          <a:p>
            <a:r>
              <a:rPr lang="en-US" dirty="0"/>
              <a:t>Pourreza, M., &amp; Rafiei, D. (2023). DIN-SQL: Decomposed In-Context Learning of Text-to-SQL with Self-Correction. NeurIPS. arXiv:2304.11015</a:t>
            </a:r>
          </a:p>
          <a:p>
            <a:r>
              <a:rPr lang="en-US" dirty="0"/>
              <a:t>Dibia, V. (2023). LIDA: Automatic Generation of Grammar-Agnostic Visualizations using LLMs. ACL. arXiv:2303.02927</a:t>
            </a:r>
          </a:p>
          <a:p>
            <a:r>
              <a:rPr lang="en-US" dirty="0"/>
              <a:t>Yu, T., et al. (2018). Spider: A Large-Scale Dataset for Complex and Cross-Domain Text-to-SQL. EMNLP. arXiv:1809.08887</a:t>
            </a:r>
          </a:p>
          <a:p>
            <a:r>
              <a:rPr lang="en-US" dirty="0"/>
              <a:t>Li, R., et al. (2023). StarCoder: may the source be with you! arXiv:2305.06161</a:t>
            </a:r>
          </a:p>
        </p:txBody>
      </p:sp>
    </p:spTree>
    <p:extLst>
      <p:ext uri="{BB962C8B-B14F-4D97-AF65-F5344CB8AC3E}">
        <p14:creationId xmlns:p14="http://schemas.microsoft.com/office/powerpoint/2010/main" val="223704915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7" name="Rectangle 6">
            <a:extLst>
              <a:ext uri="{FF2B5EF4-FFF2-40B4-BE49-F238E27FC236}">
                <a16:creationId xmlns:a16="http://schemas.microsoft.com/office/drawing/2014/main" id="{577D6B2E-37A3-429E-A37C-F30ED64872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5CEAD642-85CF-4750-8432-7C80C901F00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1723" y="-1"/>
            <a:ext cx="12225953" cy="6868071"/>
          </a:xfrm>
          <a:prstGeom prst="rect">
            <a:avLst/>
          </a:prstGeom>
          <a:gradFill>
            <a:gsLst>
              <a:gs pos="0">
                <a:srgbClr val="000000"/>
              </a:gs>
              <a:gs pos="100000">
                <a:schemeClr val="accent1">
                  <a:lumMod val="75000"/>
                </a:schemeClr>
              </a:gs>
            </a:gsLst>
            <a:lin ang="4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FA33EEAE-15D5-4119-8C1E-89D943F911E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 flipH="1">
            <a:off x="441959" y="-3"/>
            <a:ext cx="11772269" cy="6868074"/>
          </a:xfrm>
          <a:prstGeom prst="rect">
            <a:avLst/>
          </a:prstGeom>
          <a:gradFill>
            <a:gsLst>
              <a:gs pos="21000">
                <a:schemeClr val="accent1">
                  <a:lumMod val="50000"/>
                  <a:alpha val="83000"/>
                </a:schemeClr>
              </a:gs>
              <a:gs pos="100000">
                <a:schemeClr val="accent1">
                  <a:alpha val="0"/>
                </a:schemeClr>
              </a:gs>
            </a:gsLst>
            <a:lin ang="8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730D8B3B-9B80-4025-B934-26DC7D7CD2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10800000">
            <a:off x="-15200" y="0"/>
            <a:ext cx="3623374" cy="686807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0"/>
                </a:schemeClr>
              </a:gs>
              <a:gs pos="99000">
                <a:srgbClr val="000000">
                  <a:alpha val="41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064D5D5-227B-4F66-9AEA-46F570E793B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15875" y="-3"/>
            <a:ext cx="12233581" cy="6868076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73000"/>
                </a:srgbClr>
              </a:gs>
            </a:gsLst>
            <a:lin ang="17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646B67A4-D328-4747-A82B-65E84FA463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 flipH="1">
            <a:off x="4484334" y="-861824"/>
            <a:ext cx="6861931" cy="8597859"/>
          </a:xfrm>
          <a:prstGeom prst="rect">
            <a:avLst/>
          </a:prstGeom>
          <a:gradFill>
            <a:gsLst>
              <a:gs pos="3000">
                <a:schemeClr val="accent1">
                  <a:lumMod val="75000"/>
                  <a:alpha val="0"/>
                </a:schemeClr>
              </a:gs>
              <a:gs pos="100000">
                <a:srgbClr val="000000">
                  <a:alpha val="27000"/>
                </a:srgbClr>
              </a:gs>
            </a:gsLst>
            <a:lin ang="13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" name="Oval 18">
            <a:extLst>
              <a:ext uri="{FF2B5EF4-FFF2-40B4-BE49-F238E27FC236}">
                <a16:creationId xmlns:a16="http://schemas.microsoft.com/office/drawing/2014/main" id="{B5A1B09C-1565-46F8-B70F-621C5EB48A0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993193">
            <a:off x="1186972" y="1089049"/>
            <a:ext cx="4967533" cy="4988390"/>
          </a:xfrm>
          <a:prstGeom prst="ellipse">
            <a:avLst/>
          </a:prstGeom>
          <a:gradFill>
            <a:gsLst>
              <a:gs pos="0">
                <a:schemeClr val="accent1">
                  <a:alpha val="26000"/>
                </a:schemeClr>
              </a:gs>
              <a:gs pos="85000">
                <a:schemeClr val="accent1">
                  <a:lumMod val="60000"/>
                  <a:lumOff val="40000"/>
                  <a:alpha val="0"/>
                </a:schemeClr>
              </a:gs>
            </a:gsLst>
            <a:lin ang="144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B203201-DBE6-7383-5D47-941784238B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62567" y="818984"/>
            <a:ext cx="6714699" cy="3178689"/>
          </a:xfrm>
        </p:spPr>
        <p:txBody>
          <a:bodyPr vert="horz" lIns="91440" tIns="45720" rIns="91440" bIns="45720" rtlCol="0" anchor="b">
            <a:normAutofit/>
          </a:bodyPr>
          <a:lstStyle/>
          <a:p>
            <a:pPr defTabSz="914400"/>
            <a:r>
              <a:rPr lang="en-US" sz="4800" b="1" kern="1200">
                <a:solidFill>
                  <a:srgbClr val="FFFFFF"/>
                </a:solidFill>
                <a:latin typeface="+mj-lt"/>
                <a:ea typeface="+mj-ea"/>
                <a:cs typeface="+mj-cs"/>
              </a:rPr>
              <a:t>Thank you </a:t>
            </a:r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8C516CC8-80AC-446C-A56E-9F54B721040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flipH="1">
            <a:off x="-3" y="4490110"/>
            <a:ext cx="12217710" cy="2377962"/>
          </a:xfrm>
          <a:prstGeom prst="rect">
            <a:avLst/>
          </a:prstGeom>
          <a:gradFill>
            <a:gsLst>
              <a:gs pos="0">
                <a:schemeClr val="accent1">
                  <a:lumMod val="75000"/>
                  <a:alpha val="50000"/>
                </a:schemeClr>
              </a:gs>
              <a:gs pos="99000">
                <a:srgbClr val="000000">
                  <a:alpha val="34000"/>
                </a:srgb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9308441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423</TotalTime>
  <Words>151</Words>
  <Application>Microsoft Macintosh PowerPoint</Application>
  <PresentationFormat>Widescreen</PresentationFormat>
  <Paragraphs>40</Paragraphs>
  <Slides>11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 Theme</vt:lpstr>
      <vt:lpstr>Project Title</vt:lpstr>
      <vt:lpstr>Outline</vt:lpstr>
      <vt:lpstr>Problem Statement</vt:lpstr>
      <vt:lpstr>Related Research Papers</vt:lpstr>
      <vt:lpstr>Related Research Papers</vt:lpstr>
      <vt:lpstr>Dataset(s)</vt:lpstr>
      <vt:lpstr>Architecture Diagram / Workflow</vt:lpstr>
      <vt:lpstr>Environment setup</vt:lpstr>
      <vt:lpstr>Expected Outcome</vt:lpstr>
      <vt:lpstr>References</vt:lpstr>
      <vt:lpstr>Thank you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Dr. Jagan Mohan Reddy D</dc:creator>
  <cp:lastModifiedBy>Dr. Jagan Mohan Reddy D</cp:lastModifiedBy>
  <cp:revision>50</cp:revision>
  <dcterms:created xsi:type="dcterms:W3CDTF">2026-04-11T11:52:12Z</dcterms:created>
  <dcterms:modified xsi:type="dcterms:W3CDTF">2026-08-03T06:15:05Z</dcterms:modified>
</cp:coreProperties>
</file>
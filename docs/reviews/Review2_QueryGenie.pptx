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2"/>
    <p:sldId id="265" r:id="rId3"/>
    <p:sldId id="270" r:id="rId4"/>
    <p:sldId id="268" r:id="rId5"/>
    <p:sldId id="267" r:id="rId6"/>
    <p:sldId id="266" r:id="rId7"/>
    <p:sldId id="272" r:id="rId8"/>
    <p:sldId id="271" r:id="rId9"/>
    <p:sldId id="273" r:id="rId10"/>
    <p:sldId id="27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7D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27"/>
    <p:restoredTop sz="94705"/>
  </p:normalViewPr>
  <p:slideViewPr>
    <p:cSldViewPr snapToGrid="0">
      <p:cViewPr>
        <p:scale>
          <a:sx n="107" d="100"/>
          <a:sy n="107" d="100"/>
        </p:scale>
        <p:origin x="5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580D2-3210-912A-EAB9-9FB8B9C99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9709-DACA-6248-E100-B0ECBF06C2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E0CAD-274A-8EB8-41BB-0A2DAD955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1D9FF-5437-8580-7E8D-5E093A485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477B7-A933-51E1-7ED8-C5FD3C166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531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6D5C5-34BB-D05C-5BF1-D3EBB9BA0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E47A8-E79B-B989-D2F4-E5FA5C71C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7EEB9-1376-EE8F-F3DC-3FCFE1867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F3384B-BA06-0930-C01C-B2F6086C4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8B126-C958-C555-6CFA-73CE22E1C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292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4D28E-80CC-F7AA-32D7-B6BC8EA58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49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718AA-1385-5C98-0620-D46E4EB3D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49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891A3-72AB-D73B-8135-C924572AC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C52309-F54E-EADA-1B95-D5D29CFCB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47D4D-C2F1-14A0-DB09-545C9E469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051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CCD33-3C2D-BA95-6FC7-E8F2C2702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36976-4EEE-6FF8-C74E-E83ED79515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E6B0CA-C266-3574-3AEF-337918AD2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ECF2A0-02E1-51C5-5759-BC8B15CB8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49E6B7-6CE7-B841-9BFE-410A0CB7C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A247AA-0BC7-711F-DA03-1EECB85DB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326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D93B1-E183-30AC-47C3-21AC8F75A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74F9DE-EF14-7665-901E-4880A8D06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1C9DB0-FEE4-35F7-9E4F-44CEA1464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666758-71E4-5F6B-675E-D1ECA0F96C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82D50A-0E2E-96E7-05EC-52A743BA3D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297762-018C-12BC-04DB-6E7E88C08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4C95DE-965E-895A-DBB2-B12F5DA02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B6364D-694A-6CA7-B515-4407450E4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85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3264-EBD3-3D1C-0FC0-833B97AA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D267DA-78FA-229A-BDF6-3EB519EA1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26282F-E5CA-8CF4-6042-8E073B76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8B1BE6-C620-0CBA-57BA-190BC4392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596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BC1A99-8DAE-9613-1174-ACFD55745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1C0C3C-FAD8-81F9-1824-6EBFF4359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A7FDA3-15A7-8D68-D9AA-BAB73E681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76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977DF-3358-881E-2F48-C5FE9EBD3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003E0-17B9-1DB5-6348-2E2985E25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952784-4692-7036-E89B-B1F46277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6BC907-6808-EB7A-21CC-5927FF501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DC2BC6-C248-AC24-F465-FB9E556E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69868C-55F4-3EF2-38B6-D9E379DD8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557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76681-A4F3-464B-9B36-3D2554B29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E22278-9479-94E9-D59F-D556B16BF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C56DC-F45F-AEE8-F25F-92AA686F9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319543-A28E-71D0-F201-4C6DA3D36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D414BC-640B-3629-FBBB-1DE6F5F92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6521F-240F-37D7-DA3B-7BCFAEC4E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42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6EF38-9505-8578-AA43-638C99C1C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15CF6-DA69-9F0C-3071-AF5DEEFD6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0D348-45B5-F666-DEA7-93D3F7C2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2C03D-B434-7AD0-8324-A87229857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49DC2E-99F3-5512-42AA-38731A554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690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D72120-70B8-1E4B-D211-AE4F23EDE8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FFE469-F259-EBEE-F382-0506895E0E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1F4DD-7ABA-78CD-F2CA-14BE94C9C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CCB28F-35DC-5294-9DA9-786B75ECE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13FEE-C90B-CDF5-9562-CC93F8FD0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1516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3000"/>
            <a:lum/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artisticPencilGrayscale pencilSize="26"/>
                    </a14:imgEffect>
                  </a14:imgLayer>
                </a14:imgProps>
              </a:ext>
            </a:extLst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D08B6F-8CC1-E0E9-AA2E-1B0074273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6CFCE2-44B5-14D0-6A3B-CBCF7F8F5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6BEAC-4286-09DA-3AD0-5D588AA60F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C861E2-95D1-6345-9736-0F1D842AE3C6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CF0DC-7878-B607-45D5-6F8D06D709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BBAB7-AC82-3663-8F80-B1959BD239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07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377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07987-A089-04F2-3763-62E5D827BC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2060"/>
                </a:solidFill>
              </a:rPr>
              <a:t>QueryGenie: A Self-Correcting Natural Language to SQL Interface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6BF962-D7B8-3044-BC3C-112E78CC1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364818"/>
          </a:xfrm>
        </p:spPr>
        <p:txBody>
          <a:bodyPr/>
          <a:lstStyle/>
          <a:p>
            <a:pPr algn="r"/>
            <a:r>
              <a:rPr lang="en-US" dirty="0"/>
              <a:t>2320090050 : N V V S S Jayakanth Kamisetti</a:t>
            </a:r>
          </a:p>
          <a:p>
            <a:pPr algn="r"/>
            <a:r>
              <a:rPr lang="en-US" dirty="0"/>
              <a:t>2320090009 : Boddupally Narendar</a:t>
            </a:r>
          </a:p>
          <a:p>
            <a:pPr algn="r"/>
            <a:r>
              <a:rPr lang="en-US" dirty="0"/>
              <a:t>2320090018 : M Praneeth Reddy</a:t>
            </a:r>
          </a:p>
          <a:p>
            <a:pPr algn="r"/>
            <a:r>
              <a:rPr lang="en-US" dirty="0"/>
              <a:t>Project Review II   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B207E50-8B7C-54B1-3E27-4620CCBA6CF4}"/>
              </a:ext>
            </a:extLst>
          </p:cNvPr>
          <p:cNvSpPr txBox="1">
            <a:spLocks/>
          </p:cNvSpPr>
          <p:nvPr/>
        </p:nvSpPr>
        <p:spPr>
          <a:xfrm>
            <a:off x="1524000" y="5320145"/>
            <a:ext cx="3546764" cy="817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7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Project Supervisor : M Parameswar</a:t>
            </a:r>
            <a:endParaRPr lang="en-US" dirty="0"/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8357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20424-00EE-4DF7-F2C6-50391674B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BC2F5-B651-06DA-36E3-17F7CACB0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b="1" dirty="0"/>
              <a:t>Research paper implementation</a:t>
            </a:r>
          </a:p>
          <a:p>
            <a:r>
              <a:rPr lang="en-US" b="1" dirty="0"/>
              <a:t>Architecture diagram</a:t>
            </a:r>
          </a:p>
          <a:p>
            <a:r>
              <a:rPr lang="en-US" b="1" dirty="0"/>
              <a:t>GitHub code availability</a:t>
            </a:r>
          </a:p>
          <a:p>
            <a:r>
              <a:rPr lang="en-US" b="1" dirty="0"/>
              <a:t>Code execution &amp; reproduction results</a:t>
            </a:r>
          </a:p>
          <a:p>
            <a:r>
              <a:rPr lang="en-US" b="1" dirty="0"/>
              <a:t>Contributions</a:t>
            </a:r>
          </a:p>
          <a:p>
            <a:r>
              <a:rPr lang="en-US" b="1" dirty="0"/>
              <a:t>Reproducibility documentation</a:t>
            </a:r>
          </a:p>
          <a:p>
            <a:r>
              <a:rPr lang="en-US" b="1" dirty="0"/>
              <a:t>Enhancements / improvements &amp; next-review work</a:t>
            </a:r>
          </a:p>
        </p:txBody>
      </p:sp>
    </p:spTree>
    <p:extLst>
      <p:ext uri="{BB962C8B-B14F-4D97-AF65-F5344CB8AC3E}">
        <p14:creationId xmlns:p14="http://schemas.microsoft.com/office/powerpoint/2010/main" val="3249109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47EC-F709-BA87-FB72-313CFD69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3ACFE-A3CB-D225-E1F3-DC82C3073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Research Paper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020EC-224E-A5B3-968C-E3C7BFDFE0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073" y="1526464"/>
            <a:ext cx="10515600" cy="4351338"/>
          </a:xfrm>
        </p:spPr>
        <p:txBody>
          <a:bodyPr wrap="square">
            <a:normAutofit fontScale="92500" lnSpcReduction="20000"/>
          </a:bodyPr>
          <a:lstStyle/>
          <a:p>
            <a:r>
              <a:rPr lang="en-US" b="1" dirty="0"/>
              <a:t>Anchor paper — CodeS (SIGMOD 2024, arXiv:2402.16347): a fully open-source text-to-SQL model (StarCoder base, incremental pre-training, schema filter + value retriever, supervised fine-tuning). We implement its inference pipeline end-to-end and reproduce it on the Spider benchmark.</a:t>
            </a:r>
          </a:p>
          <a:p>
            <a:r>
              <a:rPr lang="en-US" b="1" dirty="0"/>
              <a:t>Two-tier reproduction:  Tier 1 (liveness) — the released codes-1b loads, generates SQL from a schema + question, and executes it (Week-4 red-flag gate: CLEARED).  Tier 2 (faithful) — Spider-dev Execution-Accuracy evaluation with the released CodeS-1B checkpoint.</a:t>
            </a:r>
          </a:p>
          <a:p>
            <a:r>
              <a:rPr lang="en-US" b="1" dirty="0"/>
              <a:t>Working prototype:  a local app (Gradio) runs the full pipeline on-device — natural-language question → CodeS → SQL → execute → self-correct on failure → results table + auto-selected chart. Nothing leaves the machine.</a:t>
            </a:r>
          </a:p>
        </p:txBody>
      </p:sp>
    </p:spTree>
    <p:extLst>
      <p:ext uri="{BB962C8B-B14F-4D97-AF65-F5344CB8AC3E}">
        <p14:creationId xmlns:p14="http://schemas.microsoft.com/office/powerpoint/2010/main" val="288807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3DF0-FB58-63D4-45FC-2D647681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Architecture Diagram (CodeS pipeline)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B99294-2DD4-54FB-DEAC-067E7BB887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4" name="Picture 3" descr="codes_architecture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496" y="1825625"/>
            <a:ext cx="652700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0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5DDE0-8A2C-ED6B-154D-D21691F72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GitHub Code Availability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3DDA3-3837-1013-1D85-7CA3CDCC80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351338"/>
          </a:xfrm>
        </p:spPr>
        <p:txBody>
          <a:bodyPr wrap="square">
            <a:normAutofit lnSpcReduction="10000"/>
          </a:bodyPr>
          <a:lstStyle/>
          <a:p>
            <a:r>
              <a:rPr lang="en-US" dirty="0"/>
              <a:t>Repository: github.com/jayakanthh/</a:t>
            </a:r>
            <a:r>
              <a:rPr lang="en-US" dirty="0" err="1"/>
              <a:t>QueryGenie</a:t>
            </a:r>
            <a:r>
              <a:rPr lang="en-US" dirty="0"/>
              <a:t>  (project supervisor and both team members added as collaborators ).</a:t>
            </a:r>
          </a:p>
          <a:p>
            <a:r>
              <a:rPr lang="en-US" dirty="0"/>
              <a:t>Structure:  src/ — prototype (app.py, model.py, engine.py, database.py, charts.py);  scripts/ — download_spider.py, convert_mlx.py;  notebooks/ — Week-4 gate;  results/ — reproduction_log.csv + evidence;  docs/ — reproducibility report, architecture, weekly reports.</a:t>
            </a:r>
          </a:p>
          <a:p>
            <a:r>
              <a:rPr lang="en-US" dirty="0"/>
              <a:t>Run locally:  pip install -r requirements.txt  →  python src/app.py.  The dataset and model weights are fetched from approved sources (Hugging Face); large artifacts are git-ignored and regenerable.</a:t>
            </a:r>
          </a:p>
        </p:txBody>
      </p:sp>
    </p:spTree>
    <p:extLst>
      <p:ext uri="{BB962C8B-B14F-4D97-AF65-F5344CB8AC3E}">
        <p14:creationId xmlns:p14="http://schemas.microsoft.com/office/powerpoint/2010/main" val="37658529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FB8A5-CBB4-AB86-EE45-892BA9278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Code Execution &amp; Reproduction Results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87D798-5446-8714-262B-462E922AAA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4317"/>
              </p:ext>
            </p:extLst>
          </p:nvPr>
        </p:nvGraphicFramePr>
        <p:xfrm>
          <a:off x="614275" y="3107541"/>
          <a:ext cx="11193345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Tier-1 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codes-1b · Colab T4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SQL executes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Correct row returned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Cleared (T1-001)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Prototype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codes-3b-spider · Apple M4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Example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Correct SQL + auto chart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Tier-2 (Spider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codes-1b-spider (full prompt)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Execution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71.7% (faithful, full 1034)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Within ±10% tolerance 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Paper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CodeS-1B · Spider dev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 (Table 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Reproduced (−6.2 pts, ~8%)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3DFD4E5-BFA1-8D55-9C9A-9EE1A2351655}"/>
              </a:ext>
            </a:extLst>
          </p:cNvPr>
          <p:cNvSpPr txBox="1"/>
          <p:nvPr/>
        </p:nvSpPr>
        <p:spPr>
          <a:xfrm>
            <a:off x="1065538" y="1357631"/>
            <a:ext cx="953714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Full Spider-dev EX = 71.7% with the faithful </a:t>
            </a:r>
            <a:r>
              <a:rPr lang="en-US" dirty="0" err="1"/>
              <a:t>CodeS</a:t>
            </a:r>
            <a:r>
              <a:rPr lang="en-US" dirty="0"/>
              <a:t> prompt (schema + representative values + question-matched values) — within the ±10% tolerance of the paper's 77.9%. This recovered +6.9 points over the schema-only prompt (64.8%), confirming the value retriever was the gap. Residual ~8% is our distinct-scan value match vs their Lucene pipeline and EX-by-result-set vs the official test-suite.</a:t>
            </a:r>
          </a:p>
        </p:txBody>
      </p:sp>
    </p:spTree>
    <p:extLst>
      <p:ext uri="{BB962C8B-B14F-4D97-AF65-F5344CB8AC3E}">
        <p14:creationId xmlns:p14="http://schemas.microsoft.com/office/powerpoint/2010/main" val="3957907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01173-DB9D-2A55-1AC2-0B9A85961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Aptos" panose="020B0004020202020204" pitchFamily="34" charset="0"/>
              </a:rPr>
              <a:t>Contributions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775B2-4CCF-E3CC-67EB-BAFDAAE3AD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3750"/>
            <a:ext cx="10515600" cy="4351338"/>
          </a:xfrm>
        </p:spPr>
        <p:txBody>
          <a:bodyPr wrap="square">
            <a:normAutofit fontScale="92500" lnSpcReduction="20000"/>
          </a:bodyPr>
          <a:lstStyle/>
          <a:p>
            <a:r>
              <a:rPr lang="en-US" dirty="0"/>
              <a:t>1) Execution-guided self-correction — detect SQL that fails to execute and repair it automatically (prototype already built; formalised and measured in Month 3).</a:t>
            </a:r>
          </a:p>
          <a:p>
            <a:r>
              <a:rPr lang="en-US" dirty="0"/>
              <a:t>2) Confidence-aware abstention (novel) — generate multiple candidates, measure their agreement, and abstain with a clarifying question when confidence is low; reported as an accuracy-vs-coverage curve. Existing systems answer with uniform confidence and never report this.</a:t>
            </a:r>
          </a:p>
          <a:p>
            <a:r>
              <a:rPr lang="en-US" dirty="0"/>
              <a:t>3) Benchmark-to-reality gap — evaluate on a custom academic schema alongside Spider to quantify and narrow the drop published models show on real databases.</a:t>
            </a:r>
          </a:p>
          <a:p>
            <a:r>
              <a:rPr lang="en-US" dirty="0"/>
              <a:t>Each enhancement is measured against the reproduced baseline with statistical significance (paired t-test / Wilcoxon).</a:t>
            </a:r>
          </a:p>
        </p:txBody>
      </p:sp>
    </p:spTree>
    <p:extLst>
      <p:ext uri="{BB962C8B-B14F-4D97-AF65-F5344CB8AC3E}">
        <p14:creationId xmlns:p14="http://schemas.microsoft.com/office/powerpoint/2010/main" val="3472489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A656B-0821-0969-8445-5D6D4A103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Enhancements, Improvements &amp; Next-Review Work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7D505-03EF-17A6-20CD-8D127B1AE7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351338"/>
          </a:xfrm>
        </p:spPr>
        <p:txBody>
          <a:bodyPr wrap="square">
            <a:normAutofit fontScale="92500"/>
          </a:bodyPr>
          <a:lstStyle/>
          <a:p>
            <a:r>
              <a:rPr lang="en-US" b="1" dirty="0"/>
              <a:t>Reproducibility documentation: a 10-page Code Reproducibility Report accompanies this review (scope, environment, executed runs, documented deviations, metrics, artefact index).</a:t>
            </a:r>
          </a:p>
          <a:p>
            <a:r>
              <a:rPr lang="en-US" b="1" dirty="0"/>
              <a:t>Result of that improvement: adopting the full CodeS prompt (schema filter + value retriever + metadata) raised EX from 64.8% to 71.7% — within ±10% of the reported 77.9%.</a:t>
            </a:r>
          </a:p>
          <a:p>
            <a:r>
              <a:rPr lang="en-US" b="1" dirty="0"/>
              <a:t>Next-review work: complete the full 1034-example Spider-dev run and log three runs; finalise EX vs the 77.9% target; Week-7 schema-filter ablation; begin the enhancement implementation (self-correction → confidence-aware abstention).</a:t>
            </a:r>
          </a:p>
        </p:txBody>
      </p:sp>
    </p:spTree>
    <p:extLst>
      <p:ext uri="{BB962C8B-B14F-4D97-AF65-F5344CB8AC3E}">
        <p14:creationId xmlns:p14="http://schemas.microsoft.com/office/powerpoint/2010/main" val="62151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3C1D4-A931-668D-A188-5C11E68A1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35C1D-7495-EB2D-9FA3-079F41663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3750"/>
            <a:ext cx="10515600" cy="4351338"/>
          </a:xfrm>
        </p:spPr>
        <p:txBody>
          <a:bodyPr wrap="square">
            <a:normAutofit fontScale="85000" lnSpcReduction="10000"/>
          </a:bodyPr>
          <a:lstStyle/>
          <a:p>
            <a:r>
              <a:rPr lang="en-US" dirty="0"/>
              <a:t>Li, H., et al. (2024). CodeS: Towards Building Open-source Language Models for Text-to-SQL. SIGMOD. arXiv:2402.16347</a:t>
            </a:r>
          </a:p>
          <a:p>
            <a:r>
              <a:rPr lang="en-US" dirty="0"/>
              <a:t>Li, H., et al. (2023). RESDSQL: Decoupling Schema Linking and Skeleton Parsing for Text-to-SQL. AAAI. arXiv:2302.05965</a:t>
            </a:r>
          </a:p>
          <a:p>
            <a:r>
              <a:rPr lang="en-US" dirty="0"/>
              <a:t>Pourreza, M., &amp; Rafiei, D. (2023). DIN-SQL: Decomposed In-Context Learning of Text-to-SQL with Self-Correction. NeurIPS. arXiv:2304.11015</a:t>
            </a:r>
          </a:p>
          <a:p>
            <a:r>
              <a:rPr lang="en-US" dirty="0"/>
              <a:t>Dibia, V. (2023). LIDA: Automatic Generation of Grammar-Agnostic Visualizations using LLMs. ACL. arXiv:2303.02927</a:t>
            </a:r>
          </a:p>
          <a:p>
            <a:r>
              <a:rPr lang="en-US" dirty="0"/>
              <a:t>Yu, T., et al. (2018). Spider: A Large-Scale Dataset for Complex and Cross-Domain Text-to-SQL. EMNLP. arXiv:1809.08887</a:t>
            </a:r>
          </a:p>
          <a:p>
            <a:r>
              <a:rPr lang="en-US" dirty="0"/>
              <a:t>Li, R., et al. (2023). StarCoder: may the source be with you! arXiv:2305.06161</a:t>
            </a:r>
          </a:p>
        </p:txBody>
      </p:sp>
    </p:spTree>
    <p:extLst>
      <p:ext uri="{BB962C8B-B14F-4D97-AF65-F5344CB8AC3E}">
        <p14:creationId xmlns:p14="http://schemas.microsoft.com/office/powerpoint/2010/main" val="2237049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203201-DBE6-7383-5D47-941784238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567" y="818984"/>
            <a:ext cx="6714699" cy="3178689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48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084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437</TotalTime>
  <Words>857</Words>
  <Application>Microsoft Macintosh PowerPoint</Application>
  <PresentationFormat>Widescreen</PresentationFormat>
  <Paragraphs>66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QueryGenie: A Self-Correcting Natural Language to SQL Interface</vt:lpstr>
      <vt:lpstr>Outline</vt:lpstr>
      <vt:lpstr>Research Paper Implementation</vt:lpstr>
      <vt:lpstr>Architecture Diagram (CodeS pipeline)</vt:lpstr>
      <vt:lpstr>GitHub Code Availability</vt:lpstr>
      <vt:lpstr>Code Execution &amp; Reproduction Results</vt:lpstr>
      <vt:lpstr>Contributions</vt:lpstr>
      <vt:lpstr>Enhancements, Improvements &amp; Next-Review Work</vt:lpstr>
      <vt:lpstr>References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N V V S S JAYAKANTH KAMISETTI .</cp:lastModifiedBy>
  <cp:revision>53</cp:revision>
  <dcterms:created xsi:type="dcterms:W3CDTF">2026-04-11T11:52:12Z</dcterms:created>
  <dcterms:modified xsi:type="dcterms:W3CDTF">2026-09-08T17:05:04Z</dcterms:modified>
</cp:coreProperties>
</file>
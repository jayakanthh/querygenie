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2"/>
    <p:sldId id="265" r:id="rId7"/>
    <p:sldId id="266" r:id="rId9"/>
    <p:sldId id="267" r:id="rId10"/>
    <p:sldId id="268" r:id="rId11"/>
    <p:sldId id="269" r:id="rId6"/>
    <p:sldId id="270" r:id="rId5"/>
    <p:sldId id="271" r:id="rId4"/>
    <p:sldId id="272" r:id="rId3"/>
    <p:sldId id="273" r:id="rId16"/>
    <p:sldId id="274" r:id="rId17"/>
    <p:sldId id="275" r:id="rId18"/>
    <p:sldId id="276" r:id="rId19"/>
    <p:sldId id="277" r:id="rId20"/>
    <p:sldId id="278" r:id="rId21"/>
    <p:sldId id="279" r:id="rId22"/>
    <p:sldId id="280" r:id="rId23"/>
    <p:sldId id="281"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7D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7"/>
    <p:restoredTop sz="94705"/>
  </p:normalViewPr>
  <p:slideViewPr>
    <p:cSldViewPr snapToGrid="0">
      <p:cViewPr>
        <p:scale>
          <a:sx n="107" d="100"/>
          <a:sy n="107" d="100"/>
        </p:scale>
        <p:origin x="5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order: what the problem is, what others have done, what we built and measured, the working system, the code, and where everything lives.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30 seconds: we reproduced CodeS to within 0.1 points, and our enhancement lets the system say when it isn't sure — which cuts wrong answers by a third, with a significant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 objectives → contributions. Emphasise the trust angle: a non-SQL user cannot tell a wrong answer from a right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Review-1 survey. The key point: the field moved to LLMs; schema linking and multi-candidate selection help; closed models raise privacy/cost concerns — CodeS answers that with open weights. None of the accuracy numbers we compared come with a confidence estimate.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 reproduced from the paper; amber = our enhancement; green = the app. The same code runs in the evaluation and in the app, so what we measured is what we ship.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Inference-only, because pre-training needs 8×A800. Stress the audit: we compared our harness line by line with the authors' code and found two real problems — that is why the number went from 73.8 to 77.8.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T2-005/T2-006 use the paper's metric. The earlier runs are real but measured with our simplified metric — we keep them in the log and explain them rather than hiding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component helps. The value retriever matters most — and without it the queries still run, they are just wrong. That observation is what motivated the enhancement.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self-correction? Only 2.7% of queries fail to run, so repairing them can gain at most 2.7 points. The errors are queries that run but are wrong — so we measure agreement instead.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bold row. Then the trade-off: it declines 99 questions, 74 of which would have been wrong. Always say the coverage with the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point: beam probability (orange) is better when abstaining on more than a quarter of questions; agreement (blue) wins in the region a usable assistant operates in, which is where we set the operating point in advance.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here if possible. Point at the confidence badge, the SQL behind the table, and the automatic chart. Everything runs locally.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the best student?” is genuinely ambiguous. In strict mode the app refuses to guess and offers the two readings. The strictness options show accuracy measured on Spider, not marketing numbers.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design decision: one shared module (codes_prompt.py) is used by both the evaluation and the app. The prompts were checked identical on 104 questions after refactoring. Tests run in under a second without the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README and the results folder. The LaTeX documentation will follow the department template.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 that matters most: reproducing a result means reproducing the evaluation, not only the model — 4.4 points of our apparent gap was our own scoring.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for questions. Likely ones: why not self-correction (2.7-point ceiling); how is this different from ChatGPT (knows when it doesn't know, runs locally); why 77.8 not 78+ (we reproduce, not tune; abstention gives 83.3 at 90%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580D2-3210-912A-EAB9-9FB8B9C990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C29709-DACA-6248-E100-B0ECBF06C233}"/>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9E0CAD-274A-8EB8-41BB-0A2DAD95508E}"/>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38D1D9FF-5437-8580-7E8D-5E093A485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8477B7-A933-51E1-7ED8-C5FD3C166B2A}"/>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132153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6D5C5-34BB-D05C-5BF1-D3EBB9BA00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BE47A8-E79B-B989-D2F4-E5FA5C71C8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07EEB9-1376-EE8F-F3DC-3FCFE1867881}"/>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45F3384B-BA06-0930-C01C-B2F6086C47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8B126-C958-C555-6CFA-73CE22E1C65B}"/>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789292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D28E-80CC-F7AA-32D7-B6BC8EA5853E}"/>
              </a:ext>
            </a:extLst>
          </p:cNvPr>
          <p:cNvSpPr>
            <a:spLocks noGrp="1"/>
          </p:cNvSpPr>
          <p:nvPr>
            <p:ph type="title"/>
          </p:nvPr>
        </p:nvSpPr>
        <p:spPr>
          <a:xfrm>
            <a:off x="831849"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7718AA-1385-5C98-0620-D46E4EB3DE12}"/>
              </a:ext>
            </a:extLst>
          </p:cNvPr>
          <p:cNvSpPr>
            <a:spLocks noGrp="1"/>
          </p:cNvSpPr>
          <p:nvPr>
            <p:ph type="body" idx="1"/>
          </p:nvPr>
        </p:nvSpPr>
        <p:spPr>
          <a:xfrm>
            <a:off x="831849" y="4589465"/>
            <a:ext cx="10515600" cy="1500187"/>
          </a:xfr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8891A3-72AB-D73B-8135-C924572ACD48}"/>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ECC52309-F54E-EADA-1B95-D5D29CFCB3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447D4D-C2F1-14A0-DB09-545C9E469D86}"/>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4142051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CCD33-3C2D-BA95-6FC7-E8F2C27023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36976-4EEE-6FF8-C74E-E83ED79515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E6B0CA-C266-3574-3AEF-337918AD28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ECF2A0-02E1-51C5-5759-BC8B15CB87F9}"/>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6" name="Footer Placeholder 5">
            <a:extLst>
              <a:ext uri="{FF2B5EF4-FFF2-40B4-BE49-F238E27FC236}">
                <a16:creationId xmlns:a16="http://schemas.microsoft.com/office/drawing/2014/main" id="{5349E6B7-6CE7-B841-9BFE-410A0CB7C1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A247AA-0BC7-711F-DA03-1EECB85DB7FB}"/>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795326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93B1-E183-30AC-47C3-21AC8F75A1ED}"/>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74F9DE-EF14-7665-901E-4880A8D0655E}"/>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1C9DB0-FEE4-35F7-9E4F-44CEA1464D9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666758-71E4-5F6B-675E-D1ECA0F96C52}"/>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82D50A-0E2E-96E7-05EC-52A743BA3DC3}"/>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297762-018C-12BC-04DB-6E7E88C0876B}"/>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8" name="Footer Placeholder 7">
            <a:extLst>
              <a:ext uri="{FF2B5EF4-FFF2-40B4-BE49-F238E27FC236}">
                <a16:creationId xmlns:a16="http://schemas.microsoft.com/office/drawing/2014/main" id="{804C95DE-965E-895A-DBB2-B12F5DA025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B6364D-694A-6CA7-B515-4407450E4062}"/>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3245851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3264-EBD3-3D1C-0FC0-833B97AA15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D267DA-78FA-229A-BDF6-3EB519EA15BB}"/>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4" name="Footer Placeholder 3">
            <a:extLst>
              <a:ext uri="{FF2B5EF4-FFF2-40B4-BE49-F238E27FC236}">
                <a16:creationId xmlns:a16="http://schemas.microsoft.com/office/drawing/2014/main" id="{A226282F-E5CA-8CF4-6042-8E073B7682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8B1BE6-C620-0CBA-57BA-190BC4392C0A}"/>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4193596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BC1A99-8DAE-9613-1174-ACFD557454BE}"/>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3" name="Footer Placeholder 2">
            <a:extLst>
              <a:ext uri="{FF2B5EF4-FFF2-40B4-BE49-F238E27FC236}">
                <a16:creationId xmlns:a16="http://schemas.microsoft.com/office/drawing/2014/main" id="{251C0C3C-FAD8-81F9-1824-6EBFF43595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A7FDA3-15A7-8D68-D9AA-BAB73E68127A}"/>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4103776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977DF-3358-881E-2F48-C5FE9EBD3E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1003E0-17B9-1DB5-6348-2E2985E25B28}"/>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952784-4692-7036-E89B-B1F462776D80}"/>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6BC907-6808-EB7A-21CC-5927FF501972}"/>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6" name="Footer Placeholder 5">
            <a:extLst>
              <a:ext uri="{FF2B5EF4-FFF2-40B4-BE49-F238E27FC236}">
                <a16:creationId xmlns:a16="http://schemas.microsoft.com/office/drawing/2014/main" id="{9BDC2BC6-C248-AC24-F465-FB9E556E9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69868C-55F4-3EF2-38B6-D9E379DD8DE3}"/>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2108557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76681-A4F3-464B-9B36-3D2554B299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E22278-9479-94E9-D59F-D556B16BFDEE}"/>
              </a:ext>
            </a:extLst>
          </p:cNvPr>
          <p:cNvSpPr>
            <a:spLocks noGrp="1"/>
          </p:cNvSpPr>
          <p:nvPr>
            <p:ph type="pic" idx="1"/>
          </p:nvPr>
        </p:nvSpPr>
        <p:spPr>
          <a:xfrm>
            <a:off x="5183188" y="98742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B85C56DC-F45F-AEE8-F25F-92AA686F9C2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319543-A28E-71D0-F201-4C6DA3D361F7}"/>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6" name="Footer Placeholder 5">
            <a:extLst>
              <a:ext uri="{FF2B5EF4-FFF2-40B4-BE49-F238E27FC236}">
                <a16:creationId xmlns:a16="http://schemas.microsoft.com/office/drawing/2014/main" id="{FFD414BC-640B-3629-FBBB-1DE6F5F920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6521F-240F-37D7-DA3B-7BCFAEC4EB8E}"/>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4272422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6EF38-9505-8578-AA43-638C99C1C5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715CF6-DA69-9F0C-3071-AF5DEEFD60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10D348-45B5-F666-DEA7-93D3F7C2C667}"/>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41B2C03D-B434-7AD0-8324-A872298573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9DC2E-99F3-5512-42AA-38731A554D7A}"/>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824690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D72120-70B8-1E4B-D211-AE4F23EDE85D}"/>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FFE469-F259-EBEE-F382-0506895E0ECF}"/>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41F4DD-7ABA-78CD-F2CA-14BE94C9CA53}"/>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57CCB28F-35DC-5294-9DA9-786B75ECED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D13FEE-C90B-CDF5-9562-CC93F8FD0823}"/>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13601516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
            <a:lum/>
            <a:extLst>
              <a:ext uri="{BEBA8EAE-BF5A-486C-A8C5-ECC9F3942E4B}">
                <a14:imgProps xmlns:a14="http://schemas.microsoft.com/office/drawing/2010/main">
                  <a14:imgLayer r:embed="rId14">
                    <a14:imgEffect>
                      <a14:artisticPencilGrayscale pencilSize="26"/>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D08B6F-8CC1-E0E9-AA2E-1B007427395E}"/>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6CFCE2-44B5-14D0-6A3B-CBCF7F8F50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16BEAC-4286-09DA-3AD0-5D588AA60F56}"/>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DB1CF0DC-7878-B607-45D5-6F8D06D709E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36BBAB7-AC82-3663-8F80-B1959BD239D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51B1A3-848F-1A45-AC87-3024D5F61552}" type="slidenum">
              <a:rPr lang="en-US" smtClean="0"/>
              <a:t>‹#›</a:t>
            </a:fld>
            <a:endParaRPr lang="en-US"/>
          </a:p>
        </p:txBody>
      </p:sp>
    </p:spTree>
    <p:extLst>
      <p:ext uri="{BB962C8B-B14F-4D97-AF65-F5344CB8AC3E}">
        <p14:creationId xmlns:p14="http://schemas.microsoft.com/office/powerpoint/2010/main" val="1580907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77" rtl="0" eaLnBrk="1" latinLnBrk="0" hangingPunct="1">
        <a:lnSpc>
          <a:spcPct val="90000"/>
        </a:lnSpc>
        <a:spcBef>
          <a:spcPct val="0"/>
        </a:spcBef>
        <a:buNone/>
        <a:defRPr sz="3200" b="1" kern="1200">
          <a:solidFill>
            <a:srgbClr val="002060"/>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07987-A089-04F2-3763-62E5D827BC97}"/>
              </a:ext>
            </a:extLst>
          </p:cNvPr>
          <p:cNvSpPr>
            <a:spLocks noGrp="1"/>
          </p:cNvSpPr>
          <p:nvPr>
            <p:ph type="ctrTitle"/>
          </p:nvPr>
        </p:nvSpPr>
        <p:spPr/>
        <p:txBody>
          <a:bodyPr/>
          <a:lstStyle/>
          <a:p>
            <a:r>
              <a:rPr lang="en-US" b="1" dirty="0">
                <a:solidFill>
                  <a:srgbClr val="002060"/>
                </a:solidFill>
              </a:rPr>
              <a:t>QueryGenie: A Self-Correcting Natural Language to SQL Interface</a:t>
            </a:r>
          </a:p>
        </p:txBody>
      </p:sp>
      <p:sp>
        <p:nvSpPr>
          <p:cNvPr id="3" name="Subtitle 2">
            <a:extLst>
              <a:ext uri="{FF2B5EF4-FFF2-40B4-BE49-F238E27FC236}">
                <a16:creationId xmlns:a16="http://schemas.microsoft.com/office/drawing/2014/main" id="{086BF962-D7B8-3044-BC3C-112E78CC19F3}"/>
              </a:ext>
            </a:extLst>
          </p:cNvPr>
          <p:cNvSpPr>
            <a:spLocks noGrp="1"/>
          </p:cNvSpPr>
          <p:nvPr>
            <p:ph type="subTitle" idx="1"/>
          </p:nvPr>
        </p:nvSpPr>
        <p:spPr>
          <a:xfrm>
            <a:off x="1524000" y="3602038"/>
            <a:ext cx="9144000" cy="1364818"/>
          </a:xfrm>
        </p:spPr>
        <p:txBody>
          <a:bodyPr/>
          <a:lstStyle/>
          <a:p>
            <a:pPr algn="r"/>
            <a:r>
              <a:rPr lang="en-US" dirty="0"/>
              <a:t>2320090050 : N V V S S Jayakanth Kamisetti</a:t>
            </a:r>
          </a:p>
          <a:p>
            <a:pPr algn="r"/>
            <a:r>
              <a:rPr lang="en-US" dirty="0"/>
              <a:t>2320090009 : Boddupally Narendar</a:t>
            </a:r>
          </a:p>
          <a:p>
            <a:pPr algn="r"/>
            <a:r>
              <a:rPr lang="en-US" dirty="0"/>
              <a:t>2320090018 : M Praneeth Reddy</a:t>
            </a:r>
          </a:p>
          <a:p>
            <a:pPr algn="r"/>
            <a:r>
              <a:rPr lang="en-US" dirty="0"/>
              <a:t>Project Review III   </a:t>
            </a:r>
          </a:p>
        </p:txBody>
      </p:sp>
      <p:sp>
        <p:nvSpPr>
          <p:cNvPr id="4" name="Subtitle 2">
            <a:extLst>
              <a:ext uri="{FF2B5EF4-FFF2-40B4-BE49-F238E27FC236}">
                <a16:creationId xmlns:a16="http://schemas.microsoft.com/office/drawing/2014/main" id="{BB207E50-8B7C-54B1-3E27-4620CCBA6CF4}"/>
              </a:ext>
            </a:extLst>
          </p:cNvPr>
          <p:cNvSpPr txBox="1">
            <a:spLocks/>
          </p:cNvSpPr>
          <p:nvPr/>
        </p:nvSpPr>
        <p:spPr>
          <a:xfrm>
            <a:off x="1524000" y="5320145"/>
            <a:ext cx="3546764" cy="817420"/>
          </a:xfrm>
          <a:prstGeom prst="rect">
            <a:avLst/>
          </a:prstGeom>
        </p:spPr>
        <p:txBody>
          <a:bodyPr vert="horz" lIns="91440" tIns="45720" rIns="91440" bIns="45720" rtlCol="0">
            <a:norm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chemeClr val="accent2">
                    <a:lumMod val="50000"/>
                  </a:schemeClr>
                </a:solidFill>
              </a:rPr>
              <a:t>Project Supervisor : M Parameswar</a:t>
            </a:r>
            <a:endParaRPr lang="en-US" dirty="0"/>
          </a:p>
          <a:p>
            <a:pPr algn="r"/>
            <a:endParaRPr lang="en-US" dirty="0"/>
          </a:p>
        </p:txBody>
      </p:sp>
    </p:spTree>
    <p:extLst>
      <p:ext uri="{BB962C8B-B14F-4D97-AF65-F5344CB8AC3E}">
        <p14:creationId xmlns:p14="http://schemas.microsoft.com/office/powerpoint/2010/main" val="2458357941"/>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Outline</a:t>
            </a:r>
          </a:p>
        </p:txBody>
      </p:sp>
      <p:sp>
        <p:nvSpPr>
          <p:cNvPr id="3" name="Content Placeholder 2"/>
          <p:cNvSpPr>
            <a:spLocks noGrp="1"/>
          </p:cNvSpPr>
          <p:nvPr>
            <p:ph idx="1"/>
          </p:nvPr>
        </p:nvSpPr>
        <p:spPr/>
        <p:txBody>
          <a:bodyPr wrap="square"/>
          <a:lstStyle/>
          <a:p>
            <a:pPr>
              <a:spcAft>
                <a:spcPts val="600"/>
              </a:spcAft>
            </a:pPr>
            <a:r>
              <a:rPr sz="1800" b="0"/>
              <a:t>Abstract</a:t>
            </a:r>
          </a:p>
          <a:p>
            <a:pPr>
              <a:spcAft>
                <a:spcPts val="600"/>
              </a:spcAft>
            </a:pPr>
            <a:r>
              <a:rPr sz="1800" b="0"/>
              <a:t>Introduction — problem, objectives, contributions</a:t>
            </a:r>
          </a:p>
          <a:p>
            <a:pPr>
              <a:spcAft>
                <a:spcPts val="600"/>
              </a:spcAft>
            </a:pPr>
            <a:r>
              <a:rPr sz="1800" b="0"/>
              <a:t>Literature review</a:t>
            </a:r>
          </a:p>
          <a:p>
            <a:pPr>
              <a:spcAft>
                <a:spcPts val="600"/>
              </a:spcAft>
            </a:pPr>
            <a:r>
              <a:rPr sz="1800" b="0"/>
              <a:t>Methodology — reproduction pipeline and the enhancement</a:t>
            </a:r>
          </a:p>
          <a:p>
            <a:pPr>
              <a:spcAft>
                <a:spcPts val="600"/>
              </a:spcAft>
            </a:pPr>
            <a:r>
              <a:rPr sz="1800" b="0"/>
              <a:t>Experimental results — reproduction, ablation, enhancement</a:t>
            </a:r>
          </a:p>
          <a:p>
            <a:pPr>
              <a:spcAft>
                <a:spcPts val="600"/>
              </a:spcAft>
            </a:pPr>
            <a:r>
              <a:rPr sz="1800" b="0"/>
              <a:t>Final implementation — the QueryGenie application</a:t>
            </a:r>
          </a:p>
          <a:p>
            <a:pPr>
              <a:spcAft>
                <a:spcPts val="600"/>
              </a:spcAft>
            </a:pPr>
            <a:r>
              <a:rPr sz="1800" b="0"/>
              <a:t>Code review</a:t>
            </a:r>
          </a:p>
          <a:p>
            <a:pPr>
              <a:spcAft>
                <a:spcPts val="600"/>
              </a:spcAft>
            </a:pPr>
            <a:r>
              <a:rPr sz="1800" b="0"/>
              <a:t>GitHub &amp; documentation</a:t>
            </a:r>
          </a:p>
          <a:p>
            <a:pPr>
              <a:spcAft>
                <a:spcPts val="600"/>
              </a:spcAft>
            </a:pPr>
            <a:r>
              <a:rPr sz="1800" b="0"/>
              <a:t>Conclusion, lessons learned and future work</a:t>
            </a:r>
          </a:p>
          <a:p>
            <a:pPr>
              <a:spcAft>
                <a:spcPts val="600"/>
              </a:spcAft>
            </a:pPr>
            <a:r>
              <a:rPr sz="1800" b="0"/>
              <a:t>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Abstract</a:t>
            </a:r>
          </a:p>
        </p:txBody>
      </p:sp>
      <p:sp>
        <p:nvSpPr>
          <p:cNvPr id="3" name="Content Placeholder 2"/>
          <p:cNvSpPr>
            <a:spLocks noGrp="1"/>
          </p:cNvSpPr>
          <p:nvPr>
            <p:ph idx="1"/>
          </p:nvPr>
        </p:nvSpPr>
        <p:spPr/>
        <p:txBody>
          <a:bodyPr wrap="square"/>
          <a:lstStyle/>
          <a:p>
            <a:pPr>
              <a:spcAft>
                <a:spcPts val="600"/>
              </a:spcAft>
            </a:pPr>
            <a:r>
              <a:rPr sz="1800" b="0"/>
              <a:t>Text-to-SQL systems answer every question with the same confidence — a wrong table looks as authoritative as a right one.</a:t>
            </a:r>
          </a:p>
          <a:p>
            <a:pPr>
              <a:spcAft>
                <a:spcPts val="600"/>
              </a:spcAft>
            </a:pPr>
            <a:r>
              <a:rPr sz="1800" b="0"/>
              <a:t>We </a:t>
            </a:r>
            <a:r>
              <a:rPr sz="1800" b="1"/>
              <a:t>reproduced CodeS</a:t>
            </a:r>
            <a:r>
              <a:rPr sz="1800" b="0"/>
              <a:t> (SIGMOD 2024), an open-source text-to-SQL model: </a:t>
            </a:r>
            <a:r>
              <a:rPr sz="1800" b="1"/>
              <a:t>77.8%</a:t>
            </a:r>
            <a:r>
              <a:rPr sz="1800" b="0"/>
              <a:t> execution accuracy on Spider dev vs </a:t>
            </a:r>
            <a:r>
              <a:rPr sz="1800" b="1"/>
              <a:t>77.9%</a:t>
            </a:r>
            <a:r>
              <a:rPr sz="1800" b="0"/>
              <a:t> reported.</a:t>
            </a:r>
          </a:p>
          <a:p>
            <a:pPr>
              <a:spcAft>
                <a:spcPts val="600"/>
              </a:spcAft>
            </a:pPr>
            <a:r>
              <a:rPr sz="1800" b="0"/>
              <a:t>We added </a:t>
            </a:r>
            <a:r>
              <a:rPr sz="1800" b="1"/>
              <a:t>confidence-aware abstention</a:t>
            </a:r>
            <a:r>
              <a:rPr sz="1800" b="0"/>
              <a:t>: execute the model's 4 candidate queries, and when they disagree, ask the user instead of answering.</a:t>
            </a:r>
          </a:p>
          <a:p>
            <a:pPr>
              <a:spcAft>
                <a:spcPts val="600"/>
              </a:spcAft>
            </a:pPr>
            <a:r>
              <a:rPr sz="1800" b="0"/>
              <a:t>Result: </a:t>
            </a:r>
            <a:r>
              <a:rPr sz="1800" b="1"/>
              <a:t>83.3%</a:t>
            </a:r>
            <a:r>
              <a:rPr sz="1800" b="0"/>
              <a:t> accuracy on the 90.4% of questions it answers; wrong answers </a:t>
            </a:r>
            <a:r>
              <a:rPr sz="1800" b="1"/>
              <a:t>230 → 156 (−32%)</a:t>
            </a:r>
            <a:r>
              <a:rPr sz="1800" b="0"/>
              <a:t>; significant (t-test p = 7.7 × 10⁻¹⁰).</a:t>
            </a:r>
          </a:p>
          <a:p>
            <a:pPr>
              <a:spcAft>
                <a:spcPts val="600"/>
              </a:spcAft>
            </a:pPr>
            <a:r>
              <a:rPr sz="1800" b="0"/>
              <a:t>Delivered as a local web application — runs on open weights, no data leaves the machine.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Introduction</a:t>
            </a:r>
          </a:p>
        </p:txBody>
      </p:sp>
      <p:sp>
        <p:nvSpPr>
          <p:cNvPr id="3" name="Content Placeholder 2"/>
          <p:cNvSpPr>
            <a:spLocks noGrp="1"/>
          </p:cNvSpPr>
          <p:nvPr>
            <p:ph idx="1"/>
          </p:nvPr>
        </p:nvSpPr>
        <p:spPr/>
        <p:txBody>
          <a:bodyPr wrap="square"/>
          <a:lstStyle/>
          <a:p>
            <a:pPr>
              <a:spcAft>
                <a:spcPts val="600"/>
              </a:spcAft>
            </a:pPr>
            <a:r>
              <a:rPr sz="1800" b="1"/>
              <a:t>Problem.</a:t>
            </a:r>
            <a:r>
              <a:rPr sz="1800" b="0"/>
              <a:t> Much institutional data lives in relational databases, but querying it needs SQL. Language models can write the SQL — yet never say when they might be wrong.</a:t>
            </a:r>
          </a:p>
          <a:p>
            <a:pPr>
              <a:spcAft>
                <a:spcPts val="600"/>
              </a:spcAft>
            </a:pPr>
            <a:r>
              <a:rPr sz="1800" b="1"/>
              <a:t>Objectives</a:t>
            </a:r>
          </a:p>
          <a:p>
            <a:pPr lvl="1">
              <a:spcAft>
                <a:spcPts val="600"/>
              </a:spcAft>
            </a:pPr>
            <a:r>
              <a:rPr sz="1600" b="0"/>
              <a:t>Reproduce the published CodeS results within the SOP tolerance (±5–10%), documenting every deviation</a:t>
            </a:r>
          </a:p>
          <a:p>
            <a:pPr lvl="1">
              <a:spcAft>
                <a:spcPts val="600"/>
              </a:spcAft>
            </a:pPr>
            <a:r>
              <a:rPr sz="1600" b="0"/>
              <a:t>Identify which parts of the pipeline matter (ablation study)</a:t>
            </a:r>
          </a:p>
          <a:p>
            <a:pPr lvl="1">
              <a:spcAft>
                <a:spcPts val="600"/>
              </a:spcAft>
            </a:pPr>
            <a:r>
              <a:rPr sz="1600" b="0"/>
              <a:t>Propose, build and statistically test one enhancement: confidence-aware abstention</a:t>
            </a:r>
          </a:p>
          <a:p>
            <a:pPr lvl="1">
              <a:spcAft>
                <a:spcPts val="600"/>
              </a:spcAft>
            </a:pPr>
            <a:r>
              <a:rPr sz="1600" b="0"/>
              <a:t>Deliver it as a working application, not a notebook</a:t>
            </a:r>
          </a:p>
          <a:p>
            <a:pPr>
              <a:spcAft>
                <a:spcPts val="600"/>
              </a:spcAft>
            </a:pPr>
            <a:r>
              <a:rPr sz="1800" b="1"/>
              <a:t>Contributions:</a:t>
            </a:r>
            <a:r>
              <a:rPr sz="1800" b="0"/>
              <a:t> faithful reproduction with an audited evaluation harness · ablation study · abstention with a pre-registered hypothesis · the QueryGenie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Literature Review (44 papers, 5 themes)</a:t>
            </a:r>
          </a:p>
        </p:txBody>
      </p:sp>
      <p:graphicFrame>
        <p:nvGraphicFramePr>
          <p:cNvPr id="3" name="Table 2"/>
          <p:cNvGraphicFramePr>
            <a:graphicFrameLocks noGrp="1"/>
          </p:cNvGraphicFramePr>
          <p:nvPr/>
        </p:nvGraphicFramePr>
        <p:xfrm>
          <a:off x="518007" y="1600200"/>
          <a:ext cx="11155680" cy="2194560"/>
        </p:xfrm>
        <a:graphic>
          <a:graphicData uri="http://schemas.openxmlformats.org/drawingml/2006/table">
            <a:tbl>
              <a:tblPr firstRow="1" bandRow="1">
                <a:tableStyleId>{5C22544A-7EE6-4342-B048-85BDC9FD1C3A}</a:tableStyleId>
              </a:tblPr>
              <a:tblGrid>
                <a:gridCol w="2011680"/>
                <a:gridCol w="4937760"/>
                <a:gridCol w="4206240"/>
              </a:tblGrid>
              <a:tr h="365760">
                <a:tc>
                  <a:txBody>
                    <a:bodyPr/>
                    <a:lstStyle/>
                    <a:p>
                      <a:r>
                        <a:rPr sz="1300" b="1"/>
                        <a:t>Theme</a:t>
                      </a:r>
                    </a:p>
                  </a:txBody>
                  <a:tcPr/>
                </a:tc>
                <a:tc>
                  <a:txBody>
                    <a:bodyPr/>
                    <a:lstStyle/>
                    <a:p>
                      <a:r>
                        <a:rPr sz="1300" b="1"/>
                        <a:t>Representative work</a:t>
                      </a:r>
                    </a:p>
                  </a:txBody>
                  <a:tcPr/>
                </a:tc>
                <a:tc>
                  <a:txBody>
                    <a:bodyPr/>
                    <a:lstStyle/>
                    <a:p>
                      <a:r>
                        <a:rPr sz="1300" b="1"/>
                        <a:t>What we took from it</a:t>
                      </a:r>
                    </a:p>
                  </a:txBody>
                  <a:tcPr/>
                </a:tc>
              </a:tr>
              <a:tr h="365760">
                <a:tc>
                  <a:txBody>
                    <a:bodyPr/>
                    <a:lstStyle/>
                    <a:p>
                      <a:r>
                        <a:rPr sz="1300" b="0"/>
                        <a:t>Surveys</a:t>
                      </a:r>
                    </a:p>
                  </a:txBody>
                  <a:tcPr/>
                </a:tc>
                <a:tc>
                  <a:txBody>
                    <a:bodyPr/>
                    <a:lstStyle/>
                    <a:p>
                      <a:r>
                        <a:rPr sz="1300" b="0"/>
                        <a:t>Hong et al. 2025 (TKDE); Liu et al. 2025 (TKDE); Qin et al. 2022 (TKDE)</a:t>
                      </a:r>
                    </a:p>
                  </a:txBody>
                  <a:tcPr/>
                </a:tc>
                <a:tc>
                  <a:txBody>
                    <a:bodyPr/>
                    <a:lstStyle/>
                    <a:p>
                      <a:r>
                        <a:rPr sz="1300" b="0"/>
                        <a:t>LLM era; execution accuracy preferred over exact match</a:t>
                      </a:r>
                    </a:p>
                  </a:txBody>
                  <a:tcPr/>
                </a:tc>
              </a:tr>
              <a:tr h="365760">
                <a:tc>
                  <a:txBody>
                    <a:bodyPr/>
                    <a:lstStyle/>
                    <a:p>
                      <a:r>
                        <a:rPr sz="1300" b="0"/>
                        <a:t>Benchmarks</a:t>
                      </a:r>
                    </a:p>
                  </a:txBody>
                  <a:tcPr/>
                </a:tc>
                <a:tc>
                  <a:txBody>
                    <a:bodyPr/>
                    <a:lstStyle/>
                    <a:p>
                      <a:r>
                        <a:rPr sz="1300" b="0"/>
                        <a:t>Spider (2018), BIRD (2023), Spider-Syn/-DK/-Realistic</a:t>
                      </a:r>
                    </a:p>
                  </a:txBody>
                  <a:tcPr/>
                </a:tc>
                <a:tc>
                  <a:txBody>
                    <a:bodyPr/>
                    <a:lstStyle/>
                    <a:p>
                      <a:r>
                        <a:rPr sz="1300" b="0"/>
                        <a:t>Spider dev as the reproduction target</a:t>
                      </a:r>
                    </a:p>
                  </a:txBody>
                  <a:tcPr/>
                </a:tc>
              </a:tr>
              <a:tr h="365760">
                <a:tc>
                  <a:txBody>
                    <a:bodyPr/>
                    <a:lstStyle/>
                    <a:p>
                      <a:r>
                        <a:rPr sz="1300" b="0"/>
                        <a:t>Pre-LLM methods</a:t>
                      </a:r>
                    </a:p>
                  </a:txBody>
                  <a:tcPr/>
                </a:tc>
                <a:tc>
                  <a:txBody>
                    <a:bodyPr/>
                    <a:lstStyle/>
                    <a:p>
                      <a:r>
                        <a:rPr sz="1300" b="0"/>
                        <a:t>RAT-SQL, BRIDGE, PICARD, RESDSQL (backup anchor)</a:t>
                      </a:r>
                    </a:p>
                  </a:txBody>
                  <a:tcPr/>
                </a:tc>
                <a:tc>
                  <a:txBody>
                    <a:bodyPr/>
                    <a:lstStyle/>
                    <a:p>
                      <a:r>
                        <a:rPr sz="1300" b="0"/>
                        <a:t>Schema linking is the main bottleneck</a:t>
                      </a:r>
                    </a:p>
                  </a:txBody>
                  <a:tcPr/>
                </a:tc>
              </a:tr>
              <a:tr h="365760">
                <a:tc>
                  <a:txBody>
                    <a:bodyPr/>
                    <a:lstStyle/>
                    <a:p>
                      <a:r>
                        <a:rPr sz="1300" b="0"/>
                        <a:t>LLM methods</a:t>
                      </a:r>
                    </a:p>
                  </a:txBody>
                  <a:tcPr/>
                </a:tc>
                <a:tc>
                  <a:txBody>
                    <a:bodyPr/>
                    <a:lstStyle/>
                    <a:p>
                      <a:r>
                        <a:rPr sz="1300" b="0"/>
                        <a:t>DIN-SQL, DAIL-SQL, MAC-SQL, CHESS, CHASE-SQL, CodeS (anchor)</a:t>
                      </a:r>
                    </a:p>
                  </a:txBody>
                  <a:tcPr/>
                </a:tc>
                <a:tc>
                  <a:txBody>
                    <a:bodyPr/>
                    <a:lstStyle/>
                    <a:p>
                      <a:r>
                        <a:rPr sz="1300" b="0"/>
                        <a:t>Self-correction and multi-candidate selection improve EX; most rely on closed GPT-4</a:t>
                      </a:r>
                    </a:p>
                  </a:txBody>
                  <a:tcPr/>
                </a:tc>
              </a:tr>
              <a:tr h="365760">
                <a:tc>
                  <a:txBody>
                    <a:bodyPr/>
                    <a:lstStyle/>
                    <a:p>
                      <a:r>
                        <a:rPr sz="1300" b="0"/>
                        <a:t>Visualisation</a:t>
                      </a:r>
                    </a:p>
                  </a:txBody>
                  <a:tcPr/>
                </a:tc>
                <a:tc>
                  <a:txBody>
                    <a:bodyPr/>
                    <a:lstStyle/>
                    <a:p>
                      <a:r>
                        <a:rPr sz="1300" b="0"/>
                        <a:t>LIDA (ACL 2023)</a:t>
                      </a:r>
                    </a:p>
                  </a:txBody>
                  <a:tcPr/>
                </a:tc>
                <a:tc>
                  <a:txBody>
                    <a:bodyPr/>
                    <a:lstStyle/>
                    <a:p>
                      <a:r>
                        <a:rPr sz="1300" b="0"/>
                        <a:t>Automatic charts for query results</a:t>
                      </a:r>
                    </a:p>
                  </a:txBody>
                  <a:tcPr/>
                </a:tc>
              </a:tr>
            </a:tbl>
          </a:graphicData>
        </a:graphic>
      </p:graphicFrame>
      <p:sp>
        <p:nvSpPr>
          <p:cNvPr id="4" name="TextBox 3"/>
          <p:cNvSpPr txBox="1"/>
          <p:nvPr/>
        </p:nvSpPr>
        <p:spPr>
          <a:xfrm>
            <a:off x="822960" y="4892040"/>
            <a:ext cx="10515600" cy="365760"/>
          </a:xfrm>
          <a:prstGeom prst="rect">
            <a:avLst/>
          </a:prstGeom>
          <a:noFill/>
        </p:spPr>
        <p:txBody>
          <a:bodyPr wrap="none">
            <a:spAutoFit/>
          </a:bodyPr>
          <a:lstStyle/>
          <a:p>
            <a:pPr algn="ctr"/>
            <a:r>
              <a:rPr sz="1300" i="1"/>
              <a:t>Added for the enhancement: selective classification (Geifman &amp; El-Yaniv, 2017), self-consistency (Wang et al., 2022), test-suite evaluation (Zhong et al., 2020).</a:t>
            </a:r>
          </a:p>
        </p:txBody>
      </p:sp>
      <p:sp>
        <p:nvSpPr>
          <p:cNvPr id="5" name="TextBox 4"/>
          <p:cNvSpPr txBox="1"/>
          <p:nvPr/>
        </p:nvSpPr>
        <p:spPr>
          <a:xfrm>
            <a:off x="822960" y="5349240"/>
            <a:ext cx="10515600" cy="365760"/>
          </a:xfrm>
          <a:prstGeom prst="rect">
            <a:avLst/>
          </a:prstGeom>
          <a:noFill/>
        </p:spPr>
        <p:txBody>
          <a:bodyPr wrap="none">
            <a:spAutoFit/>
          </a:bodyPr>
          <a:lstStyle/>
          <a:p>
            <a:pPr algn="ctr"/>
            <a:r>
              <a:rPr sz="1400" i="1"/>
              <a:t>Gap: CodeS reports accuracy only when every question is answered — it gives no signal of when an answer may be wrong.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Methodology — Pipeline as Evaluated</a:t>
            </a:r>
          </a:p>
        </p:txBody>
      </p:sp>
      <p:pic>
        <p:nvPicPr>
          <p:cNvPr id="3" name="Picture 2" descr="final_pipeline.png"/>
          <p:cNvPicPr>
            <a:picLocks noChangeAspect="1"/>
          </p:cNvPicPr>
          <p:nvPr/>
        </p:nvPicPr>
        <p:blipFill>
          <a:blip r:embed="rId3"/>
          <a:stretch>
            <a:fillRect/>
          </a:stretch>
        </p:blipFill>
        <p:spPr>
          <a:xfrm>
            <a:off x="1545112" y="1508760"/>
            <a:ext cx="9101469" cy="4892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Methodology — Reproduction</a:t>
            </a:r>
          </a:p>
        </p:txBody>
      </p:sp>
      <p:sp>
        <p:nvSpPr>
          <p:cNvPr id="3" name="Content Placeholder 2"/>
          <p:cNvSpPr>
            <a:spLocks noGrp="1"/>
          </p:cNvSpPr>
          <p:nvPr>
            <p:ph idx="1"/>
          </p:nvPr>
        </p:nvSpPr>
        <p:spPr/>
        <p:txBody>
          <a:bodyPr wrap="square"/>
          <a:lstStyle/>
          <a:p>
            <a:pPr>
              <a:spcAft>
                <a:spcPts val="600"/>
              </a:spcAft>
            </a:pPr>
            <a:r>
              <a:rPr sz="1700" b="1"/>
              <a:t>Scope:</a:t>
            </a:r>
            <a:r>
              <a:rPr sz="1700" b="0"/>
              <a:t> released fine-tuned checkpoint seeklhy/codes-1b-spider; inference-only (the authors' pre-training used 8 × A800 80 GB)</a:t>
            </a:r>
          </a:p>
          <a:p>
            <a:pPr>
              <a:spcAft>
                <a:spcPts val="600"/>
              </a:spcAft>
            </a:pPr>
            <a:r>
              <a:rPr sz="1700" b="1"/>
              <a:t>Environment:</a:t>
            </a:r>
            <a:r>
              <a:rPr sz="1700" b="0"/>
              <a:t> Colab Tesla T4, fp16, batch size 1 (as the authors); PyTorch 2.11 / transformers 5.16 (paper: 1.13.1 / 4.28.1)</a:t>
            </a:r>
          </a:p>
          <a:p>
            <a:pPr>
              <a:spcAft>
                <a:spcPts val="600"/>
              </a:spcAft>
            </a:pPr>
            <a:r>
              <a:rPr sz="1700" b="1"/>
              <a:t>Pipeline:</a:t>
            </a:r>
            <a:r>
              <a:rPr sz="1700" b="0"/>
              <a:t> authors' database prompt (schema + values + matched cells), 4 beams, first candidate that SQLite accepts</a:t>
            </a:r>
          </a:p>
          <a:p>
            <a:pPr>
              <a:spcAft>
                <a:spcPts val="600"/>
              </a:spcAft>
            </a:pPr>
            <a:r>
              <a:rPr sz="1700" b="1"/>
              <a:t>Scoring:</a:t>
            </a:r>
            <a:r>
              <a:rPr sz="1700" b="0"/>
              <a:t> the official Spider test-suite evaluator — what the authors call</a:t>
            </a:r>
          </a:p>
          <a:p>
            <a:pPr>
              <a:spcAft>
                <a:spcPts val="600"/>
              </a:spcAft>
            </a:pPr>
            <a:r>
              <a:rPr sz="1700" b="1"/>
              <a:t>Audit</a:t>
            </a:r>
            <a:r>
              <a:rPr sz="1700" b="0"/>
              <a:t> of our harness against the authors' code found and fixed:</a:t>
            </a:r>
          </a:p>
          <a:p>
            <a:pPr lvl="1">
              <a:spcAft>
                <a:spcPts val="600"/>
              </a:spcAft>
            </a:pPr>
            <a:r>
              <a:rPr sz="1500" b="0"/>
              <a:t>a value-retriever bug — numbers never matched (12.4% of prompts)</a:t>
            </a:r>
          </a:p>
          <a:p>
            <a:pPr lvl="1">
              <a:spcAft>
                <a:spcPts val="600"/>
              </a:spcAft>
            </a:pPr>
            <a:r>
              <a:rPr sz="1500" b="0"/>
              <a:t>a scoring mismatch — our early metric was 4.4 points stricter than the paper's</a:t>
            </a:r>
          </a:p>
          <a:p>
            <a:pPr>
              <a:spcAft>
                <a:spcPts val="600"/>
              </a:spcAft>
            </a:pPr>
            <a:r>
              <a:rPr sz="1700" b="0"/>
              <a:t>Every run logged with seed, hardware, runtime and versions; decoding is deterministic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Experimental Results — Reproduction</a:t>
            </a:r>
          </a:p>
        </p:txBody>
      </p:sp>
      <p:graphicFrame>
        <p:nvGraphicFramePr>
          <p:cNvPr id="3" name="Table 2"/>
          <p:cNvGraphicFramePr>
            <a:graphicFrameLocks noGrp="1"/>
          </p:cNvGraphicFramePr>
          <p:nvPr/>
        </p:nvGraphicFramePr>
        <p:xfrm>
          <a:off x="746607" y="1645920"/>
          <a:ext cx="10698480" cy="2194560"/>
        </p:xfrm>
        <a:graphic>
          <a:graphicData uri="http://schemas.openxmlformats.org/drawingml/2006/table">
            <a:tbl>
              <a:tblPr firstRow="1" bandRow="1">
                <a:tableStyleId>{5C22544A-7EE6-4342-B048-85BDC9FD1C3A}</a:tableStyleId>
              </a:tblPr>
              <a:tblGrid>
                <a:gridCol w="1097280"/>
                <a:gridCol w="4023360"/>
                <a:gridCol w="1188720"/>
                <a:gridCol w="2286000"/>
                <a:gridCol w="2103120"/>
              </a:tblGrid>
              <a:tr h="365760">
                <a:tc>
                  <a:txBody>
                    <a:bodyPr/>
                    <a:lstStyle/>
                    <a:p>
                      <a:r>
                        <a:rPr sz="1500" b="1"/>
                        <a:t>Run</a:t>
                      </a:r>
                    </a:p>
                  </a:txBody>
                  <a:tcPr/>
                </a:tc>
                <a:tc>
                  <a:txBody>
                    <a:bodyPr/>
                    <a:lstStyle/>
                    <a:p>
                      <a:r>
                        <a:rPr sz="1500" b="1"/>
                        <a:t>Configuration</a:t>
                      </a:r>
                    </a:p>
                  </a:txBody>
                  <a:tcPr/>
                </a:tc>
                <a:tc>
                  <a:txBody>
                    <a:bodyPr/>
                    <a:lstStyle/>
                    <a:p>
                      <a:r>
                        <a:rPr sz="1500" b="1"/>
                        <a:t>Metric</a:t>
                      </a:r>
                    </a:p>
                  </a:txBody>
                  <a:tcPr/>
                </a:tc>
                <a:tc>
                  <a:txBody>
                    <a:bodyPr/>
                    <a:lstStyle/>
                    <a:p>
                      <a:r>
                        <a:rPr sz="1500" b="1"/>
                        <a:t>Execution accuracy</a:t>
                      </a:r>
                    </a:p>
                  </a:txBody>
                  <a:tcPr/>
                </a:tc>
                <a:tc>
                  <a:txBody>
                    <a:bodyPr/>
                    <a:lstStyle/>
                    <a:p>
                      <a:r>
                        <a:rPr sz="1500" b="1"/>
                        <a:t>vs paper 77.9%</a:t>
                      </a:r>
                    </a:p>
                  </a:txBody>
                  <a:tcPr/>
                </a:tc>
              </a:tr>
              <a:tr h="365760">
                <a:tc>
                  <a:txBody>
                    <a:bodyPr/>
                    <a:lstStyle/>
                    <a:p>
                      <a:r>
                        <a:rPr sz="1500" b="0"/>
                        <a:t>T2-001</a:t>
                      </a:r>
                    </a:p>
                  </a:txBody>
                  <a:tcPr/>
                </a:tc>
                <a:tc>
                  <a:txBody>
                    <a:bodyPr/>
                    <a:lstStyle/>
                    <a:p>
                      <a:r>
                        <a:rPr sz="1500" b="0"/>
                        <a:t>schema + foreign keys only (Apple M4)</a:t>
                      </a:r>
                    </a:p>
                  </a:txBody>
                  <a:tcPr/>
                </a:tc>
                <a:tc>
                  <a:txBody>
                    <a:bodyPr/>
                    <a:lstStyle/>
                    <a:p>
                      <a:r>
                        <a:rPr sz="1500" b="0"/>
                        <a:t>simple</a:t>
                      </a:r>
                    </a:p>
                  </a:txBody>
                  <a:tcPr/>
                </a:tc>
                <a:tc>
                  <a:txBody>
                    <a:bodyPr/>
                    <a:lstStyle/>
                    <a:p>
                      <a:r>
                        <a:rPr sz="1500" b="0"/>
                        <a:t>64.8%</a:t>
                      </a:r>
                    </a:p>
                  </a:txBody>
                  <a:tcPr/>
                </a:tc>
                <a:tc>
                  <a:txBody>
                    <a:bodyPr/>
                    <a:lstStyle/>
                    <a:p>
                      <a:r>
                        <a:rPr sz="1500" b="0"/>
                        <a:t>not comparable</a:t>
                      </a:r>
                    </a:p>
                  </a:txBody>
                  <a:tcPr/>
                </a:tc>
              </a:tr>
              <a:tr h="365760">
                <a:tc>
                  <a:txBody>
                    <a:bodyPr/>
                    <a:lstStyle/>
                    <a:p>
                      <a:r>
                        <a:rPr sz="1500" b="0"/>
                        <a:t>T2-002</a:t>
                      </a:r>
                    </a:p>
                  </a:txBody>
                  <a:tcPr/>
                </a:tc>
                <a:tc>
                  <a:txBody>
                    <a:bodyPr/>
                    <a:lstStyle/>
                    <a:p>
                      <a:r>
                        <a:rPr sz="1500" b="0"/>
                        <a:t>authors' full database prompt (Colab T4)</a:t>
                      </a:r>
                    </a:p>
                  </a:txBody>
                  <a:tcPr/>
                </a:tc>
                <a:tc>
                  <a:txBody>
                    <a:bodyPr/>
                    <a:lstStyle/>
                    <a:p>
                      <a:r>
                        <a:rPr sz="1500" b="0"/>
                        <a:t>simple</a:t>
                      </a:r>
                    </a:p>
                  </a:txBody>
                  <a:tcPr/>
                </a:tc>
                <a:tc>
                  <a:txBody>
                    <a:bodyPr/>
                    <a:lstStyle/>
                    <a:p>
                      <a:r>
                        <a:rPr sz="1500" b="0"/>
                        <a:t>71.7%</a:t>
                      </a:r>
                    </a:p>
                  </a:txBody>
                  <a:tcPr/>
                </a:tc>
                <a:tc>
                  <a:txBody>
                    <a:bodyPr/>
                    <a:lstStyle/>
                    <a:p>
                      <a:r>
                        <a:rPr sz="1500" b="0"/>
                        <a:t>not comparable</a:t>
                      </a:r>
                    </a:p>
                  </a:txBody>
                  <a:tcPr/>
                </a:tc>
              </a:tr>
              <a:tr h="365760">
                <a:tc>
                  <a:txBody>
                    <a:bodyPr/>
                    <a:lstStyle/>
                    <a:p>
                      <a:r>
                        <a:rPr sz="1500" b="0"/>
                        <a:t>T2-003</a:t>
                      </a:r>
                    </a:p>
                  </a:txBody>
                  <a:tcPr/>
                </a:tc>
                <a:tc>
                  <a:txBody>
                    <a:bodyPr/>
                    <a:lstStyle/>
                    <a:p>
                      <a:r>
                        <a:rPr sz="1500" b="0"/>
                        <a:t>+ authors' candidate selection</a:t>
                      </a:r>
                    </a:p>
                  </a:txBody>
                  <a:tcPr/>
                </a:tc>
                <a:tc>
                  <a:txBody>
                    <a:bodyPr/>
                    <a:lstStyle/>
                    <a:p>
                      <a:r>
                        <a:rPr sz="1500" b="0"/>
                        <a:t>simple</a:t>
                      </a:r>
                    </a:p>
                  </a:txBody>
                  <a:tcPr/>
                </a:tc>
                <a:tc>
                  <a:txBody>
                    <a:bodyPr/>
                    <a:lstStyle/>
                    <a:p>
                      <a:r>
                        <a:rPr sz="1500" b="0"/>
                        <a:t>73.8%</a:t>
                      </a:r>
                    </a:p>
                  </a:txBody>
                  <a:tcPr/>
                </a:tc>
                <a:tc>
                  <a:txBody>
                    <a:bodyPr/>
                    <a:lstStyle/>
                    <a:p>
                      <a:r>
                        <a:rPr sz="1500" b="0"/>
                        <a:t>not comparable</a:t>
                      </a:r>
                    </a:p>
                  </a:txBody>
                  <a:tcPr/>
                </a:tc>
              </a:tr>
              <a:tr h="365760">
                <a:tc>
                  <a:txBody>
                    <a:bodyPr/>
                    <a:lstStyle/>
                    <a:p>
                      <a:r>
                        <a:rPr sz="1500" b="1"/>
                        <a:t>T2-005</a:t>
                      </a:r>
                    </a:p>
                  </a:txBody>
                  <a:tcPr/>
                </a:tc>
                <a:tc>
                  <a:txBody>
                    <a:bodyPr/>
                    <a:lstStyle/>
                    <a:p>
                      <a:r>
                        <a:rPr sz="1500" b="1"/>
                        <a:t>audited harness (v2)</a:t>
                      </a:r>
                    </a:p>
                  </a:txBody>
                  <a:tcPr/>
                </a:tc>
                <a:tc>
                  <a:txBody>
                    <a:bodyPr/>
                    <a:lstStyle/>
                    <a:p>
                      <a:r>
                        <a:rPr sz="1500" b="1"/>
                        <a:t>official</a:t>
                      </a:r>
                    </a:p>
                  </a:txBody>
                  <a:tcPr/>
                </a:tc>
                <a:tc>
                  <a:txBody>
                    <a:bodyPr/>
                    <a:lstStyle/>
                    <a:p>
                      <a:r>
                        <a:rPr sz="1500" b="1"/>
                        <a:t>77.8%</a:t>
                      </a:r>
                    </a:p>
                  </a:txBody>
                  <a:tcPr/>
                </a:tc>
                <a:tc>
                  <a:txBody>
                    <a:bodyPr/>
                    <a:lstStyle/>
                    <a:p>
                      <a:r>
                        <a:rPr sz="1500" b="1"/>
                        <a:t>−0.1 pts ✓</a:t>
                      </a:r>
                    </a:p>
                  </a:txBody>
                  <a:tcPr/>
                </a:tc>
              </a:tr>
              <a:tr h="365760">
                <a:tc>
                  <a:txBody>
                    <a:bodyPr/>
                    <a:lstStyle/>
                    <a:p>
                      <a:r>
                        <a:rPr sz="1500" b="1"/>
                        <a:t>T2-006</a:t>
                      </a:r>
                    </a:p>
                  </a:txBody>
                  <a:tcPr/>
                </a:tc>
                <a:tc>
                  <a:txBody>
                    <a:bodyPr/>
                    <a:lstStyle/>
                    <a:p>
                      <a:r>
                        <a:rPr sz="1500" b="1"/>
                        <a:t>fresh re-run (Week-10 baseline)</a:t>
                      </a:r>
                    </a:p>
                  </a:txBody>
                  <a:tcPr/>
                </a:tc>
                <a:tc>
                  <a:txBody>
                    <a:bodyPr/>
                    <a:lstStyle/>
                    <a:p>
                      <a:r>
                        <a:rPr sz="1500" b="1"/>
                        <a:t>official</a:t>
                      </a:r>
                    </a:p>
                  </a:txBody>
                  <a:tcPr/>
                </a:tc>
                <a:tc>
                  <a:txBody>
                    <a:bodyPr/>
                    <a:lstStyle/>
                    <a:p>
                      <a:r>
                        <a:rPr sz="1500" b="1"/>
                        <a:t>77.76% (804/1034)</a:t>
                      </a:r>
                    </a:p>
                  </a:txBody>
                  <a:tcPr/>
                </a:tc>
                <a:tc>
                  <a:txBody>
                    <a:bodyPr/>
                    <a:lstStyle/>
                    <a:p>
                      <a:r>
                        <a:rPr sz="1500" b="1"/>
                        <a:t>−0.14 pts ✓</a:t>
                      </a:r>
                    </a:p>
                  </a:txBody>
                  <a:tcPr/>
                </a:tc>
              </a:tr>
            </a:tbl>
          </a:graphicData>
        </a:graphic>
      </p:graphicFrame>
      <p:sp>
        <p:nvSpPr>
          <p:cNvPr id="4" name="TextBox 3"/>
          <p:cNvSpPr txBox="1"/>
          <p:nvPr/>
        </p:nvSpPr>
        <p:spPr>
          <a:xfrm>
            <a:off x="822960" y="4206240"/>
            <a:ext cx="10515600" cy="365760"/>
          </a:xfrm>
          <a:prstGeom prst="rect">
            <a:avLst/>
          </a:prstGeom>
          <a:noFill/>
        </p:spPr>
        <p:txBody>
          <a:bodyPr wrap="none">
            <a:spAutoFit/>
          </a:bodyPr>
          <a:lstStyle/>
          <a:p>
            <a:pPr algn="ctr"/>
            <a:r>
              <a:rPr sz="1400" i="1"/>
              <a:t>Spider development set, 1,034 questions. Within the SOP's ±5% band. Test-suite accuracy (paper 72.2%): TBD.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Experimental Results — Ablation Study</a:t>
            </a:r>
          </a:p>
        </p:txBody>
      </p:sp>
      <p:pic>
        <p:nvPicPr>
          <p:cNvPr id="3" name="Picture 2" descr="ablation_official.png"/>
          <p:cNvPicPr>
            <a:picLocks noChangeAspect="1"/>
          </p:cNvPicPr>
          <p:nvPr/>
        </p:nvPicPr>
        <p:blipFill>
          <a:blip r:embed="rId3"/>
          <a:stretch>
            <a:fillRect/>
          </a:stretch>
        </p:blipFill>
        <p:spPr>
          <a:xfrm>
            <a:off x="1529746" y="1554480"/>
            <a:ext cx="9132201" cy="3931920"/>
          </a:xfrm>
          <a:prstGeom prst="rect">
            <a:avLst/>
          </a:prstGeom>
        </p:spPr>
      </p:pic>
      <p:sp>
        <p:nvSpPr>
          <p:cNvPr id="4" name="TextBox 3"/>
          <p:cNvSpPr txBox="1"/>
          <p:nvPr/>
        </p:nvSpPr>
        <p:spPr>
          <a:xfrm>
            <a:off x="822960" y="5577840"/>
            <a:ext cx="10515600" cy="365760"/>
          </a:xfrm>
          <a:prstGeom prst="rect">
            <a:avLst/>
          </a:prstGeom>
          <a:noFill/>
        </p:spPr>
        <p:txBody>
          <a:bodyPr wrap="none">
            <a:spAutoFit/>
          </a:bodyPr>
          <a:lstStyle/>
          <a:p>
            <a:pPr algn="ctr"/>
            <a:r>
              <a:rPr sz="1500" i="1"/>
              <a:t>Without the value retriever, 97.2% of queries still execute — they return wrong rows. Silent errors motivate abstention.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Methodology — Confidence-Aware Abstention</a:t>
            </a:r>
          </a:p>
        </p:txBody>
      </p:sp>
      <p:sp>
        <p:nvSpPr>
          <p:cNvPr id="3" name="Content Placeholder 2"/>
          <p:cNvSpPr>
            <a:spLocks noGrp="1"/>
          </p:cNvSpPr>
          <p:nvPr>
            <p:ph idx="1"/>
          </p:nvPr>
        </p:nvSpPr>
        <p:spPr/>
        <p:txBody>
          <a:bodyPr wrap="square"/>
          <a:lstStyle/>
          <a:p>
            <a:pPr>
              <a:spcAft>
                <a:spcPts val="600"/>
              </a:spcAft>
            </a:pPr>
            <a:r>
              <a:rPr sz="1700" b="1"/>
              <a:t>Why:</a:t>
            </a:r>
            <a:r>
              <a:rPr sz="1700" b="0"/>
              <a:t> 97.3% of queries already execute — self-correction could recover ≤ 2.7 points. The real errors run but are wrong.</a:t>
            </a:r>
          </a:p>
          <a:p>
            <a:pPr>
              <a:spcAft>
                <a:spcPts val="600"/>
              </a:spcAft>
            </a:pPr>
            <a:r>
              <a:rPr sz="1700" b="1"/>
              <a:t>Method:</a:t>
            </a:r>
            <a:r>
              <a:rPr sz="1700" b="0"/>
              <a:t> execute all 4 beam candidates; confidence = how many return the same result (beam probability breaks ties)</a:t>
            </a:r>
          </a:p>
          <a:p>
            <a:pPr>
              <a:spcAft>
                <a:spcPts val="600"/>
              </a:spcAft>
            </a:pPr>
            <a:r>
              <a:rPr sz="1700" b="0"/>
              <a:t>Below the threshold → </a:t>
            </a:r>
            <a:r>
              <a:rPr sz="1700" b="1"/>
              <a:t>abstain</a:t>
            </a:r>
            <a:r>
              <a:rPr sz="1700" b="0"/>
              <a:t>: no table, show the distinct interpretations — “Did you mean…?”</a:t>
            </a:r>
          </a:p>
          <a:p>
            <a:pPr>
              <a:spcAft>
                <a:spcPts val="600"/>
              </a:spcAft>
            </a:pPr>
            <a:r>
              <a:rPr sz="1700" b="1"/>
              <a:t>Hypothesis (fixed before results):</a:t>
            </a:r>
            <a:r>
              <a:rPr sz="1700" b="0"/>
              <a:t> at equal coverage, accuracy on answered questions beats random abstention and the 77.8% baseline</a:t>
            </a:r>
          </a:p>
          <a:p>
            <a:pPr>
              <a:spcAft>
                <a:spcPts val="600"/>
              </a:spcAft>
            </a:pPr>
            <a:r>
              <a:rPr sz="1700" b="1"/>
              <a:t>Protocol:</a:t>
            </a:r>
            <a:r>
              <a:rPr sz="1700" b="0"/>
              <a:t> 10 random 50/50 splits — threshold tuned on one half (≥ 90% coverage), tested on the other; paired t-test + Wilcoxon (α = 0.05); plus a question-level bootstrap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Experimental Results — Enhancement</a:t>
            </a:r>
          </a:p>
        </p:txBody>
      </p:sp>
      <p:graphicFrame>
        <p:nvGraphicFramePr>
          <p:cNvPr id="3" name="Table 2"/>
          <p:cNvGraphicFramePr>
            <a:graphicFrameLocks noGrp="1"/>
          </p:cNvGraphicFramePr>
          <p:nvPr/>
        </p:nvGraphicFramePr>
        <p:xfrm>
          <a:off x="792327" y="1600200"/>
          <a:ext cx="10607040" cy="1828800"/>
        </p:xfrm>
        <a:graphic>
          <a:graphicData uri="http://schemas.openxmlformats.org/drawingml/2006/table">
            <a:tbl>
              <a:tblPr firstRow="1" bandRow="1">
                <a:tableStyleId>{5C22544A-7EE6-4342-B048-85BDC9FD1C3A}</a:tableStyleId>
              </a:tblPr>
              <a:tblGrid>
                <a:gridCol w="3840480"/>
                <a:gridCol w="2103120"/>
                <a:gridCol w="2651760"/>
                <a:gridCol w="2011680"/>
              </a:tblGrid>
              <a:tr h="365760">
                <a:tc>
                  <a:txBody>
                    <a:bodyPr/>
                    <a:lstStyle/>
                    <a:p>
                      <a:r>
                        <a:rPr sz="1500" b="1"/>
                        <a:t>System</a:t>
                      </a:r>
                    </a:p>
                  </a:txBody>
                  <a:tcPr/>
                </a:tc>
                <a:tc>
                  <a:txBody>
                    <a:bodyPr/>
                    <a:lstStyle/>
                    <a:p>
                      <a:r>
                        <a:rPr sz="1500" b="1"/>
                        <a:t>Answered</a:t>
                      </a:r>
                    </a:p>
                  </a:txBody>
                  <a:tcPr/>
                </a:tc>
                <a:tc>
                  <a:txBody>
                    <a:bodyPr/>
                    <a:lstStyle/>
                    <a:p>
                      <a:r>
                        <a:rPr sz="1500" b="1"/>
                        <a:t>Accuracy on answered</a:t>
                      </a:r>
                    </a:p>
                  </a:txBody>
                  <a:tcPr/>
                </a:tc>
                <a:tc>
                  <a:txBody>
                    <a:bodyPr/>
                    <a:lstStyle/>
                    <a:p>
                      <a:r>
                        <a:rPr sz="1500" b="1"/>
                        <a:t>Wrong answers</a:t>
                      </a:r>
                    </a:p>
                  </a:txBody>
                  <a:tcPr/>
                </a:tc>
              </a:tr>
              <a:tr h="365760">
                <a:tc>
                  <a:txBody>
                    <a:bodyPr/>
                    <a:lstStyle/>
                    <a:p>
                      <a:r>
                        <a:rPr sz="1500" b="0"/>
                        <a:t>Original (reproduced CodeS-1B)</a:t>
                      </a:r>
                    </a:p>
                  </a:txBody>
                  <a:tcPr/>
                </a:tc>
                <a:tc>
                  <a:txBody>
                    <a:bodyPr/>
                    <a:lstStyle/>
                    <a:p>
                      <a:r>
                        <a:rPr sz="1500" b="0"/>
                        <a:t>1,034 (100%)</a:t>
                      </a:r>
                    </a:p>
                  </a:txBody>
                  <a:tcPr/>
                </a:tc>
                <a:tc>
                  <a:txBody>
                    <a:bodyPr/>
                    <a:lstStyle/>
                    <a:p>
                      <a:r>
                        <a:rPr sz="1500" b="0"/>
                        <a:t>77.76%</a:t>
                      </a:r>
                    </a:p>
                  </a:txBody>
                  <a:tcPr/>
                </a:tc>
                <a:tc>
                  <a:txBody>
                    <a:bodyPr/>
                    <a:lstStyle/>
                    <a:p>
                      <a:r>
                        <a:rPr sz="1500" b="0"/>
                        <a:t>230</a:t>
                      </a:r>
                    </a:p>
                  </a:txBody>
                  <a:tcPr/>
                </a:tc>
              </a:tr>
              <a:tr h="365760">
                <a:tc>
                  <a:txBody>
                    <a:bodyPr/>
                    <a:lstStyle/>
                    <a:p>
                      <a:r>
                        <a:rPr sz="1500" b="1"/>
                        <a:t>Enhanced — tested setting</a:t>
                      </a:r>
                    </a:p>
                  </a:txBody>
                  <a:tcPr/>
                </a:tc>
                <a:tc>
                  <a:txBody>
                    <a:bodyPr/>
                    <a:lstStyle/>
                    <a:p>
                      <a:r>
                        <a:rPr sz="1500" b="1"/>
                        <a:t>935 (90.4%)</a:t>
                      </a:r>
                    </a:p>
                  </a:txBody>
                  <a:tcPr/>
                </a:tc>
                <a:tc>
                  <a:txBody>
                    <a:bodyPr/>
                    <a:lstStyle/>
                    <a:p>
                      <a:r>
                        <a:rPr sz="1500" b="1"/>
                        <a:t>83.32%</a:t>
                      </a:r>
                    </a:p>
                  </a:txBody>
                  <a:tcPr/>
                </a:tc>
                <a:tc>
                  <a:txBody>
                    <a:bodyPr/>
                    <a:lstStyle/>
                    <a:p>
                      <a:r>
                        <a:rPr sz="1500" b="1"/>
                        <a:t>156</a:t>
                      </a:r>
                    </a:p>
                  </a:txBody>
                  <a:tcPr/>
                </a:tc>
              </a:tr>
              <a:tr h="365760">
                <a:tc>
                  <a:txBody>
                    <a:bodyPr/>
                    <a:lstStyle/>
                    <a:p>
                      <a:r>
                        <a:rPr sz="1500" b="0"/>
                        <a:t>Enhanced — 3 of 4 agree</a:t>
                      </a:r>
                    </a:p>
                  </a:txBody>
                  <a:tcPr/>
                </a:tc>
                <a:tc>
                  <a:txBody>
                    <a:bodyPr/>
                    <a:lstStyle/>
                    <a:p>
                      <a:r>
                        <a:rPr sz="1500" b="0"/>
                        <a:t>649 (62.8%)</a:t>
                      </a:r>
                    </a:p>
                  </a:txBody>
                  <a:tcPr/>
                </a:tc>
                <a:tc>
                  <a:txBody>
                    <a:bodyPr/>
                    <a:lstStyle/>
                    <a:p>
                      <a:r>
                        <a:rPr sz="1500" b="0"/>
                        <a:t>86.13%</a:t>
                      </a:r>
                    </a:p>
                  </a:txBody>
                  <a:tcPr/>
                </a:tc>
                <a:tc>
                  <a:txBody>
                    <a:bodyPr/>
                    <a:lstStyle/>
                    <a:p>
                      <a:r>
                        <a:rPr sz="1500" b="0"/>
                        <a:t>90</a:t>
                      </a:r>
                    </a:p>
                  </a:txBody>
                  <a:tcPr/>
                </a:tc>
              </a:tr>
              <a:tr h="365760">
                <a:tc>
                  <a:txBody>
                    <a:bodyPr/>
                    <a:lstStyle/>
                    <a:p>
                      <a:r>
                        <a:rPr sz="1500" b="0"/>
                        <a:t>Enhanced — all 4 agree</a:t>
                      </a:r>
                    </a:p>
                  </a:txBody>
                  <a:tcPr/>
                </a:tc>
                <a:tc>
                  <a:txBody>
                    <a:bodyPr/>
                    <a:lstStyle/>
                    <a:p>
                      <a:r>
                        <a:rPr sz="1500" b="0"/>
                        <a:t>412 (39.8%)</a:t>
                      </a:r>
                    </a:p>
                  </a:txBody>
                  <a:tcPr/>
                </a:tc>
                <a:tc>
                  <a:txBody>
                    <a:bodyPr/>
                    <a:lstStyle/>
                    <a:p>
                      <a:r>
                        <a:rPr sz="1500" b="0"/>
                        <a:t>88.35%</a:t>
                      </a:r>
                    </a:p>
                  </a:txBody>
                  <a:tcPr/>
                </a:tc>
                <a:tc>
                  <a:txBody>
                    <a:bodyPr/>
                    <a:lstStyle/>
                    <a:p>
                      <a:r>
                        <a:rPr sz="1500" b="0"/>
                        <a:t>48</a:t>
                      </a:r>
                    </a:p>
                  </a:txBody>
                  <a:tcPr/>
                </a:tc>
              </a:tr>
            </a:tbl>
          </a:graphicData>
        </a:graphic>
      </p:graphicFrame>
      <p:graphicFrame>
        <p:nvGraphicFramePr>
          <p:cNvPr id="4" name="Table 3"/>
          <p:cNvGraphicFramePr>
            <a:graphicFrameLocks noGrp="1"/>
          </p:cNvGraphicFramePr>
          <p:nvPr/>
        </p:nvGraphicFramePr>
        <p:xfrm>
          <a:off x="792327" y="3794760"/>
          <a:ext cx="10607040" cy="1463040"/>
        </p:xfrm>
        <a:graphic>
          <a:graphicData uri="http://schemas.openxmlformats.org/drawingml/2006/table">
            <a:tbl>
              <a:tblPr firstRow="1" bandRow="1">
                <a:tableStyleId>{5C22544A-7EE6-4342-B048-85BDC9FD1C3A}</a:tableStyleId>
              </a:tblPr>
              <a:tblGrid>
                <a:gridCol w="3291840"/>
                <a:gridCol w="2194560"/>
                <a:gridCol w="3108960"/>
                <a:gridCol w="2011680"/>
              </a:tblGrid>
              <a:tr h="365760">
                <a:tc>
                  <a:txBody>
                    <a:bodyPr/>
                    <a:lstStyle/>
                    <a:p>
                      <a:r>
                        <a:rPr sz="1400" b="1"/>
                        <a:t>Test (10 splits)</a:t>
                      </a:r>
                    </a:p>
                  </a:txBody>
                  <a:tcPr/>
                </a:tc>
                <a:tc>
                  <a:txBody>
                    <a:bodyPr/>
                    <a:lstStyle/>
                    <a:p>
                      <a:r>
                        <a:rPr sz="1400" b="1"/>
                        <a:t>Gain</a:t>
                      </a:r>
                    </a:p>
                  </a:txBody>
                  <a:tcPr/>
                </a:tc>
                <a:tc>
                  <a:txBody>
                    <a:bodyPr/>
                    <a:lstStyle/>
                    <a:p>
                      <a:r>
                        <a:rPr sz="1400" b="1"/>
                        <a:t>Statistic</a:t>
                      </a:r>
                    </a:p>
                  </a:txBody>
                  <a:tcPr/>
                </a:tc>
                <a:tc>
                  <a:txBody>
                    <a:bodyPr/>
                    <a:lstStyle/>
                    <a:p>
                      <a:r>
                        <a:rPr sz="1400" b="1"/>
                        <a:t>p-value</a:t>
                      </a:r>
                    </a:p>
                  </a:txBody>
                  <a:tcPr/>
                </a:tc>
              </a:tr>
              <a:tr h="365760">
                <a:tc>
                  <a:txBody>
                    <a:bodyPr/>
                    <a:lstStyle/>
                    <a:p>
                      <a:r>
                        <a:rPr sz="1400" b="0"/>
                        <a:t>Paired t-test</a:t>
                      </a:r>
                    </a:p>
                  </a:txBody>
                  <a:tcPr/>
                </a:tc>
                <a:tc>
                  <a:txBody>
                    <a:bodyPr/>
                    <a:lstStyle/>
                    <a:p>
                      <a:r>
                        <a:rPr sz="1400" b="0"/>
                        <a:t>+5.46 pts</a:t>
                      </a:r>
                    </a:p>
                  </a:txBody>
                  <a:tcPr/>
                </a:tc>
                <a:tc>
                  <a:txBody>
                    <a:bodyPr/>
                    <a:lstStyle/>
                    <a:p>
                      <a:r>
                        <a:rPr sz="1400" b="0"/>
                        <a:t>t = 24.44 (df 9)</a:t>
                      </a:r>
                    </a:p>
                  </a:txBody>
                  <a:tcPr/>
                </a:tc>
                <a:tc>
                  <a:txBody>
                    <a:bodyPr/>
                    <a:lstStyle/>
                    <a:p>
                      <a:r>
                        <a:rPr sz="1400" b="0"/>
                        <a:t>7.7 × 10⁻¹⁰</a:t>
                      </a:r>
                    </a:p>
                  </a:txBody>
                  <a:tcPr/>
                </a:tc>
              </a:tr>
              <a:tr h="365760">
                <a:tc>
                  <a:txBody>
                    <a:bodyPr/>
                    <a:lstStyle/>
                    <a:p>
                      <a:r>
                        <a:rPr sz="1400" b="0"/>
                        <a:t>Wilcoxon signed-rank</a:t>
                      </a:r>
                    </a:p>
                  </a:txBody>
                  <a:tcPr/>
                </a:tc>
                <a:tc>
                  <a:txBody>
                    <a:bodyPr/>
                    <a:lstStyle/>
                    <a:p>
                      <a:r>
                        <a:rPr sz="1400" b="0"/>
                        <a:t>all 10 positive</a:t>
                      </a:r>
                    </a:p>
                  </a:txBody>
                  <a:tcPr/>
                </a:tc>
                <a:tc>
                  <a:txBody>
                    <a:bodyPr/>
                    <a:lstStyle/>
                    <a:p>
                      <a:r>
                        <a:rPr sz="1400" b="0"/>
                        <a:t>W = 55</a:t>
                      </a:r>
                    </a:p>
                  </a:txBody>
                  <a:tcPr/>
                </a:tc>
                <a:tc>
                  <a:txBody>
                    <a:bodyPr/>
                    <a:lstStyle/>
                    <a:p>
                      <a:r>
                        <a:rPr sz="1400" b="0"/>
                        <a:t>9.8 × 10⁻⁴</a:t>
                      </a:r>
                    </a:p>
                  </a:txBody>
                  <a:tcPr/>
                </a:tc>
              </a:tr>
              <a:tr h="365760">
                <a:tc>
                  <a:txBody>
                    <a:bodyPr/>
                    <a:lstStyle/>
                    <a:p>
                      <a:r>
                        <a:rPr sz="1400" b="0"/>
                        <a:t>Bootstrap over questions</a:t>
                      </a:r>
                    </a:p>
                  </a:txBody>
                  <a:tcPr/>
                </a:tc>
                <a:tc>
                  <a:txBody>
                    <a:bodyPr/>
                    <a:lstStyle/>
                    <a:p>
                      <a:r>
                        <a:rPr sz="1400" b="0"/>
                        <a:t>+5.68 pts</a:t>
                      </a:r>
                    </a:p>
                  </a:txBody>
                  <a:tcPr/>
                </a:tc>
                <a:tc>
                  <a:txBody>
                    <a:bodyPr/>
                    <a:lstStyle/>
                    <a:p>
                      <a:r>
                        <a:rPr sz="1400" b="0"/>
                        <a:t>95% CI [+4.51, +6.71]</a:t>
                      </a:r>
                    </a:p>
                  </a:txBody>
                  <a:tcPr/>
                </a:tc>
                <a:tc>
                  <a:txBody>
                    <a:bodyPr/>
                    <a:lstStyle/>
                    <a:p>
                      <a:r>
                        <a:rPr sz="1400" b="0"/>
                        <a:t>0 of 5,000 ≤ 0</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Experimental Results — Accuracy vs Coverage</a:t>
            </a:r>
          </a:p>
        </p:txBody>
      </p:sp>
      <p:pic>
        <p:nvPicPr>
          <p:cNvPr id="3" name="Picture 2" descr="accuracy_coverage_T2-006.png"/>
          <p:cNvPicPr>
            <a:picLocks noChangeAspect="1"/>
          </p:cNvPicPr>
          <p:nvPr/>
        </p:nvPicPr>
        <p:blipFill>
          <a:blip r:embed="rId3"/>
          <a:stretch>
            <a:fillRect/>
          </a:stretch>
        </p:blipFill>
        <p:spPr>
          <a:xfrm>
            <a:off x="2490499" y="1508760"/>
            <a:ext cx="7210697" cy="4206240"/>
          </a:xfrm>
          <a:prstGeom prst="rect">
            <a:avLst/>
          </a:prstGeom>
        </p:spPr>
      </p:pic>
      <p:sp>
        <p:nvSpPr>
          <p:cNvPr id="4" name="TextBox 3"/>
          <p:cNvSpPr txBox="1"/>
          <p:nvPr/>
        </p:nvSpPr>
        <p:spPr>
          <a:xfrm>
            <a:off x="822960" y="5806440"/>
            <a:ext cx="10515600" cy="365760"/>
          </a:xfrm>
          <a:prstGeom prst="rect">
            <a:avLst/>
          </a:prstGeom>
          <a:noFill/>
        </p:spPr>
        <p:txBody>
          <a:bodyPr wrap="none">
            <a:spAutoFit/>
          </a:bodyPr>
          <a:lstStyle/>
          <a:p>
            <a:pPr algn="ctr"/>
            <a:r>
              <a:rPr sz="1400" i="1"/>
              <a:t>Agreement is calibrated: 57% / 76% / 82% / 88% accurate when 1 / 2 / 3 / 4 candidates agree. Beam probability wins below ~74% coverage.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Final Implementation — QueryGenie App</a:t>
            </a:r>
          </a:p>
        </p:txBody>
      </p:sp>
      <p:pic>
        <p:nvPicPr>
          <p:cNvPr id="3" name="Picture 2" descr="app_answer_chart.png"/>
          <p:cNvPicPr>
            <a:picLocks noChangeAspect="1"/>
          </p:cNvPicPr>
          <p:nvPr/>
        </p:nvPicPr>
        <p:blipFill>
          <a:blip r:embed="rId3"/>
          <a:stretch>
            <a:fillRect/>
          </a:stretch>
        </p:blipFill>
        <p:spPr>
          <a:xfrm>
            <a:off x="2712567" y="1463040"/>
            <a:ext cx="6766560" cy="4373508"/>
          </a:xfrm>
          <a:prstGeom prst="rect">
            <a:avLst/>
          </a:prstGeom>
        </p:spPr>
      </p:pic>
      <p:sp>
        <p:nvSpPr>
          <p:cNvPr id="4" name="TextBox 3"/>
          <p:cNvSpPr txBox="1"/>
          <p:nvPr/>
        </p:nvSpPr>
        <p:spPr>
          <a:xfrm>
            <a:off x="457200" y="5897880"/>
            <a:ext cx="11247120" cy="548640"/>
          </a:xfrm>
          <a:prstGeom prst="rect">
            <a:avLst/>
          </a:prstGeom>
          <a:noFill/>
        </p:spPr>
        <p:txBody>
          <a:bodyPr wrap="square">
            <a:spAutoFit/>
          </a:bodyPr>
          <a:lstStyle/>
          <a:p>
            <a:pPr algn="ctr"/>
            <a:r>
              <a:rPr sz="1400"/>
              <a:t>Gradio web app · evaluated pipeline (CodeS-1B/3B) · confidence badge · SQL behind every table · automatic chart · optional 4-bit MLX / GGUF models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Final Implementation — “Did you mean…?”</a:t>
            </a:r>
          </a:p>
        </p:txBody>
      </p:sp>
      <p:pic>
        <p:nvPicPr>
          <p:cNvPr id="3" name="Picture 2" descr="app_abstain.png"/>
          <p:cNvPicPr>
            <a:picLocks noChangeAspect="1"/>
          </p:cNvPicPr>
          <p:nvPr/>
        </p:nvPicPr>
        <p:blipFill>
          <a:blip r:embed="rId3"/>
          <a:stretch>
            <a:fillRect/>
          </a:stretch>
        </p:blipFill>
        <p:spPr>
          <a:xfrm>
            <a:off x="2029581" y="1463040"/>
            <a:ext cx="8132532" cy="4297680"/>
          </a:xfrm>
          <a:prstGeom prst="rect">
            <a:avLst/>
          </a:prstGeom>
        </p:spPr>
      </p:pic>
      <p:sp>
        <p:nvSpPr>
          <p:cNvPr id="4" name="TextBox 3"/>
          <p:cNvSpPr txBox="1"/>
          <p:nvPr/>
        </p:nvSpPr>
        <p:spPr>
          <a:xfrm>
            <a:off x="822960" y="5897880"/>
            <a:ext cx="10515600" cy="365760"/>
          </a:xfrm>
          <a:prstGeom prst="rect">
            <a:avLst/>
          </a:prstGeom>
          <a:noFill/>
        </p:spPr>
        <p:txBody>
          <a:bodyPr wrap="none">
            <a:spAutoFit/>
          </a:bodyPr>
          <a:lstStyle/>
          <a:p>
            <a:pPr algn="ctr"/>
            <a:r>
              <a:rPr sz="1400" i="1"/>
              <a:t>Strict mode: the candidates disagree, so no table is shown — the user picks the intended reading.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Code Review</a:t>
            </a:r>
          </a:p>
        </p:txBody>
      </p:sp>
      <p:sp>
        <p:nvSpPr>
          <p:cNvPr id="3" name="Content Placeholder 2"/>
          <p:cNvSpPr>
            <a:spLocks noGrp="1"/>
          </p:cNvSpPr>
          <p:nvPr>
            <p:ph idx="1"/>
          </p:nvPr>
        </p:nvSpPr>
        <p:spPr/>
        <p:txBody>
          <a:bodyPr wrap="square"/>
          <a:lstStyle/>
          <a:p>
            <a:pPr>
              <a:spcAft>
                <a:spcPts val="600"/>
              </a:spcAft>
            </a:pPr>
            <a:r>
              <a:rPr sz="1700" b="1"/>
              <a:t>Structure:</a:t>
            </a:r>
            <a:r>
              <a:rPr sz="1700" b="0"/>
              <a:t> querygenie/ core — pipeline.py (evaluated pipeline) · confidence.py (answer/abstain) · model.py (evaluated backend) · desktop/ (the app) · research/ (harness, statistics) · legacy/ (prototype)</a:t>
            </a:r>
          </a:p>
          <a:p>
            <a:pPr>
              <a:spcAft>
                <a:spcPts val="600"/>
              </a:spcAft>
            </a:pPr>
            <a:r>
              <a:rPr sz="1700" b="1"/>
              <a:t>One pipeline, two uses:</a:t>
            </a:r>
            <a:r>
              <a:rPr sz="1700" b="0"/>
              <a:t> the same code is measured on Spider and served in the app</a:t>
            </a:r>
          </a:p>
          <a:p>
            <a:pPr>
              <a:spcAft>
                <a:spcPts val="600"/>
              </a:spcAft>
            </a:pPr>
            <a:r>
              <a:rPr sz="1700" b="1"/>
              <a:t>Faithful by construction:</a:t>
            </a:r>
            <a:r>
              <a:rPr sz="1700" b="0"/>
              <a:t> authors' utilities vendored unmodified (Apache-2.0); prompts verified identical after refactoring (104 questions)</a:t>
            </a:r>
          </a:p>
          <a:p>
            <a:pPr>
              <a:spcAft>
                <a:spcPts val="600"/>
              </a:spcAft>
            </a:pPr>
            <a:r>
              <a:rPr sz="1700" b="1"/>
              <a:t>Tests:</a:t>
            </a:r>
            <a:r>
              <a:rPr sz="1700" b="0"/>
              <a:t> 23 model-free tests of selection, agreement, abstention, modes, databases, chats and model providers — pytest, about 2 s</a:t>
            </a:r>
          </a:p>
          <a:p>
            <a:pPr>
              <a:spcAft>
                <a:spcPts val="600"/>
              </a:spcAft>
            </a:pPr>
            <a:r>
              <a:rPr sz="1700" b="1"/>
              <a:t>Reproducible:</a:t>
            </a:r>
            <a:r>
              <a:rPr sz="1700" b="0"/>
              <a:t> Colab notebook reruns every number; candidate record committed; every run in the log with seed, hardware and versions</a:t>
            </a:r>
          </a:p>
          <a:p>
            <a:pPr>
              <a:spcAft>
                <a:spcPts val="600"/>
              </a:spcAft>
            </a:pPr>
            <a:r>
              <a:rPr sz="1700" b="1"/>
              <a:t>Safe to run:</a:t>
            </a:r>
            <a:r>
              <a:rPr sz="1700" b="0"/>
              <a:t> local weights by default, read-only queries with timeouts; optional cloud models are labelled and never see result rows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GitHub &amp; Documentation</a:t>
            </a:r>
          </a:p>
        </p:txBody>
      </p:sp>
      <p:sp>
        <p:nvSpPr>
          <p:cNvPr id="3" name="Content Placeholder 2"/>
          <p:cNvSpPr>
            <a:spLocks noGrp="1"/>
          </p:cNvSpPr>
          <p:nvPr>
            <p:ph idx="1"/>
          </p:nvPr>
        </p:nvSpPr>
        <p:spPr/>
        <p:txBody>
          <a:bodyPr wrap="square"/>
          <a:lstStyle/>
          <a:p>
            <a:pPr>
              <a:spcAft>
                <a:spcPts val="600"/>
              </a:spcAft>
            </a:pPr>
            <a:r>
              <a:rPr sz="1700" b="1"/>
              <a:t>Repository:</a:t>
            </a:r>
            <a:r>
              <a:rPr sz="1700" b="0"/>
              <a:t> github.com/jayakanthh/QueryGenie (supervisor added as collaborator)</a:t>
            </a:r>
          </a:p>
          <a:p>
            <a:pPr>
              <a:spcAft>
                <a:spcPts val="600"/>
              </a:spcAft>
            </a:pPr>
            <a:r>
              <a:rPr sz="1700" b="1"/>
              <a:t>README:</a:t>
            </a:r>
            <a:r>
              <a:rPr sz="1700" b="0"/>
              <a:t> how to run the app, how to reproduce every result, how to run the enhancement analysis, requirements, licence (Apache-2.0)</a:t>
            </a:r>
          </a:p>
          <a:p>
            <a:pPr>
              <a:spcAft>
                <a:spcPts val="600"/>
              </a:spcAft>
            </a:pPr>
            <a:r>
              <a:rPr sz="1700" b="1"/>
              <a:t>Reports:</a:t>
            </a:r>
            <a:r>
              <a:rPr sz="1700" b="0"/>
              <a:t> final report (Abstract → Introduction → Literature → Methodology → Results → Discussion), reproducibility report v2, enhancement proposal, Week-12 comparative results</a:t>
            </a:r>
          </a:p>
          <a:p>
            <a:pPr>
              <a:spcAft>
                <a:spcPts val="600"/>
              </a:spcAft>
            </a:pPr>
            <a:r>
              <a:rPr sz="1700" b="1"/>
              <a:t>Evidence:</a:t>
            </a:r>
            <a:r>
              <a:rPr sz="1700" b="0"/>
              <a:t> reproduction log (CSV + Excel), harness audit, ablation study, abstention results, figures</a:t>
            </a:r>
          </a:p>
          <a:p>
            <a:pPr>
              <a:spcAft>
                <a:spcPts val="600"/>
              </a:spcAft>
            </a:pPr>
            <a:r>
              <a:rPr sz="1700" b="1"/>
              <a:t>Weekly reports:</a:t>
            </a:r>
            <a:r>
              <a:rPr sz="1700" b="0"/>
              <a:t> Weeks 1–12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Conclusion, Lessons Learned &amp; Future Work</a:t>
            </a:r>
          </a:p>
        </p:txBody>
      </p:sp>
      <p:sp>
        <p:nvSpPr>
          <p:cNvPr id="3" name="Content Placeholder 2"/>
          <p:cNvSpPr>
            <a:spLocks noGrp="1"/>
          </p:cNvSpPr>
          <p:nvPr>
            <p:ph idx="1"/>
          </p:nvPr>
        </p:nvSpPr>
        <p:spPr/>
        <p:txBody>
          <a:bodyPr wrap="square"/>
          <a:lstStyle/>
          <a:p>
            <a:pPr>
              <a:spcAft>
                <a:spcPts val="600"/>
              </a:spcAft>
            </a:pPr>
            <a:r>
              <a:rPr sz="1700" b="1"/>
              <a:t>Reproduced</a:t>
            </a:r>
            <a:r>
              <a:rPr sz="1700" b="0"/>
              <a:t> CodeS-1B to within 0.1 points of the paper (77.8% vs 77.9%)</a:t>
            </a:r>
          </a:p>
          <a:p>
            <a:pPr>
              <a:spcAft>
                <a:spcPts val="600"/>
              </a:spcAft>
            </a:pPr>
            <a:r>
              <a:rPr sz="1700" b="1"/>
              <a:t>Enhanced</a:t>
            </a:r>
            <a:r>
              <a:rPr sz="1700" b="0"/>
              <a:t> it to say when it isn't sure: 83.3% accuracy at 90% coverage, wrong answers −32%, significant</a:t>
            </a:r>
          </a:p>
          <a:p>
            <a:pPr>
              <a:spcAft>
                <a:spcPts val="600"/>
              </a:spcAft>
            </a:pPr>
            <a:r>
              <a:rPr sz="1700" b="1"/>
              <a:t>Lesson:</a:t>
            </a:r>
            <a:r>
              <a:rPr sz="1700" b="0"/>
              <a:t> reproducing a result means reproducing its evaluation — 4.4 points of our early gap was our own metric</a:t>
            </a:r>
          </a:p>
          <a:p>
            <a:pPr>
              <a:spcAft>
                <a:spcPts val="600"/>
              </a:spcAft>
            </a:pPr>
            <a:r>
              <a:rPr sz="1700" b="1"/>
              <a:t>Limits:</a:t>
            </a:r>
            <a:r>
              <a:rPr sz="1700" b="0"/>
              <a:t> one model, one benchmark; candidates can agree on a wrong answer (11.7% of 4/4 answers)</a:t>
            </a:r>
          </a:p>
          <a:p>
            <a:pPr>
              <a:spcAft>
                <a:spcPts val="600"/>
              </a:spcAft>
            </a:pPr>
            <a:r>
              <a:rPr sz="1700" b="1"/>
              <a:t>Future work:</a:t>
            </a:r>
            <a:r>
              <a:rPr sz="1700" b="0"/>
              <a:t> test-suite accuracy · CodeS-3B · combined confidence signal · real institutional schemas · PostgreSQL/MySQL connectors and NoSQL via a SQL gateway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References</a:t>
            </a:r>
          </a:p>
        </p:txBody>
      </p:sp>
      <p:sp>
        <p:nvSpPr>
          <p:cNvPr id="3" name="Content Placeholder 2"/>
          <p:cNvSpPr>
            <a:spLocks noGrp="1"/>
          </p:cNvSpPr>
          <p:nvPr>
            <p:ph idx="1"/>
          </p:nvPr>
        </p:nvSpPr>
        <p:spPr/>
        <p:txBody>
          <a:bodyPr wrap="square"/>
          <a:lstStyle/>
          <a:p>
            <a:pPr>
              <a:spcAft>
                <a:spcPts val="600"/>
              </a:spcAft>
            </a:pPr>
            <a:r>
              <a:rPr sz="1300" b="0"/>
              <a:t>Li, H., et al. (2024). CodeS: Towards building open-source language models for text-to-SQL. SIGMOD. arXiv:2402.16347</a:t>
            </a:r>
          </a:p>
          <a:p>
            <a:pPr>
              <a:spcAft>
                <a:spcPts val="600"/>
              </a:spcAft>
            </a:pPr>
            <a:r>
              <a:rPr sz="1300" b="0"/>
              <a:t>Yu, T., et al. (2018). Spider: A large-scale human-labeled dataset for complex and cross-domain semantic parsing and text-to-SQL task. EMNLP. arXiv:1809.08887</a:t>
            </a:r>
          </a:p>
          <a:p>
            <a:pPr>
              <a:spcAft>
                <a:spcPts val="600"/>
              </a:spcAft>
            </a:pPr>
            <a:r>
              <a:rPr sz="1300" b="0"/>
              <a:t>Zhong, R., Yu, T., &amp; Klein, D. (2020). Semantic evaluation for text-to-SQL with distilled test suites. EMNLP. arXiv:2010.02840</a:t>
            </a:r>
          </a:p>
          <a:p>
            <a:pPr>
              <a:spcAft>
                <a:spcPts val="600"/>
              </a:spcAft>
            </a:pPr>
            <a:r>
              <a:rPr sz="1300" b="0"/>
              <a:t>Pourreza, M., &amp; Rafiei, D. (2023). DIN-SQL: Decomposed in-context learning of text-to-SQL with self-correction. NeurIPS. arXiv:2304.11015</a:t>
            </a:r>
          </a:p>
          <a:p>
            <a:pPr>
              <a:spcAft>
                <a:spcPts val="600"/>
              </a:spcAft>
            </a:pPr>
            <a:r>
              <a:rPr sz="1300" b="0"/>
              <a:t>Wang, X., et al. (2023). Self-consistency improves chain of thought reasoning in language models. ICLR. arXiv:2203.11171</a:t>
            </a:r>
          </a:p>
          <a:p>
            <a:pPr>
              <a:spcAft>
                <a:spcPts val="600"/>
              </a:spcAft>
            </a:pPr>
            <a:r>
              <a:rPr sz="1300" b="0"/>
              <a:t>Geifman, Y., &amp; El-Yaniv, R. (2017). Selective classification for deep neural networks. NeurIPS. arXiv:1705.08500</a:t>
            </a:r>
          </a:p>
          <a:p>
            <a:pPr>
              <a:spcAft>
                <a:spcPts val="600"/>
              </a:spcAft>
            </a:pPr>
            <a:r>
              <a:rPr sz="1300" b="0"/>
              <a:t>Li, H., et al. (2023). RESDSQL: Decoupling schema linking and skeleton parsing for text-to-SQL. AAAI. arXiv:2302.05965</a:t>
            </a:r>
          </a:p>
          <a:p>
            <a:pPr>
              <a:spcAft>
                <a:spcPts val="600"/>
              </a:spcAft>
            </a:pPr>
            <a:r>
              <a:rPr sz="1300" b="0"/>
              <a:t>Dibia, V. (2023). LIDA: A tool for automatic generation of grammar-agnostic visualizations and infographics using large language models. ACL. arXiv:2303.02927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437</TotalTime>
  <Words>857</Words>
  <Application>Microsoft Macintosh PowerPoint</Application>
  <PresentationFormat>Widescreen</PresentationFormat>
  <Paragraphs>66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QueryGenie: A Self-Correcting Natural Language to SQL Interface</vt:lpstr>
      <vt:lpstr>Outline</vt:lpstr>
      <vt:lpstr>Research Paper Implementation</vt:lpstr>
      <vt:lpstr>Architecture Diagram (CodeS pipeline)</vt:lpstr>
      <vt:lpstr>GitHub Code Availability</vt:lpstr>
      <vt:lpstr>Code Execution &amp; Reproduction Results</vt:lpstr>
      <vt:lpstr>Contributions</vt:lpstr>
      <vt:lpstr>Enhancements, Improvements &amp; Next-Review Work</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Jagan Mohan Reddy D</dc:creator>
  <cp:lastModifiedBy>N V V S S JAYAKANTH KAMISETTI .</cp:lastModifiedBy>
  <cp:revision>53</cp:revision>
  <dcterms:created xsi:type="dcterms:W3CDTF">2026-04-11T11:52:12Z</dcterms:created>
  <dcterms:modified xsi:type="dcterms:W3CDTF">2026-09-08T17:05:04Z</dcterms:modified>
</cp:coreProperties>
</file>
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64" r:id="rId2"/>
    <p:sldId id="265" r:id="rId3"/>
    <p:sldId id="270" r:id="rId4"/>
    <p:sldId id="266" r:id="rId5"/>
    <p:sldId id="269" r:id="rId6"/>
    <p:sldId id="278" r:id="rId7"/>
    <p:sldId id="279" r:id="rId8"/>
    <p:sldId id="275" r:id="rId9"/>
    <p:sldId id="267" r:id="rId10"/>
    <p:sldId id="268" r:id="rId11"/>
    <p:sldId id="280" r:id="rId12"/>
    <p:sldId id="272" r:id="rId13"/>
    <p:sldId id="281" r:id="rId14"/>
    <p:sldId id="271" r:id="rId15"/>
    <p:sldId id="276" r:id="rId16"/>
    <p:sldId id="273" r:id="rId17"/>
    <p:sldId id="277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7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/>
    <p:restoredTop sz="94705"/>
  </p:normalViewPr>
  <p:slideViewPr>
    <p:cSldViewPr snapToGrid="0">
      <p:cViewPr>
        <p:scale>
          <a:sx n="140" d="100"/>
          <a:sy n="140" d="100"/>
        </p:scale>
        <p:origin x="-344" y="-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9F710-3F52-6D41-8DB8-0B9A5127554D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E01AF-D756-414C-96CA-00F6CC1B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4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80D2-3210-912A-EAB9-9FB8B9C99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9709-DACA-6248-E100-B0ECBF06C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E0CAD-274A-8EB8-41BB-0A2DAD95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89FD7-650A-4B41-A47C-7DB9A1398E28}" type="datetime1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D9FF-5437-8580-7E8D-5E093A48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77B7-A933-51E1-7ED8-C5FD3C16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7CD3A4-E3C5-6637-8CF3-7C98EFEBC05E}"/>
              </a:ext>
            </a:extLst>
          </p:cNvPr>
          <p:cNvGrpSpPr/>
          <p:nvPr userDrawn="1"/>
        </p:nvGrpSpPr>
        <p:grpSpPr>
          <a:xfrm>
            <a:off x="8107323" y="5978820"/>
            <a:ext cx="3874494" cy="339792"/>
            <a:chOff x="5297214" y="5609063"/>
            <a:chExt cx="3874494" cy="339792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6EB4AF5-76D0-6A68-E198-C80710486E1D}"/>
                </a:ext>
              </a:extLst>
            </p:cNvPr>
            <p:cNvSpPr/>
            <p:nvPr/>
          </p:nvSpPr>
          <p:spPr>
            <a:xfrm>
              <a:off x="5297214" y="5875283"/>
              <a:ext cx="798786" cy="73572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E1CC496-B217-F290-09C2-CF6A0B49EAD9}"/>
                </a:ext>
              </a:extLst>
            </p:cNvPr>
            <p:cNvSpPr/>
            <p:nvPr/>
          </p:nvSpPr>
          <p:spPr>
            <a:xfrm>
              <a:off x="6322450" y="5875283"/>
              <a:ext cx="798786" cy="7357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458E0D9-8B49-F020-136E-83D1B4C8EF37}"/>
                </a:ext>
              </a:extLst>
            </p:cNvPr>
            <p:cNvSpPr/>
            <p:nvPr/>
          </p:nvSpPr>
          <p:spPr>
            <a:xfrm>
              <a:off x="7347686" y="5869884"/>
              <a:ext cx="798786" cy="73572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8314F5A-4EF0-C4B4-5B93-AAFDDA8ED12A}"/>
                </a:ext>
              </a:extLst>
            </p:cNvPr>
            <p:cNvSpPr/>
            <p:nvPr/>
          </p:nvSpPr>
          <p:spPr>
            <a:xfrm>
              <a:off x="8372922" y="5869884"/>
              <a:ext cx="798786" cy="7357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895E10-1CAD-688A-3DB4-D04D36067FE0}"/>
                </a:ext>
              </a:extLst>
            </p:cNvPr>
            <p:cNvSpPr txBox="1"/>
            <p:nvPr/>
          </p:nvSpPr>
          <p:spPr>
            <a:xfrm>
              <a:off x="5297214" y="5609063"/>
              <a:ext cx="37978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002060"/>
                  </a:solidFill>
                </a:rPr>
                <a:t>STUDENTS       |    INNOVATION     |      RESEARCH        |          IMPACT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E9C68B6-2386-1C47-3707-FBD3182CEE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60" y="132452"/>
            <a:ext cx="30353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3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D5C5-34BB-D05C-5BF1-D3EBB9BA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47A8-E79B-B989-D2F4-E5FA5C71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EEB9-1376-EE8F-F3DC-3FCFE186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174ED-A240-DA45-95BF-9EC07CF61638}" type="datetime1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384B-BA06-0930-C01C-B2F6086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B126-C958-C555-6CFA-73CE22E1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D28E-80CC-F7AA-32D7-B6BC8EA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718AA-1385-5C98-0620-D46E4EB3D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91A3-72AB-D73B-8135-C924572A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DAB2-1A6D-0D4B-88BD-E82C6C2F515C}" type="datetime1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52309-F54E-EADA-1B95-D5D29CFC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47D4D-C2F1-14A0-DB09-545C9E4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CD33-3C2D-BA95-6FC7-E8F2C270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6976-4EEE-6FF8-C74E-E83ED7951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6B0CA-C266-3574-3AEF-337918AD2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CF2A0-02E1-51C5-5759-BC8B15CB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E3A2-088A-1D40-8603-26F52BE22814}" type="datetime1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9E6B7-6CE7-B841-9BFE-410A0CB7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247AA-0BC7-711F-DA03-1EECB85D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93B1-E183-30AC-47C3-21AC8F75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4F9DE-EF14-7665-901E-4880A8D0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C9DB0-FEE4-35F7-9E4F-44CEA1464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66758-71E4-5F6B-675E-D1ECA0F96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2D50A-0E2E-96E7-05EC-52A743BA3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97762-018C-12BC-04DB-6E7E88C0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1085-6EF0-CB42-9261-A0DFFE6B0901}" type="datetime1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C95DE-965E-895A-DBB2-B12F5DA0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6364D-694A-6CA7-B515-4407450E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5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3264-EBD3-3D1C-0FC0-833B97AA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267DA-78FA-229A-BDF6-3EB519EA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08155-6D39-E346-91FD-3DEC50B40A03}" type="datetime1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6282F-E5CA-8CF4-6042-8E073B76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B1BE6-C620-0CBA-57BA-190BC439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C1A99-8DAE-9613-1174-ACFD5574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8D81-DEF3-2B44-A23B-DA2B8661119C}" type="datetime1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C0C3C-FAD8-81F9-1824-6EBFF435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7FDA3-15A7-8D68-D9AA-BAB73E68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7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77DF-3358-881E-2F48-C5FE9EBD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003E0-17B9-1DB5-6348-2E2985E2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52784-4692-7036-E89B-B1F46277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BC907-6808-EB7A-21CC-5927FF50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F80-2303-284B-B68E-5D73CF852739}" type="datetime1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C2BC6-C248-AC24-F465-FB9E556E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9868C-55F4-3EF2-38B6-D9E379DD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5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681-A4F3-464B-9B36-3D2554B2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22278-9479-94E9-D59F-D556B16BF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C56DC-F45F-AEE8-F25F-92AA686F9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19543-A28E-71D0-F201-4C6DA3D3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30A6-8BD3-2B40-A6F6-7469DDA1C381}" type="datetime1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414BC-640B-3629-FBBB-1DE6F5F9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6521F-240F-37D7-DA3B-7BCFAEC4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2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F38-9505-8578-AA43-638C99C1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15CF6-DA69-9F0C-3071-AF5DEEFD6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D348-45B5-F666-DEA7-93D3F7C2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D498-F0B9-6E47-9392-9A3A59B63216}" type="datetime1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C03D-B434-7AD0-8324-A8722985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DC2E-99F3-5512-42AA-38731A55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9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72120-70B8-1E4B-D211-AE4F23EDE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FE469-F259-EBEE-F382-0506895E0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1F4DD-7ABA-78CD-F2CA-14BE94C9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889F3-D91E-454F-BA67-FCF4939D51C5}" type="datetime1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CB28F-35DC-5294-9DA9-786B75EC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3FEE-C90B-CDF5-9562-CC93F8FD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5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08B6F-8CC1-E0E9-AA2E-1B007427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CFCE2-44B5-14D0-6A3B-CBCF7F8F5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BEAC-4286-09DA-3AD0-5D588AA60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0DF6D-B19F-AF48-A4B2-8ECC3A443320}" type="datetime1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F0DC-7878-B607-45D5-6F8D06D70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BBAB7-AC82-3663-8F80-B1959BD23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0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yakanthh/QueryGeni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987-A089-04F2-3763-62E5D827B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7779"/>
            <a:ext cx="9144000" cy="1448183"/>
          </a:xfrm>
        </p:spPr>
        <p:txBody>
          <a:bodyPr>
            <a:normAutofit/>
          </a:bodyPr>
          <a:lstStyle/>
          <a:p>
            <a:r>
              <a:rPr sz="3400"/>
              <a:t>QueryGenie: A Self-Correcting Natural Language to SQL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BF962-D7B8-3044-BC3C-112E78CC1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602038"/>
            <a:ext cx="5284424" cy="1364818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/>
              <a:t>Presented by — Team 18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2320090050 : N V V S S Jayakanth Kamisetti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2320090009 : Boddupally Narendar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2320090018 : M Praneeth Reddy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207E50-8B7C-54B1-3E27-4620CCBA6CF4}"/>
              </a:ext>
            </a:extLst>
          </p:cNvPr>
          <p:cNvSpPr txBox="1">
            <a:spLocks/>
          </p:cNvSpPr>
          <p:nvPr/>
        </p:nvSpPr>
        <p:spPr>
          <a:xfrm>
            <a:off x="605928" y="4772747"/>
            <a:ext cx="5850628" cy="1639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olidFill>
                  <a:srgbClr val="0070C0"/>
                </a:solidFill>
              </a:rPr>
              <a:t>M Parameswar</a:t>
            </a:r>
          </a:p>
          <a:p>
            <a:pPr algn="l"/>
            <a:r>
              <a:rPr lang="en-US" sz="1800" b="1" dirty="0">
                <a:solidFill>
                  <a:srgbClr val="0070C0"/>
                </a:solidFill>
              </a:rPr>
              <a:t>Associate Professor</a:t>
            </a:r>
          </a:p>
          <a:p>
            <a:pPr algn="l"/>
            <a:r>
              <a:rPr lang="en-US" sz="1800" b="1" dirty="0">
                <a:solidFill>
                  <a:srgbClr val="0070C0"/>
                </a:solidFill>
              </a:rPr>
              <a:t>Dept of Computer Science &amp; Information Technology</a:t>
            </a:r>
          </a:p>
          <a:p>
            <a:pPr algn="l"/>
            <a:r>
              <a:rPr lang="en-US" sz="1800" b="1" dirty="0">
                <a:solidFill>
                  <a:srgbClr val="0070C0"/>
                </a:solidFill>
              </a:rPr>
              <a:t>KLEF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840D99-F374-9763-26DC-22333636F187}"/>
              </a:ext>
            </a:extLst>
          </p:cNvPr>
          <p:cNvSpPr txBox="1">
            <a:spLocks/>
          </p:cNvSpPr>
          <p:nvPr/>
        </p:nvSpPr>
        <p:spPr>
          <a:xfrm>
            <a:off x="2950231" y="1146011"/>
            <a:ext cx="6291538" cy="5446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Capstone Project – I (Review – III)</a:t>
            </a:r>
          </a:p>
        </p:txBody>
      </p:sp>
    </p:spTree>
    <p:extLst>
      <p:ext uri="{BB962C8B-B14F-4D97-AF65-F5344CB8AC3E}">
        <p14:creationId xmlns:p14="http://schemas.microsoft.com/office/powerpoint/2010/main" val="2458357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0424-00EE-4DF7-F2C6-50391674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BC2F5-B651-06DA-36E3-17F7CACB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975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Problem Statement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Related Research Papers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Research Gap</a:t>
            </a:r>
          </a:p>
          <a:p>
            <a:r>
              <a:rPr lang="en-US" sz="2000" dirty="0">
                <a:solidFill>
                  <a:srgbClr val="002060"/>
                </a:solidFill>
              </a:rPr>
              <a:t>Proposed Methodology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Dataset(s), if any (detailed analysis) 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Architecture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Experimental Results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Limitations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Conclusion and Future work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References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GitHub URL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35C7C-EF9D-FCB1-DF74-2DB4E72E3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8BCEB-E212-A36D-4C59-EFFA0544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78211-B63A-D5D3-1A95-6D7F9A77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0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47EC-F709-BA87-FB72-313CFD69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ACFE-A3CB-D225-E1F3-DC82C307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Problem </a:t>
            </a:r>
            <a:r>
              <a:rPr lang="en-US" dirty="0"/>
              <a:t>S</a:t>
            </a:r>
            <a:r>
              <a:rPr lang="en-US" b="1" dirty="0">
                <a:solidFill>
                  <a:srgbClr val="002060"/>
                </a:solidFill>
              </a:rPr>
              <a:t>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20EC-224E-A5B3-968C-E3C7BFDF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900" b="1"/>
              <a:t>Problem: </a:t>
            </a:r>
            <a:r>
              <a:rPr sz="1900"/>
              <a:t>people who don't know SQL can't get answers out of a database without help.</a:t>
            </a:r>
          </a:p>
          <a:p>
            <a:r>
              <a:rPr sz="1900" b="1"/>
              <a:t>Text-to-SQL</a:t>
            </a:r>
            <a:r>
              <a:rPr sz="1900"/>
              <a:t> translates a plain-English question into SQL, runs it and returns the result.</a:t>
            </a:r>
          </a:p>
          <a:p>
            <a:r>
              <a:rPr sz="1900" b="1"/>
              <a:t>The risk: </a:t>
            </a:r>
            <a:r>
              <a:rPr sz="1900"/>
              <a:t>these systems answer every question with the same confidence, so a wrong table looks exactly like a right one.</a:t>
            </a:r>
          </a:p>
          <a:p>
            <a:pPr lvl="1"/>
            <a:r>
              <a:rPr sz="1600"/>
              <a:t>Even CodeS, a strong open model, is wrong on about 1 in 5 Spider questions (77.9% accuracy).</a:t>
            </a:r>
          </a:p>
          <a:p>
            <a:r>
              <a:rPr sz="1900" b="1"/>
              <a:t>Most strong systems use closed models</a:t>
            </a:r>
            <a:r>
              <a:rPr sz="1900"/>
              <a:t> (GPT-4, …): the database schema goes to a third party.</a:t>
            </a:r>
          </a:p>
          <a:p>
            <a:r>
              <a:rPr sz="1900" b="1"/>
              <a:t>Our goal: </a:t>
            </a:r>
            <a:r>
              <a:rPr sz="1900"/>
              <a:t>reproduce CodeS, an open model that runs locally, and make it say when it is unsure instead of answering wrongly.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97FD9-FF55-8E92-EA19-D5FD1F60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FE720-1719-C0FB-48A2-C6350721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550DB-866A-4060-3369-159531E4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7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B8A5-CBB4-AB86-EE45-892BA927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87D798-5446-8714-262B-462E922AA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50429"/>
              </p:ext>
            </p:extLst>
          </p:nvPr>
        </p:nvGraphicFramePr>
        <p:xfrm>
          <a:off x="614275" y="2501900"/>
          <a:ext cx="11193345" cy="337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Seq2SQL (Zhong et al., 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Querying databases without knowing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WikiSQL (80,654 examples; introduced)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Seq2seq with RL rewards from query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Execution accuracy 35.9% → 59.4%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Spider (Yu et al., 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Complex, cross-domain text-to-SQL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Spider: 10,181 questions, 200 databases, 138 domains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Human-annotated benchmark; unseen databases at test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Best model then: 12.4% exact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RAT-SQL (Wang et al., 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Generalising to unseen schemas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Relation-aware self-attention for schema encoding and linking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57.2% exact match; 65.6% with 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Test-suite accuracy (Zhong et al.,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Metrics misjudge equivalent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and 10 other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Distilled test suites of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metric: 2.5% false negatives on average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DFD4E5-BFA1-8D55-9C9A-9EE1A2351655}"/>
              </a:ext>
            </a:extLst>
          </p:cNvPr>
          <p:cNvSpPr txBox="1"/>
          <p:nvPr/>
        </p:nvSpPr>
        <p:spPr>
          <a:xfrm>
            <a:off x="758537" y="1726962"/>
            <a:ext cx="9898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300"/>
              <a:t>Papers 1–4 of 16 (all from arXiv); results as stated in each paper's abstract.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4740B-AAA5-3152-1996-F594D7D4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3002C-7857-DB27-C3BE-D508C739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59B93-5ED4-1EDF-5B12-9EF76BB6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0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66CB-2487-4483-7A3C-144E3612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337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StruG / Spider-Realistic (Deng et al.,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Questions rarely name the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Spider-Realistic (introduced) + 8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Structure-grounded pre-training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Beats all baselines on the realistic 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BRIDGE (Lin et al.,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Linking questions to database 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WikiSQL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Schema + matched cell values encoded with 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71.1% dev, 67.5%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PICARD (Scholak et al., 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Language models produce invalid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CoSQL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Constrained decoding by incremental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Fine-tuned T5 → state of the 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Self-consistency (Wang et al., 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Unreliable single (greedy)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GSM8K, SVAMP, AQuA, StrategyQA, ARC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Sample several reasoning paths, keep the most consistent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GSM8K +17.9%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1DDD5-31DF-2931-1FD3-5D32C8A4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E0FB-A341-4077-1F0B-4085C403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A0E1-4DF3-B45D-7384-5C0FD4E0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Papers 5–8 of 16 (all from arXiv); results as stated in each paper's abstract.</a:t>
            </a:r>
          </a:p>
        </p:txBody>
      </p:sp>
    </p:spTree>
    <p:extLst>
      <p:ext uri="{BB962C8B-B14F-4D97-AF65-F5344CB8AC3E}">
        <p14:creationId xmlns:p14="http://schemas.microsoft.com/office/powerpoint/2010/main" val="38719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337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RESDSQL (Li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Schema linking and SQL skeleton parsed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Spider-DK, -Syn, -Realistic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Ranking-enhanced encoder, skeleton-aware 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Strong accuracy and robustness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DIN-SQL (Pourreza &amp; Rafiei,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Prompting lags fine-tuned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Decomposed prompting with self-correction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test 85.3% EX; BIRD 55.9%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BIRD (Li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Benchmarks ignore large, dirty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BIRD: 12,751 pairs, 95 databases, 33.4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Benchmark with external knowledge and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ChatGPT 40.08% vs human 92.96%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DAIL-SQL (Gao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systematic study of LLM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Prompt engineering comparison; DAIL-SQL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leaderboard 86.6% 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1DDD5-31DF-2931-1FD3-5D32C8A4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E0FB-A341-4077-1F0B-4085C403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A0E1-4DF3-B45D-7384-5C0FD4E0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Papers 9–12 of 16 (all from arXiv); results as stated in each paper's abstract.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337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MAC-SQL (Wang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Huge databases, multi-step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BIRD, Spider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Multi-agent: decomposer, selector, refiner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 test 59.59% EX (GPT-4)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CodeS (Li et al., 2024) — reproduced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Dependence on closed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BIRD, robustness 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Open 1B–15B models, incremental pre-training on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CodeS-1B 77.9% EX (Spider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CHESS (Talaei et al.,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Large catalogs and schemas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Four LLM agents: retrieve, prune, generate,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 test 71.10%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CHASE-SQL (Pourreza et al.,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Choosing among SQL 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Multi-path generation + learned candidate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 test 73.0%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1DDD5-31DF-2931-1FD3-5D32C8A4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E0FB-A341-4077-1F0B-4085C403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A0E1-4DF3-B45D-7384-5C0FD4E0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Papers 13–16 of 16 (all from arXiv); results as stated in each paper's abstract.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00087-2C29-5A7C-8875-4E5FDFFA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C954-D482-DD20-D4D3-8F5E040D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Research Gap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7ADB7-E231-E6CC-9094-7CC3A70A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D29AF-6342-E7F4-8AF5-C9FEACB7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1B252-9D5A-46B2-7B97-424B7EBDA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3AE00B-7237-3222-6252-A90642CC8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wrap="square"/>
          <a:lstStyle/>
          <a:p>
            <a:r>
              <a:rPr sz="1800" b="1"/>
              <a:t>No confidence. </a:t>
            </a:r>
            <a:r>
              <a:rPr sz="1800"/>
              <a:t>Every system reviewed answers every question; none says when it is unsure or reports an accuracy–coverage trade-off.</a:t>
            </a:r>
          </a:p>
          <a:p>
            <a:r>
              <a:rPr sz="1800" b="1"/>
              <a:t>Closed models. </a:t>
            </a:r>
            <a:r>
              <a:rPr sz="1800"/>
              <a:t>The strongest systems send the schema to GPT-4-class services: cost, privacy and reproducibility problems.</a:t>
            </a:r>
          </a:p>
          <a:p>
            <a:r>
              <a:rPr sz="1800" b="1"/>
              <a:t>Benchmark-to-reality gap. </a:t>
            </a:r>
            <a:r>
              <a:rPr sz="1800"/>
              <a:t>Results are reported on Spider, whose questions often name the columns and whose databases are small; how the same model does on realistic wording and real databases is rarely measured.</a:t>
            </a:r>
          </a:p>
          <a:p>
            <a:r>
              <a:rPr sz="1800" b="1"/>
              <a:t>Our answer: </a:t>
            </a:r>
            <a:r>
              <a:rPr sz="1800"/>
              <a:t>use the 4 candidate queries CodeS already generates — if they agree, answer; if they disagree, ask the user.</a:t>
            </a:r>
          </a:p>
        </p:txBody>
      </p:sp>
    </p:spTree>
    <p:extLst>
      <p:ext uri="{BB962C8B-B14F-4D97-AF65-F5344CB8AC3E}">
        <p14:creationId xmlns:p14="http://schemas.microsoft.com/office/powerpoint/2010/main" val="3903839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DDE0-8A2C-ED6B-154D-D21691F7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DDA3-3837-1013-1D85-7CA3CDCC8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700" b="1"/>
              <a:t>All data from Hugging Face</a:t>
            </a:r>
            <a:r>
              <a:rPr sz="1700"/>
              <a:t> (approved source); no Kaggle.</a:t>
            </a:r>
          </a:p>
          <a:p>
            <a:r>
              <a:rPr sz="1700" b="1"/>
              <a:t>Spider dev</a:t>
            </a:r>
            <a:r>
              <a:rPr sz="1700"/>
              <a:t> — xlangai/spider: 1,034 questions, 20 unseen databases (2–11 tables). Reproduction, ablation, enhancement.</a:t>
            </a:r>
          </a:p>
          <a:p>
            <a:pPr lvl="1"/>
            <a:r>
              <a:rPr sz="1400"/>
              <a:t>39.5% need a JOIN, 26.8% GROUP BY, 8.0% nested queries; difficulty: 248 easy, 446 medium, 174 hard, 166 extra hard.</a:t>
            </a:r>
          </a:p>
          <a:p>
            <a:r>
              <a:rPr sz="1700" b="1"/>
              <a:t>Spider-Realistic</a:t>
            </a:r>
            <a:r>
              <a:rPr sz="1700"/>
              <a:t> — 508 Spider questions reworded without column names (same databases and answers).</a:t>
            </a:r>
          </a:p>
          <a:p>
            <a:r>
              <a:rPr sz="1700" b="1"/>
              <a:t>BIRD Mini-Dev</a:t>
            </a:r>
            <a:r>
              <a:rPr sz="1700"/>
              <a:t> — 500 questions on 11 real-world databases (finance, medicine, sport…), up to 571 MB, dirty values.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3433D-1A8D-34BE-746E-4D6CB054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D4282-3899-E404-7E9F-A0A5C3FE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DA996-170E-B445-FC15-75A2393A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52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3DF0-FB58-63D4-45FC-2D647681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63CBD-81DA-5839-1A5B-ED1925DB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34077-3BB5-701D-EF33-49FF24C0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FBE0-DFBE-5CA0-CE2E-E444F7F5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6949440" cy="3735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Reproduced CodeS (blue)</a:t>
            </a:r>
          </a:p>
          <a:p>
            <a:pPr lvl="1"/>
            <a:r>
              <a:rPr sz="1300"/>
              <a:t>Prompt: schema, keys, sample values, matched values</a:t>
            </a:r>
          </a:p>
          <a:p>
            <a:pPr lvl="1"/>
            <a:r>
              <a:rPr sz="1300"/>
              <a:t>4 candidate queries (beam search)</a:t>
            </a:r>
          </a:p>
          <a:p>
            <a:pPr lvl="1"/>
            <a:r>
              <a:rPr sz="1300"/>
              <a:t>Pick first query that runs</a:t>
            </a:r>
          </a:p>
          <a:p>
            <a:r>
              <a:rPr sz="1500" b="1"/>
              <a:t>Enhancement (amber)</a:t>
            </a:r>
          </a:p>
          <a:p>
            <a:pPr lvl="1"/>
            <a:r>
              <a:rPr sz="1300"/>
              <a:t>Run all 4, count how many agree</a:t>
            </a:r>
          </a:p>
          <a:p>
            <a:pPr lvl="1"/>
            <a:r>
              <a:rPr sz="1300"/>
              <a:t>Low agreement → ask the user</a:t>
            </a:r>
          </a:p>
          <a:p>
            <a:r>
              <a:rPr sz="1500" b="1"/>
              <a:t>Application (green)</a:t>
            </a:r>
          </a:p>
          <a:p>
            <a:pPr lvl="1"/>
            <a:r>
              <a:rPr sz="1300"/>
              <a:t>Desktop app, runs locally</a:t>
            </a:r>
          </a:p>
          <a:p>
            <a:pPr lvl="1"/>
            <a:r>
              <a:rPr sz="1300"/>
              <a:t>Table, chart, SQL, self-correction</a:t>
            </a:r>
          </a:p>
        </p:txBody>
      </p:sp>
    </p:spTree>
    <p:extLst>
      <p:ext uri="{BB962C8B-B14F-4D97-AF65-F5344CB8AC3E}">
        <p14:creationId xmlns:p14="http://schemas.microsoft.com/office/powerpoint/2010/main" val="28790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 — the QueryGenie app</a:t>
            </a:r>
          </a:p>
        </p:txBody>
      </p:sp>
      <p:pic>
        <p:nvPicPr>
          <p:cNvPr id="3" name="Picture 2" descr="app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349240" cy="3343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016627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Confident answer: 4 of 4 queries agree → table, chart, SQL</a:t>
            </a:r>
          </a:p>
        </p:txBody>
      </p:sp>
      <p:pic>
        <p:nvPicPr>
          <p:cNvPr id="5" name="Picture 4" descr="app_not_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5349240" cy="3343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5016627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Abstention: queries disagree → it asks which reading you meant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Desktop app (macOS, Windows) · runs locally on open weights · chats, schema map, charts, self-correction · SQLite, PostgreSQL, MySQL · optional Ollama / cloud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1173-DB9D-2A55-1AC2-0B9A8596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72D5D-E060-CC29-4E2D-904293E1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CB13-628F-A290-8CEE-D654DE24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FE733-A014-2277-A8AD-3C947A3A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Reproduction — Execution Accuracy, Spider dev (official evaluator)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20240"/>
          <a:ext cx="51206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1"/>
                        <a:t>EX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CodeS-1B, paper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77.9%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Our reproduction (T2-006)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77.8% (804/1,034)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Difference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−0.1 pts ✓ within ±5%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Ablation — each component removed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84048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300" b="1"/>
                        <a:t>Removed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1"/>
                        <a:t>EX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1"/>
                        <a:t>Change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Foreign keys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76.9%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−0.9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Sample column values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76.4%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−1.4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Candidate selection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76.0%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−1.8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Value retriever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75.9%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−1.9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9776" y="1508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/>
              <a:t>Enhancement — same 1,034 questions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920240"/>
          <a:ext cx="539496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200" b="1"/>
                        <a:t>System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Answered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Correct when answering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Wrong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Original CodeS-1B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77.8%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230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1"/>
                        <a:t>Enhanced, tested setting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90.4%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83.3%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156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3 of 4 must agree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62.8%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86.1%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All 4 must agree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39.8%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88.3%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48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09360" y="3977639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Significant: </a:t>
            </a:r>
            <a:r>
              <a:rPr sz="1400"/>
              <a:t>paired t-test p = 7.7×10⁻¹⁰, Wilcoxon p = 9.8×10⁻⁴, bootstrap 95% CI +4.5 to +6.7 pts.</a:t>
            </a:r>
          </a:p>
          <a:p>
            <a:r>
              <a:rPr sz="1400" b="1" dirty="0"/>
              <a:t>Wrong answers −32% </a:t>
            </a:r>
            <a:r>
              <a:rPr sz="1400" dirty="0"/>
              <a:t>(230 → 156) by declining 9.6% of questions.</a:t>
            </a:r>
          </a:p>
          <a:p>
            <a:r>
              <a:rPr sz="1400" b="1" dirty="0"/>
              <a:t>Calibrated: </a:t>
            </a:r>
            <a:r>
              <a:rPr sz="1400" dirty="0"/>
              <a:t>1 of 4 agree → 56.8% right; 4 of 4 → 88.3%.</a:t>
            </a:r>
          </a:p>
        </p:txBody>
      </p:sp>
    </p:spTree>
    <p:extLst>
      <p:ext uri="{BB962C8B-B14F-4D97-AF65-F5344CB8AC3E}">
        <p14:creationId xmlns:p14="http://schemas.microsoft.com/office/powerpoint/2010/main" val="3472489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1173-DB9D-2A55-1AC2-0B9A8596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 (continued)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72D5D-E060-CC29-4E2D-904293E1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CB13-628F-A290-8CEE-D654DE24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FE733-A014-2277-A8AD-3C947A3A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 descr="accuracy_coverage_T2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669280" cy="3307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Accuracy vs coverage: declining the least-agreed questions raises accuracy on the 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Self-correction (app feature), measured on Spider dev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2743200"/>
          <a:ext cx="521208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Without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With repair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EX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77.76%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77.85%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Failed queries repaired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—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61 of 377 now run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Benchmark-to-reality gap (CodeS-1B, unchanged)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4343400"/>
          <a:ext cx="52120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200" b="1"/>
                        <a:t>Set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EX (paper)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Answered / correct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Spider dev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77.8% (77.9%)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90.4% / 83.3%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Spider-Realistic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69.5% (70.9%)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86.2% / 76.7%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BIRD Mini-Dev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TBD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TBD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656B-0821-0969-8445-5D6D4A10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D505-03EF-17A6-20CD-8D127B1A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700" b="1"/>
              <a:t>Overall accuracy is unchanged: </a:t>
            </a:r>
            <a:r>
              <a:rPr sz="1700"/>
              <a:t>the system is right more often when it answers, by declining ~10% of questions; plain EX stays 77.8%.</a:t>
            </a:r>
          </a:p>
          <a:p>
            <a:r>
              <a:rPr sz="1700" b="1"/>
              <a:t>Agreement is not proof: </a:t>
            </a:r>
            <a:r>
              <a:rPr sz="1700"/>
              <a:t>11.7% of answers where all 4 queries agree are still wrong.</a:t>
            </a:r>
          </a:p>
          <a:p>
            <a:r>
              <a:rPr sz="1700" b="1"/>
              <a:t>One calibration: </a:t>
            </a:r>
            <a:r>
              <a:rPr sz="1700"/>
              <a:t>the threshold was tuned on Spider with CodeS-1B; other models in the app are not measured.</a:t>
            </a:r>
          </a:p>
          <a:p>
            <a:r>
              <a:rPr sz="1700" b="1"/>
              <a:t>Single questions: </a:t>
            </a:r>
            <a:r>
              <a:rPr sz="1700"/>
              <a:t>CodeS was trained on one question at a time, so follow-ups need a chat model.</a:t>
            </a:r>
          </a:p>
          <a:p>
            <a:r>
              <a:rPr sz="1700" b="1"/>
              <a:t>Reproduction scope: </a:t>
            </a:r>
            <a:r>
              <a:rPr sz="1700"/>
              <a:t>inference only (pre-training needs 8× A800 GPUs); test-suite accuracy TBD.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E82D3-E182-179D-574D-773B1CAFE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F2586-884C-0E17-0CFF-7C0DA97C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3F515-7425-9F7A-7E25-256E3DF8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1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7E34-D1B7-0596-4C1E-D919915F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F884-61AD-A5E1-E18D-8E63F49E7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 b="1"/>
              <a:t>Reproduced </a:t>
            </a:r>
            <a:r>
              <a:rPr sz="1600"/>
              <a:t>CodeS-1B: 77.8% vs 77.9% (−0.1 pts) on a free Colab T4, after auditing our own evaluation.</a:t>
            </a:r>
          </a:p>
          <a:p>
            <a:r>
              <a:rPr sz="1600" b="1"/>
              <a:t>Enhanced </a:t>
            </a:r>
            <a:r>
              <a:rPr sz="1600"/>
              <a:t>with confidence-aware abstention: 83.3% correct when answering, 32% fewer wrong answers, statistically significant.</a:t>
            </a:r>
          </a:p>
          <a:p>
            <a:r>
              <a:rPr sz="1600" b="1"/>
              <a:t>Delivered </a:t>
            </a:r>
            <a:r>
              <a:rPr sz="1600"/>
              <a:t>QueryGenie, a desktop app that runs locally and asks when it isn't sure.</a:t>
            </a:r>
          </a:p>
          <a:p>
            <a:r>
              <a:rPr sz="1600" b="1"/>
              <a:t>Future work — research:</a:t>
            </a:r>
            <a:r>
              <a:rPr sz="1600"/>
              <a:t> test-suite accuracy; CodeS-3B; a learned reranker (a correct query is among the 4 for 83.1% of questions); calibration on real-world data.</a:t>
            </a:r>
          </a:p>
          <a:p>
            <a:r>
              <a:rPr sz="1600" b="1"/>
              <a:t>Future work — from app to platform</a:t>
            </a:r>
            <a:r>
              <a:rPr sz="1600"/>
              <a:t> (local, so no data leaves the company):</a:t>
            </a:r>
          </a:p>
          <a:p>
            <a:pPr lvl="1"/>
            <a:r>
              <a:rPr sz="1400"/>
              <a:t>Any database: SQL Server, Snowflake, Apache Spark; MongoDB and other NoSQL through a SQL gateway</a:t>
            </a:r>
          </a:p>
          <a:p>
            <a:pPr lvl="1"/>
            <a:r>
              <a:rPr sz="1400"/>
              <a:t>Per-database adaptation: value index per database; optional one-time fine-tuning (CodeS data augmentation)</a:t>
            </a:r>
          </a:p>
          <a:p>
            <a:pPr lvl="1"/>
            <a:r>
              <a:rPr sz="1400"/>
              <a:t>Access control: users and roles per database / table / column, with an audit log</a:t>
            </a:r>
          </a:p>
          <a:p>
            <a:pPr lvl="1"/>
            <a:r>
              <a:rPr sz="1400"/>
              <a:t>Serving at scale: quantised larger models on laptops; a shared server for many users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DFE86-25CE-15E8-0155-62C13647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DF5BC-18A7-9FF8-B887-7137BFCA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1F47F-CAAA-99D7-1865-C58A425A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67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C1D4-A931-668D-A188-5C11E68A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35C1D-7495-EB2D-9FA3-079F41663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800"/>
              <a:t>Deng, X., Awadallah, A. H., Meek, C., Polozov, O., Sun, H., &amp; Richardson, M. (2020). Structure-grounded pretraining for text-to-SQL. arXiv:2010.12773.</a:t>
            </a:r>
          </a:p>
          <a:p>
            <a:r>
              <a:rPr sz="800"/>
              <a:t>Gao, D., et al. (2023). Text-to-SQL empowered by large language models: A benchmark evaluation. arXiv:2308.15363.</a:t>
            </a:r>
          </a:p>
          <a:p>
            <a:r>
              <a:rPr sz="800"/>
              <a:t>Geifman, Y., &amp; El-Yaniv, R. (2017). Selective classification for deep neural networks. arXiv:1705.08500.</a:t>
            </a:r>
          </a:p>
          <a:p>
            <a:r>
              <a:rPr sz="800"/>
              <a:t>Li, H., et al. (2023). RESDSQL: Decoupling schema linking and skeleton parsing for text-to-SQL. arXiv:2302.05965.</a:t>
            </a:r>
          </a:p>
          <a:p>
            <a:r>
              <a:rPr sz="800"/>
              <a:t>Li, H., et al. (2024). CodeS: Towards building open-source language models for text-to-SQL. arXiv:2402.16347.</a:t>
            </a:r>
          </a:p>
          <a:p>
            <a:r>
              <a:rPr sz="800"/>
              <a:t>Li, J., et al. (2023). Can LLM already serve as a database interface? A big bench for large-scale database grounded text-to-SQLs. arXiv:2305.03111.</a:t>
            </a:r>
          </a:p>
          <a:p>
            <a:r>
              <a:rPr sz="800"/>
              <a:t>Lin, X. V., Socher, R., &amp; Xiong, C. (2020). Bridging textual and tabular data for cross-domain text-to-SQL semantic parsing. arXiv:2012.12627.</a:t>
            </a:r>
          </a:p>
          <a:p>
            <a:r>
              <a:rPr sz="800"/>
              <a:t>Pourreza, M., &amp; Rafiei, D. (2023). DIN-SQL: Decomposed in-context learning of text-to-SQL with self-correction. arXiv:2304.11015.</a:t>
            </a:r>
          </a:p>
          <a:p>
            <a:r>
              <a:rPr sz="800"/>
              <a:t>Pourreza, M., et al. (2024). CHASE-SQL: Multi-path reasoning and preference optimized candidate selection in text-to-SQL. arXiv:2410.01943.</a:t>
            </a:r>
          </a:p>
          <a:p>
            <a:r>
              <a:rPr sz="800"/>
              <a:t>Scholak, T., Schucher, N., &amp; Bahdanau, D. (2021). PICARD: Parsing incrementally for constrained auto-regressive decoding from language models. arXiv:2109.05093.</a:t>
            </a:r>
          </a:p>
          <a:p>
            <a:r>
              <a:rPr sz="800"/>
              <a:t>Talaei, S., et al. (2024). CHESS: Contextual harnessing for efficient SQL synthesis. arXiv:2405.16755.</a:t>
            </a:r>
          </a:p>
          <a:p>
            <a:r>
              <a:rPr sz="800"/>
              <a:t>Wang, B., Shin, R., Liu, X., Polozov, O., &amp; Richardson, M. (2019). RAT-SQL: Relation-aware schema encoding and linking for text-to-SQL parsers. arXiv:1911.04942.</a:t>
            </a:r>
          </a:p>
          <a:p>
            <a:r>
              <a:rPr sz="800"/>
              <a:t>Wang, B., et al. (2023). MAC-SQL: A multi-agent collaborative framework for text-to-SQL. arXiv:2312.11242.</a:t>
            </a:r>
          </a:p>
          <a:p>
            <a:r>
              <a:rPr sz="800"/>
              <a:t>Wang, X., et al. (2022). Self-consistency improves chain of thought reasoning in language models. arXiv:2203.11171.</a:t>
            </a:r>
          </a:p>
          <a:p>
            <a:r>
              <a:rPr sz="800"/>
              <a:t>Yu, T., et al. (2018). Spider: A large-scale human-labeled dataset for complex and cross-domain semantic parsing and text-to-SQL task. arXiv:1809.08887.</a:t>
            </a:r>
          </a:p>
          <a:p>
            <a:r>
              <a:rPr sz="800"/>
              <a:t>Zhong, R., Yu, T., &amp; Klein, D. (2020). Semantic evaluation for text-to-SQL with distilled test suites. arXiv:2010.02840.</a:t>
            </a:r>
          </a:p>
          <a:p>
            <a:r>
              <a:rPr sz="800"/>
              <a:t>Zhong, V., Xiong, C., &amp; Socher, R. (2017). Seq2SQL: Generating structured queries from natural language using reinforcement learning. arXiv:1709.00103.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81438-5716-1A4A-FC8D-69CAACD8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E631B-D82B-58A8-37FF-FF102F86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F3908-E319-5D95-666C-95165647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9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924E-6BBF-582A-7E58-FBDE1B4D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5154"/>
            <a:ext cx="10515600" cy="1325563"/>
          </a:xfrm>
        </p:spPr>
        <p:txBody>
          <a:bodyPr/>
          <a:lstStyle/>
          <a:p>
            <a:r>
              <a:t>GitHub URL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8B4CA-B23A-D08F-096B-A897A06F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12D26-D3EF-AB60-F8A3-9B8906C2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8B56B-403E-AC07-154C-C6069DB0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hlinkClick r:id="rId2"/>
              </a:rPr>
              <a:t>https://github.com/jayakanthh/QueryGenie</a:t>
            </a:r>
          </a:p>
        </p:txBody>
      </p:sp>
    </p:spTree>
    <p:extLst>
      <p:ext uri="{BB962C8B-B14F-4D97-AF65-F5344CB8AC3E}">
        <p14:creationId xmlns:p14="http://schemas.microsoft.com/office/powerpoint/2010/main" val="3174692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03201-DBE6-7383-5D47-94178423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433E2-FE28-7F11-9CBD-E1975356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5AF8C-F026-40DE-5B0F-16603724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15939-1AE8-3C9E-D257-F1BF3A42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8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635</TotalTime>
  <Words>2366</Words>
  <Application>Microsoft Macintosh PowerPoint</Application>
  <PresentationFormat>Widescreen</PresentationFormat>
  <Paragraphs>321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QueryGenie: A Self-Correcting Natural Language to SQL Interface</vt:lpstr>
      <vt:lpstr>Outline</vt:lpstr>
      <vt:lpstr>Problem Statement</vt:lpstr>
      <vt:lpstr>Related Research Papers</vt:lpstr>
      <vt:lpstr>Related Research Papers</vt:lpstr>
      <vt:lpstr>Related Research Papers</vt:lpstr>
      <vt:lpstr>Related Research Papers</vt:lpstr>
      <vt:lpstr>Research Gap</vt:lpstr>
      <vt:lpstr>Proposed Methodology</vt:lpstr>
      <vt:lpstr>Proposed Methodology</vt:lpstr>
      <vt:lpstr>Proposed Methodology — the QueryGenie app</vt:lpstr>
      <vt:lpstr>Experimental Results</vt:lpstr>
      <vt:lpstr>Experimental Results (continued)</vt:lpstr>
      <vt:lpstr>Limitations</vt:lpstr>
      <vt:lpstr>Conclusion and Future work </vt:lpstr>
      <vt:lpstr>References</vt:lpstr>
      <vt:lpstr>GitHub URL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Jagan Mohan Reddy D</dc:creator>
  <cp:lastModifiedBy>N V V S S JAYAKANTH KAMISETTI .</cp:lastModifiedBy>
  <cp:revision>70</cp:revision>
  <dcterms:created xsi:type="dcterms:W3CDTF">2026-04-11T11:52:12Z</dcterms:created>
  <dcterms:modified xsi:type="dcterms:W3CDTF">2026-10-05T11:23:43Z</dcterms:modified>
</cp:coreProperties>
</file>
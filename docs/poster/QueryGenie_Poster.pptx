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9FC"/>
    <a:srgbClr val="F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>
        <p:scale>
          <a:sx n="31" d="100"/>
          <a:sy n="31" d="100"/>
        </p:scale>
        <p:origin x="2056" y="-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781CB-E638-AC4E-B8EC-984A7682867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C2D9-C6F9-D446-8B89-26818FEE0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CMx140CM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3691" y="7585962"/>
            <a:ext cx="14299153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18518420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884938"/>
            <a:ext cx="14287682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Proposed Methodology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5353328" y="7585962"/>
            <a:ext cx="1428768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629167" y="31830857"/>
            <a:ext cx="1428375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23691" y="32586238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5364404" y="36583483"/>
            <a:ext cx="14276605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Team Details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5353329" y="37358864"/>
            <a:ext cx="14283756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623691" y="19275662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090899" y="4110875"/>
            <a:ext cx="22093415" cy="1087559"/>
          </a:xfrm>
          <a:prstGeom prst="rect">
            <a:avLst/>
          </a:prstGeom>
        </p:spPr>
        <p:txBody>
          <a:bodyPr lIns="77349" tIns="38675" rIns="77349" bIns="38675">
            <a:normAutofit/>
          </a:bodyPr>
          <a:lstStyle>
            <a:lvl1pPr marL="0" indent="0" algn="ctr">
              <a:buFontTx/>
              <a:buNone/>
              <a:defRPr sz="54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090899" y="2558463"/>
            <a:ext cx="22093415" cy="1262156"/>
          </a:xfrm>
          <a:prstGeom prst="rect">
            <a:avLst/>
          </a:prstGeom>
        </p:spPr>
        <p:txBody>
          <a:bodyPr lIns="77349" tIns="38675" rIns="77349" bIns="38675" anchor="t" anchorCtr="1">
            <a:noAutofit/>
          </a:bodyPr>
          <a:lstStyle>
            <a:lvl1pPr marL="0" indent="0" algn="ctr">
              <a:buFontTx/>
              <a:buNone/>
              <a:defRPr sz="72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4090899" y="492940"/>
            <a:ext cx="22093415" cy="1775267"/>
          </a:xfrm>
          <a:prstGeom prst="rect">
            <a:avLst/>
          </a:prstGeom>
        </p:spPr>
        <p:txBody>
          <a:bodyPr lIns="77349" tIns="38675" rIns="77349" bIns="38675" anchor="t" anchorCtr="1">
            <a:normAutofit/>
          </a:bodyPr>
          <a:lstStyle>
            <a:lvl1pPr marL="0" indent="0" algn="ctr">
              <a:buFontTx/>
              <a:buNone/>
              <a:defRPr sz="9800" b="1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73CEEE2-ACD9-82CF-397D-77E068323C78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5365848" y="24976035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Experimental Results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970220D-428D-0519-8D48-7EA76D1EC56E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15353328" y="25733277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24717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64CC4D-40CA-E106-D750-21DA993E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948" y="1560456"/>
            <a:ext cx="16067315" cy="20318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BC3F14C-E222-62E8-2CB0-3C8B8424E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0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4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5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6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1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E24B3-6CAF-FFBF-565C-DC77E8B2E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80ED4-BDC9-974B-CC52-F6BB7C473C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" y="6858000"/>
            <a:ext cx="1426464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78EA6-312C-ECEF-59B9-E36348719A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080" y="13030200"/>
            <a:ext cx="1426464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03FC3-EF78-0195-9E8A-80D1DD3BF3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361920" y="6858000"/>
            <a:ext cx="1426464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Methodology / System Architecture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492D2A-3855-86DB-BA68-CFA9AC77BE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83505F-57B0-D147-C007-1439ADEC23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196560" y="29809440"/>
            <a:ext cx="662940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50C502-46E2-231E-BC5F-71BFDCE181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D4F33-A05F-99BA-67E6-198CD7C00D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5008839" y="29809440"/>
            <a:ext cx="461772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Details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38FB74-198A-E802-6D4E-35526CA7C4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/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8FAAD1-9D6D-0FFA-5F80-F5B6C776031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7E7D37-4ADD-B411-5745-64B80A6DFF3E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>
          <a:xfrm>
            <a:off x="6035040" y="1005840"/>
            <a:ext cx="19568160" cy="3108960"/>
          </a:xfrm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104"/>
              </a:spcAft>
            </a:pPr>
            <a:r>
              <a:rPr sz="100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QueryGenie</a:t>
            </a:r>
          </a:p>
          <a:p>
            <a:pPr algn="ctr">
              <a:spcBef>
                <a:spcPts val="0"/>
              </a:spcBef>
              <a:spcAft>
                <a:spcPts val="104"/>
              </a:spcAft>
            </a:pPr>
            <a:r>
              <a:rPr sz="42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A Self-Correcting, Confidence-Aware Natural Language to SQL Interface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925E26-3D5F-FD61-C041-F736D92C1EDE}"/>
              </a:ext>
            </a:extLst>
          </p:cNvPr>
          <p:cNvSpPr>
            <a:spLocks noGrp="1"/>
          </p:cNvSpPr>
          <p:nvPr>
            <p:ph type="body" sz="quarter" idx="154"/>
          </p:nvPr>
        </p:nvSpPr>
        <p:spPr>
          <a:xfrm>
            <a:off x="640080" y="29809440"/>
            <a:ext cx="17373600" cy="731520"/>
          </a:xfrm>
          <a:solidFill>
            <a:srgbClr val="C00000"/>
          </a:solidFill>
        </p:spPr>
        <p:txBody>
          <a:bodyPr wrap="square" anchor="ctr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Experimental Results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00095B5-184C-4621-241F-6E501731F4AA}"/>
              </a:ext>
            </a:extLst>
          </p:cNvPr>
          <p:cNvSpPr>
            <a:spLocks noGrp="1"/>
          </p:cNvSpPr>
          <p:nvPr>
            <p:ph type="body" sz="quarter" idx="155"/>
          </p:nvPr>
        </p:nvSpPr>
        <p:spPr>
          <a:xfrm>
            <a:off x="640080" y="6949440"/>
            <a:ext cx="45720" cy="4572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B54E70-3F09-D332-907A-A69C3F44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" y="1195278"/>
            <a:ext cx="5051364" cy="185991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1D1E30-4CB1-0118-0883-B370DAD87939}"/>
              </a:ext>
            </a:extLst>
          </p:cNvPr>
          <p:cNvSpPr/>
          <p:nvPr/>
        </p:nvSpPr>
        <p:spPr>
          <a:xfrm>
            <a:off x="-1" y="42003496"/>
            <a:ext cx="30275213" cy="80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ptos"/>
              </a:rPr>
              <a:t>Department of Computer Science and Information Technology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A968B0-F23F-1CB8-E525-D45C1F1DD8C8}"/>
              </a:ext>
            </a:extLst>
          </p:cNvPr>
          <p:cNvGrpSpPr/>
          <p:nvPr/>
        </p:nvGrpSpPr>
        <p:grpSpPr>
          <a:xfrm>
            <a:off x="623691" y="5045569"/>
            <a:ext cx="29013394" cy="203459"/>
            <a:chOff x="5297214" y="5869884"/>
            <a:chExt cx="3874494" cy="7897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2A849BB-57EB-3B07-9045-6D992A2C1BB8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6ABFFEB-9857-207A-093B-83A088610716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ABAA8FC-E2ED-F8A9-D777-1432EBA0830F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92808BA-82AF-3250-3679-A73FE7DAD85C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C58C13-E2F0-38F2-BE1B-7BB99133B9E5}"/>
              </a:ext>
            </a:extLst>
          </p:cNvPr>
          <p:cNvSpPr txBox="1"/>
          <p:nvPr/>
        </p:nvSpPr>
        <p:spPr>
          <a:xfrm>
            <a:off x="2202874" y="4405744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ptos"/>
              </a:rPr>
              <a:t>STUDENTS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D8927-421D-132B-30DD-C0DECF1225BE}"/>
              </a:ext>
            </a:extLst>
          </p:cNvPr>
          <p:cNvSpPr txBox="1"/>
          <p:nvPr/>
        </p:nvSpPr>
        <p:spPr>
          <a:xfrm>
            <a:off x="9712038" y="439625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ptos"/>
              </a:rPr>
              <a:t>INNOVATION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A5CA1-6A1D-A450-A745-A29C2F565D5D}"/>
              </a:ext>
            </a:extLst>
          </p:cNvPr>
          <p:cNvSpPr txBox="1"/>
          <p:nvPr/>
        </p:nvSpPr>
        <p:spPr>
          <a:xfrm>
            <a:off x="17576645" y="442801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ptos"/>
              </a:rPr>
              <a:t>RESEARCH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24A98-D633-909B-F752-74C8912A4A84}"/>
              </a:ext>
            </a:extLst>
          </p:cNvPr>
          <p:cNvSpPr txBox="1"/>
          <p:nvPr/>
        </p:nvSpPr>
        <p:spPr>
          <a:xfrm>
            <a:off x="25176018" y="4414407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ptos"/>
              </a:rPr>
              <a:t>IMPACT</a:t>
            </a:r>
          </a:p>
        </p:txBody>
      </p:sp>
      <p:pic>
        <p:nvPicPr>
          <p:cNvPr id="27" name="Picture 26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0" y="1143000"/>
            <a:ext cx="2945718" cy="27432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0080" y="7680960"/>
            <a:ext cx="142646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7772400"/>
            <a:ext cx="13990319" cy="4937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just">
              <a:spcBef>
                <a:spcPts val="0"/>
              </a:spcBef>
              <a:spcAft>
                <a:spcPts val="775"/>
              </a:spcAft>
            </a:pPr>
            <a:r>
              <a:rPr sz="31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QueryGenie</a:t>
            </a:r>
            <a:r>
              <a:rPr sz="31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 lets anyone ask a database questions in plain English. Text-to-SQL models answer every question with the same confidence, so a wrong answer looks exactly like a right one. We reproduce CodeS (SIGMOD 2024), an open-source text-to-SQL model, to 77.8% execution accuracy on Spider (paper: 77.9%), and add confidence-aware abstention: the system runs every candidate query the model writes and checks whether they agree. When they don't, it asks the user instead of guessing. It answers 90.4% of questions and is right on 83.3% of them, with a third fewer wrong answers — a statistically significant gain. It runs fully locally in a desktop app.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13944600"/>
            <a:ext cx="731520" cy="7315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00" b="1" i="0" u="none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39" y="13880592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Reproduce CodeS-1B on Spider within the ±5–10% tolerance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1490472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00" b="1" i="0" u="none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39" y="14840712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Find which parts of the CodeS pipeline matter (ablation)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15864840"/>
            <a:ext cx="731520" cy="7315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00" b="1" i="0" u="none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39" y="15800832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Make the system say when it is unsure — tested statistically</a:t>
            </a:r>
          </a:p>
        </p:txBody>
      </p:sp>
      <p:sp>
        <p:nvSpPr>
          <p:cNvPr id="36" name="Oval 35"/>
          <p:cNvSpPr/>
          <p:nvPr/>
        </p:nvSpPr>
        <p:spPr>
          <a:xfrm>
            <a:off x="777240" y="1682496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00" b="1" i="0" u="none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39" y="16760951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Measure accuracy on realistically worded questions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" y="17785080"/>
            <a:ext cx="731520" cy="73152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00" b="1" i="0" u="none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39" y="17721072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 a desktop app that runs fully locally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18882360"/>
            <a:ext cx="1426464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Innovations &amp; Contributions</a:t>
            </a:r>
          </a:p>
        </p:txBody>
      </p:sp>
      <p:pic>
        <p:nvPicPr>
          <p:cNvPr id="41" name="Picture 40" descr="shield-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19961352"/>
            <a:ext cx="868680" cy="8686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920239" y="19796760"/>
            <a:ext cx="12893040" cy="153619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1. Confidence-aware abstention</a:t>
            </a:r>
          </a:p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Run all candidate queries, count how many agree; ask “Did you mean…?” when they don't</a:t>
            </a:r>
          </a:p>
        </p:txBody>
      </p:sp>
      <p:pic>
        <p:nvPicPr>
          <p:cNvPr id="43" name="Picture 42" descr="badge-che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21534119"/>
            <a:ext cx="868680" cy="8686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920239" y="21369527"/>
            <a:ext cx="12893040" cy="153619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2. Faithful, audited reproduction</a:t>
            </a:r>
          </a:p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77.8% vs 77.9% with the official evaluator, after auditing our own harness</a:t>
            </a:r>
          </a:p>
        </p:txBody>
      </p:sp>
      <p:pic>
        <p:nvPicPr>
          <p:cNvPr id="45" name="Picture 44" descr="refresh-c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3106888"/>
            <a:ext cx="868680" cy="8686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920239" y="22942296"/>
            <a:ext cx="12893040" cy="153619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3. Execution-guided self-correction</a:t>
            </a:r>
          </a:p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A failed query goes back to the model with the database error</a:t>
            </a:r>
          </a:p>
        </p:txBody>
      </p:sp>
      <p:pic>
        <p:nvPicPr>
          <p:cNvPr id="47" name="Picture 46" descr="lock-keyhol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59" y="24679656"/>
            <a:ext cx="868680" cy="8686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20239" y="24515064"/>
            <a:ext cx="12893040" cy="153619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4. Private by design</a:t>
            </a:r>
          </a:p>
          <a:p>
            <a:pPr algn="l">
              <a:spcBef>
                <a:spcPts val="0"/>
              </a:spcBef>
              <a:spcAft>
                <a:spcPts val="10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Open weights, runs on the user's computer — no schema sent to a third party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6197560"/>
            <a:ext cx="1426464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Datasets (Hugging Face — approved source)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640080" y="27020520"/>
          <a:ext cx="14264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023360"/>
                <a:gridCol w="6035040"/>
              </a:tblGrid>
              <a:tr h="5943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Benchmark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Questions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</a:rPr>
                        <a:t>Used for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Spider dev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1,034 · 20 databases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Reproduction, ablation, enhancement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Spider-Realistic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Questions without column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BIRD Mini-Dev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500 · 11 databases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Aptos"/>
                        </a:rPr>
                        <a:t>Real-world databases (future work)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15361920" y="7680960"/>
            <a:ext cx="14264640" cy="2171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5727680" y="8001000"/>
            <a:ext cx="64008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essage-circle-questio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6280" y="8595360"/>
            <a:ext cx="914400" cy="914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7007839" y="8074152"/>
            <a:ext cx="4983480" cy="1956815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USER QUESTION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“Which student scored the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highest marks in DBMS?”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0" y="8001000"/>
            <a:ext cx="64008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databas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88600" y="8595360"/>
            <a:ext cx="914400" cy="9144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4140160" y="8074152"/>
            <a:ext cx="4983480" cy="1956815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YOUR DATABASE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SQLite · PostgreSQL · MySQL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opened read-only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8928080" y="10104120"/>
            <a:ext cx="2194560" cy="640080"/>
          </a:xfrm>
          <a:prstGeom prst="line">
            <a:avLst/>
          </a:prstGeom>
          <a:ln w="44450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3865840" y="10104120"/>
            <a:ext cx="2194560" cy="640080"/>
          </a:xfrm>
          <a:prstGeom prst="line">
            <a:avLst/>
          </a:prstGeom>
          <a:ln w="44450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6733520" y="10789920"/>
            <a:ext cx="11521440" cy="2514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file-text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62120" y="11590020"/>
            <a:ext cx="914400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013680" y="10863072"/>
            <a:ext cx="10104119" cy="236829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 PROMPT BUILDER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Tables, columns, types, keys, 2 sample values each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Value retriever: stored values that match the question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2494240" y="13304520"/>
            <a:ext cx="0" cy="548640"/>
          </a:xfrm>
          <a:prstGeom prst="line">
            <a:avLst/>
          </a:prstGeom>
          <a:ln w="44450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6733520" y="13898880"/>
            <a:ext cx="1152144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rain-circuit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62120" y="14493240"/>
            <a:ext cx="914400" cy="914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8013680" y="13972032"/>
            <a:ext cx="10104119" cy="1956815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CODES-1B (FINE-TUNED ON SPIDER)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Beam search → several candidate SQL queries, each scored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8928080" y="16002000"/>
            <a:ext cx="1280160" cy="548640"/>
          </a:xfrm>
          <a:prstGeom prst="line">
            <a:avLst/>
          </a:prstGeom>
          <a:ln w="44450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5727680" y="16596359"/>
            <a:ext cx="6400800" cy="23774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play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56280" y="17327880"/>
            <a:ext cx="914400" cy="9144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7007839" y="16669511"/>
            <a:ext cx="4983480" cy="223113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EXECUTE ALL CANDIDATES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Read-only; keep the first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valid query (paper's rule)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860000" y="16596359"/>
            <a:ext cx="6400800" cy="237744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refresh-cw_gre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88600" y="17327880"/>
            <a:ext cx="914400" cy="9144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4140160" y="16669511"/>
            <a:ext cx="4983480" cy="223113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SELF-CORRECTION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Failed query + error →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the model repairs it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128480" y="17785080"/>
            <a:ext cx="731520" cy="0"/>
          </a:xfrm>
          <a:prstGeom prst="line">
            <a:avLst/>
          </a:prstGeom>
          <a:ln w="444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8928080" y="18973800"/>
            <a:ext cx="2194560" cy="548640"/>
          </a:xfrm>
          <a:prstGeom prst="line">
            <a:avLst/>
          </a:prstGeom>
          <a:ln w="44450">
            <a:solidFill>
              <a:srgbClr val="5B6B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16733520" y="19568160"/>
            <a:ext cx="11521440" cy="219456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 w="3175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list-checks_oran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962120" y="20208239"/>
            <a:ext cx="914400" cy="9144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8013680" y="19641311"/>
            <a:ext cx="10104119" cy="2048255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EXECUTION AGREEMENT  ·  OUR ENHANCEMENT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Share of the different queries that return the same result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494240" y="21762720"/>
            <a:ext cx="0" cy="548640"/>
          </a:xfrm>
          <a:prstGeom prst="line">
            <a:avLst/>
          </a:prstGeom>
          <a:ln w="44450">
            <a:solidFill>
              <a:srgbClr val="C98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6733520" y="22357080"/>
            <a:ext cx="11521440" cy="201168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 w="3175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gauge_oran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62120" y="22905720"/>
            <a:ext cx="914400" cy="9144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8013680" y="22430231"/>
            <a:ext cx="10104119" cy="186537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CONFIDENT ENOUGH?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Agreement vs a threshold calibrated on Spider (strictness mode)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18928080" y="24368760"/>
            <a:ext cx="1280160" cy="640080"/>
          </a:xfrm>
          <a:prstGeom prst="line">
            <a:avLst/>
          </a:prstGeom>
          <a:ln w="444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7190720" y="24414480"/>
            <a:ext cx="2926080" cy="502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000" b="1" i="0" u="none" lang="en-US">
                <a:solidFill>
                  <a:srgbClr val="2E7D32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4780240" y="24368760"/>
            <a:ext cx="1280160" cy="640080"/>
          </a:xfrm>
          <a:prstGeom prst="line">
            <a:avLst/>
          </a:prstGeom>
          <a:ln w="44450">
            <a:solidFill>
              <a:srgbClr val="C98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6334720" y="24414480"/>
            <a:ext cx="2926080" cy="502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000" b="1" i="0" u="none" lang="en-US">
                <a:solidFill>
                  <a:srgbClr val="C98A00"/>
                </a:solidFill>
                <a:latin typeface="Aptos"/>
                <a:ea typeface="Aptos"/>
                <a:cs typeface="Aptos"/>
              </a:rPr>
              <a:t>no → ask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5727680" y="25054560"/>
            <a:ext cx="6400800" cy="237744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chart-column_gree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956280" y="25786080"/>
            <a:ext cx="914400" cy="9144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007839" y="25127711"/>
            <a:ext cx="4983480" cy="223113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ANSWER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Table + automatic chart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SQL + how many queries agree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2860000" y="25054560"/>
            <a:ext cx="6400800" cy="237744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 w="3175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circle-help_oran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088600" y="25786080"/>
            <a:ext cx="914400" cy="9144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24140160" y="25127711"/>
            <a:ext cx="4983480" cy="2231136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7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“DID YOU MEAN…?”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No guess: shows the different</a:t>
            </a:r>
          </a:p>
          <a:p>
            <a:pPr algn="l">
              <a:spcBef>
                <a:spcPts val="0"/>
              </a:spcBef>
              <a:spcAft>
                <a:spcPts val="156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readings to choose from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5910560" y="27934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E8F1FB"/>
          </a:solidFill>
          <a:ln w="31750">
            <a:solidFill>
              <a:srgbClr val="2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550640" y="27843480"/>
            <a:ext cx="3931920" cy="6858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Reproduced from CodeS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0574000" y="27934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FFF4DC"/>
          </a:solidFill>
          <a:ln w="3175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214080" y="27843480"/>
            <a:ext cx="3931920" cy="6858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Our enhancement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237440" y="27934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877520" y="27843480"/>
            <a:ext cx="3931920" cy="6858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727680" y="28575000"/>
            <a:ext cx="13533119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Desktop app (macOS · Windows) · runs locally on open weights</a:t>
            </a:r>
          </a:p>
        </p:txBody>
      </p:sp>
      <p:pic>
        <p:nvPicPr>
          <p:cNvPr id="100" name="Picture 99" descr="chart_reproducti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94460" y="30678120"/>
            <a:ext cx="7863840" cy="4966636"/>
          </a:xfrm>
          <a:prstGeom prst="rect">
            <a:avLst/>
          </a:prstGeom>
        </p:spPr>
      </p:pic>
      <p:pic>
        <p:nvPicPr>
          <p:cNvPr id="101" name="Picture 100" descr="chart_enhancemen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95460" y="30678120"/>
            <a:ext cx="7863840" cy="4966636"/>
          </a:xfrm>
          <a:prstGeom prst="rect">
            <a:avLst/>
          </a:prstGeom>
        </p:spPr>
      </p:pic>
      <p:pic>
        <p:nvPicPr>
          <p:cNvPr id="102" name="Picture 101" descr="chart_wron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94460" y="35736195"/>
            <a:ext cx="7863840" cy="4966636"/>
          </a:xfrm>
          <a:prstGeom prst="rect">
            <a:avLst/>
          </a:prstGeom>
        </p:spPr>
      </p:pic>
      <p:pic>
        <p:nvPicPr>
          <p:cNvPr id="103" name="Picture 102" descr="chart_calibrati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95460" y="35736195"/>
            <a:ext cx="7863840" cy="4966636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40080" y="40748551"/>
            <a:ext cx="17373600" cy="108524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76"/>
              </a:spcAft>
            </a:pPr>
            <a:r>
              <a:rPr sz="22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Significant: </a:t>
            </a:r>
            <a:r>
              <a:rPr sz="22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paired t-test p = 7.7×10⁻¹⁰, Wilcoxon p = 9.8×10⁻⁴, bootstrap 95% CI +4.5 to +6.7 points.</a:t>
            </a:r>
          </a:p>
          <a:p>
            <a:pPr algn="l">
              <a:spcBef>
                <a:spcPts val="0"/>
              </a:spcBef>
              <a:spcAft>
                <a:spcPts val="176"/>
              </a:spcAft>
            </a:pPr>
            <a:r>
              <a:rPr sz="22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Robust: </a:t>
            </a:r>
            <a:r>
              <a:rPr sz="22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counting each different query only once, accuracy at 90% coverage is still 83.5%.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8196560" y="30678120"/>
            <a:ext cx="6629400" cy="11109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8288000" y="30769560"/>
            <a:ext cx="6446520" cy="109270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[1]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Li, H., et al. (2024). CodeS: Towards building open-source language models for text-to-SQL. arXiv:2402.16347.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[2]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Yu, T., et al. (2018). Spider: A large-scale human-labeled dataset for complex and cross-domain semantic parsing and text-to-SQL task. arXiv:1809.08887.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[3]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Deng, X., et al. (2020). Structure-grounded pretraining for text-to-SQL. arXiv:2010.12773.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[4]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Li, J., et al. (2023). Can LLM already serve as a database interface? A big bench for large-scale database grounded text-to-SQLs. arXiv:2305.03111.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[5]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Pourreza, M., &amp; Rafiei, D. (2023). DIN-SQL: Decomposed in-context learning of text-to-SQL with self-correction. arXiv:2304.11015.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[6]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Wang, X., et al. (2022). Self-consistency improves chain of thought reasoning in language models. arXiv:2203.11171.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[7]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Geifman, Y., &amp; El-Yaniv, R. (2017). Selective classification for deep neural networks. arXiv:1705.08500.</a:t>
            </a:r>
          </a:p>
          <a:p>
            <a:pPr algn="l">
              <a:spcBef>
                <a:spcPts val="0"/>
              </a:spcBef>
              <a:spcAft>
                <a:spcPts val="804"/>
              </a:spcAft>
            </a:pPr>
            <a:r>
              <a:rPr sz="2300" b="1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[8] </a:t>
            </a: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Zhong, R., Yu, T., &amp; Klein, D. (2020). Semantic evaluation for text-to-SQL with distilled test suites. arXiv:2010.02840.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5008839" y="30678120"/>
            <a:ext cx="461772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5100280" y="30769560"/>
            <a:ext cx="4434840" cy="4937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4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❖ Project Guide: </a:t>
            </a: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M Parameswar, Associate Professor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4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❖ Project Coordinator: </a:t>
            </a: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Dr. Jagan Mohan Reddy Danda, Associate Professor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400" b="1" i="0" u="none" lang="en-US">
                <a:solidFill>
                  <a:srgbClr val="002060"/>
                </a:solidFill>
                <a:latin typeface="Aptos"/>
                <a:ea typeface="Aptos"/>
                <a:cs typeface="Aptos"/>
              </a:rPr>
              <a:t>❖ Students (Team 18):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N V V S S Jayakanth Kamisetti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000" b="0" i="0" u="none" lang="en-US">
                <a:solidFill>
                  <a:srgbClr val="4B5563"/>
                </a:solidFill>
                <a:latin typeface="Aptos"/>
                <a:ea typeface="Aptos"/>
                <a:cs typeface="Aptos"/>
              </a:rPr>
              <a:t>2320090050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Boddupally Narendar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000" b="0" i="0" u="none" lang="en-US">
                <a:solidFill>
                  <a:srgbClr val="4B5563"/>
                </a:solidFill>
                <a:latin typeface="Aptos"/>
                <a:ea typeface="Aptos"/>
                <a:cs typeface="Aptos"/>
              </a:rPr>
              <a:t>2320090009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3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M Praneeth Reddy</a:t>
            </a:r>
          </a:p>
          <a:p>
            <a:pPr algn="l">
              <a:spcBef>
                <a:spcPts val="0"/>
              </a:spcBef>
              <a:spcAft>
                <a:spcPts val="144"/>
              </a:spcAft>
            </a:pPr>
            <a:r>
              <a:rPr sz="2000" b="0" i="0" u="none" lang="en-US">
                <a:solidFill>
                  <a:srgbClr val="4B5563"/>
                </a:solidFill>
                <a:latin typeface="Aptos"/>
                <a:ea typeface="Aptos"/>
                <a:cs typeface="Aptos"/>
              </a:rPr>
              <a:t>2320090018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5008839" y="36027360"/>
            <a:ext cx="461772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00" b="1" i="0" u="sng" lang="en-US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008839" y="36896040"/>
            <a:ext cx="4617720" cy="4892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719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CodeS-3B and more, more diverse candidate queries</a:t>
            </a:r>
          </a:p>
          <a:p>
            <a:pPr algn="l">
              <a:spcBef>
                <a:spcPts val="0"/>
              </a:spcBef>
              <a:spcAft>
                <a:spcPts val="719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Real-world databases (BIRD)</a:t>
            </a:r>
          </a:p>
          <a:p>
            <a:pPr algn="l">
              <a:spcBef>
                <a:spcPts val="0"/>
              </a:spcBef>
              <a:spcAft>
                <a:spcPts val="719"/>
              </a:spcAft>
            </a:pPr>
            <a:r>
              <a:rPr sz="2400" b="0" i="0" u="none" lang="en-US">
                <a:solidFill>
                  <a:srgbClr val="1F2937"/>
                </a:solidFill>
                <a:latin typeface="Aptos"/>
                <a:ea typeface="Aptos"/>
                <a:cs typeface="Aptos"/>
              </a:rPr>
              <a:t>• A platform for any database (Spark, Snowflake, NoSQL) with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21378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</TotalTime>
  <Words>41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14</cp:revision>
  <dcterms:created xsi:type="dcterms:W3CDTF">2026-10-01T03:51:11Z</dcterms:created>
  <dcterms:modified xsi:type="dcterms:W3CDTF">2026-10-08T04:27:16Z</dcterms:modified>
</cp:coreProperties>
</file>
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258" r:id="rId2"/>
  </p:sldIdLst>
  <p:sldSz cx="30275213" cy="42803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F9FC"/>
    <a:srgbClr val="F8674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3"/>
    <p:restoredTop sz="94682"/>
  </p:normalViewPr>
  <p:slideViewPr>
    <p:cSldViewPr snapToGrid="0">
      <p:cViewPr>
        <p:scale>
          <a:sx n="25" d="100"/>
          <a:sy n="25" d="100"/>
        </p:scale>
        <p:origin x="264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9781CB-E638-AC4E-B8EC-984A76828676}" type="datetimeFigureOut">
              <a:rPr lang="en-US" smtClean="0"/>
              <a:t>10/1/26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EFC2D9-C6F9-D446-8B89-26818FEE0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1027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1pPr>
    <a:lvl2pPr marL="1753865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2pPr>
    <a:lvl3pPr marL="350773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3pPr>
    <a:lvl4pPr marL="5261595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4pPr>
    <a:lvl5pPr marL="701546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5pPr>
    <a:lvl6pPr marL="8769325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6pPr>
    <a:lvl7pPr marL="1052319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7pPr>
    <a:lvl8pPr marL="12277054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8pPr>
    <a:lvl9pPr marL="14030919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0CMx140CM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623691" y="7585962"/>
            <a:ext cx="14299153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1" hasCustomPrompt="1"/>
          </p:nvPr>
        </p:nvSpPr>
        <p:spPr>
          <a:xfrm>
            <a:off x="636213" y="6884938"/>
            <a:ext cx="14287866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Introduction or Abstract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20" hasCustomPrompt="1"/>
          </p:nvPr>
        </p:nvSpPr>
        <p:spPr>
          <a:xfrm>
            <a:off x="636211" y="18518420"/>
            <a:ext cx="14291358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 Objectives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5" hasCustomPrompt="1"/>
          </p:nvPr>
        </p:nvSpPr>
        <p:spPr>
          <a:xfrm>
            <a:off x="15353328" y="6884938"/>
            <a:ext cx="14287682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Proposed Methodology</a:t>
            </a:r>
          </a:p>
        </p:txBody>
      </p:sp>
      <p:sp>
        <p:nvSpPr>
          <p:cNvPr id="26" name="Text Placeholder 3"/>
          <p:cNvSpPr>
            <a:spLocks noGrp="1"/>
          </p:cNvSpPr>
          <p:nvPr>
            <p:ph type="body" sz="quarter" idx="26" hasCustomPrompt="1"/>
          </p:nvPr>
        </p:nvSpPr>
        <p:spPr>
          <a:xfrm>
            <a:off x="15353328" y="7585962"/>
            <a:ext cx="14287682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27" hasCustomPrompt="1"/>
          </p:nvPr>
        </p:nvSpPr>
        <p:spPr>
          <a:xfrm>
            <a:off x="629167" y="31830857"/>
            <a:ext cx="14283756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 References</a:t>
            </a:r>
          </a:p>
        </p:txBody>
      </p:sp>
      <p:sp>
        <p:nvSpPr>
          <p:cNvPr id="28" name="Text Placeholder 3"/>
          <p:cNvSpPr>
            <a:spLocks noGrp="1"/>
          </p:cNvSpPr>
          <p:nvPr>
            <p:ph type="body" sz="quarter" idx="28" hasCustomPrompt="1"/>
          </p:nvPr>
        </p:nvSpPr>
        <p:spPr>
          <a:xfrm>
            <a:off x="623691" y="32586238"/>
            <a:ext cx="14289232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  <p:sp>
        <p:nvSpPr>
          <p:cNvPr id="29" name="Text Placeholder 5"/>
          <p:cNvSpPr>
            <a:spLocks noGrp="1"/>
          </p:cNvSpPr>
          <p:nvPr>
            <p:ph type="body" sz="quarter" idx="29" hasCustomPrompt="1"/>
          </p:nvPr>
        </p:nvSpPr>
        <p:spPr>
          <a:xfrm>
            <a:off x="15364404" y="36583483"/>
            <a:ext cx="14276605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Team Details</a:t>
            </a:r>
          </a:p>
        </p:txBody>
      </p:sp>
      <p:sp>
        <p:nvSpPr>
          <p:cNvPr id="30" name="Text Placeholder 3"/>
          <p:cNvSpPr>
            <a:spLocks noGrp="1"/>
          </p:cNvSpPr>
          <p:nvPr>
            <p:ph type="body" sz="quarter" idx="30" hasCustomPrompt="1"/>
          </p:nvPr>
        </p:nvSpPr>
        <p:spPr>
          <a:xfrm>
            <a:off x="15353329" y="37358864"/>
            <a:ext cx="14283756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  <p:sp>
        <p:nvSpPr>
          <p:cNvPr id="60" name="Text Placeholder 3"/>
          <p:cNvSpPr>
            <a:spLocks noGrp="1"/>
          </p:cNvSpPr>
          <p:nvPr>
            <p:ph type="body" sz="quarter" idx="96" hasCustomPrompt="1"/>
          </p:nvPr>
        </p:nvSpPr>
        <p:spPr>
          <a:xfrm>
            <a:off x="623691" y="19275662"/>
            <a:ext cx="14300387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  <p:sp>
        <p:nvSpPr>
          <p:cNvPr id="76" name="Text Placeholder 76"/>
          <p:cNvSpPr>
            <a:spLocks noGrp="1"/>
          </p:cNvSpPr>
          <p:nvPr>
            <p:ph type="body" sz="quarter" idx="150" hasCustomPrompt="1"/>
          </p:nvPr>
        </p:nvSpPr>
        <p:spPr>
          <a:xfrm>
            <a:off x="4090899" y="4110875"/>
            <a:ext cx="22093415" cy="1087559"/>
          </a:xfrm>
          <a:prstGeom prst="rect">
            <a:avLst/>
          </a:prstGeom>
        </p:spPr>
        <p:txBody>
          <a:bodyPr lIns="77349" tIns="38675" rIns="77349" bIns="38675">
            <a:normAutofit/>
          </a:bodyPr>
          <a:lstStyle>
            <a:lvl1pPr marL="0" indent="0" algn="ctr">
              <a:buFontTx/>
              <a:buNone/>
              <a:defRPr sz="5400">
                <a:solidFill>
                  <a:schemeClr val="accent5">
                    <a:lumMod val="50000"/>
                  </a:schemeClr>
                </a:solidFill>
                <a:latin typeface="+mj-lt"/>
              </a:defRPr>
            </a:lvl1pPr>
            <a:lvl2pPr>
              <a:buFontTx/>
              <a:buNone/>
              <a:defRPr sz="6100"/>
            </a:lvl2pPr>
            <a:lvl3pPr>
              <a:buFontTx/>
              <a:buNone/>
              <a:defRPr sz="6100"/>
            </a:lvl3pPr>
            <a:lvl4pPr>
              <a:buFontTx/>
              <a:buNone/>
              <a:defRPr sz="6100"/>
            </a:lvl4pPr>
            <a:lvl5pPr>
              <a:buFontTx/>
              <a:buNone/>
              <a:defRPr sz="6100"/>
            </a:lvl5pPr>
          </a:lstStyle>
          <a:p>
            <a:pPr lvl="0"/>
            <a:r>
              <a:rPr lang="en-US" dirty="0"/>
              <a:t>Click here to add affiliations</a:t>
            </a:r>
          </a:p>
        </p:txBody>
      </p:sp>
      <p:sp>
        <p:nvSpPr>
          <p:cNvPr id="79" name="Text Placeholder 76"/>
          <p:cNvSpPr>
            <a:spLocks noGrp="1"/>
          </p:cNvSpPr>
          <p:nvPr>
            <p:ph type="body" sz="quarter" idx="151" hasCustomPrompt="1"/>
          </p:nvPr>
        </p:nvSpPr>
        <p:spPr>
          <a:xfrm>
            <a:off x="4090899" y="2558463"/>
            <a:ext cx="22093415" cy="1262156"/>
          </a:xfrm>
          <a:prstGeom prst="rect">
            <a:avLst/>
          </a:prstGeom>
        </p:spPr>
        <p:txBody>
          <a:bodyPr lIns="77349" tIns="38675" rIns="77349" bIns="38675" anchor="t" anchorCtr="1">
            <a:noAutofit/>
          </a:bodyPr>
          <a:lstStyle>
            <a:lvl1pPr marL="0" indent="0" algn="ctr">
              <a:buFontTx/>
              <a:buNone/>
              <a:defRPr sz="7200">
                <a:solidFill>
                  <a:schemeClr val="accent5">
                    <a:lumMod val="50000"/>
                  </a:schemeClr>
                </a:solidFill>
                <a:latin typeface="+mj-lt"/>
              </a:defRPr>
            </a:lvl1pPr>
            <a:lvl2pPr>
              <a:buFontTx/>
              <a:buNone/>
              <a:defRPr sz="6100"/>
            </a:lvl2pPr>
            <a:lvl3pPr>
              <a:buFontTx/>
              <a:buNone/>
              <a:defRPr sz="6100"/>
            </a:lvl3pPr>
            <a:lvl4pPr>
              <a:buFontTx/>
              <a:buNone/>
              <a:defRPr sz="6100"/>
            </a:lvl4pPr>
            <a:lvl5pPr>
              <a:buFontTx/>
              <a:buNone/>
              <a:defRPr sz="6100"/>
            </a:lvl5pPr>
          </a:lstStyle>
          <a:p>
            <a:pPr lvl="0"/>
            <a:r>
              <a:rPr lang="en-US" dirty="0"/>
              <a:t>Click here to add authors</a:t>
            </a:r>
          </a:p>
        </p:txBody>
      </p:sp>
      <p:sp>
        <p:nvSpPr>
          <p:cNvPr id="80" name="Text Placeholder 76"/>
          <p:cNvSpPr>
            <a:spLocks noGrp="1"/>
          </p:cNvSpPr>
          <p:nvPr>
            <p:ph type="body" sz="quarter" idx="153" hasCustomPrompt="1"/>
          </p:nvPr>
        </p:nvSpPr>
        <p:spPr>
          <a:xfrm>
            <a:off x="4090899" y="492940"/>
            <a:ext cx="22093415" cy="1775267"/>
          </a:xfrm>
          <a:prstGeom prst="rect">
            <a:avLst/>
          </a:prstGeom>
        </p:spPr>
        <p:txBody>
          <a:bodyPr lIns="77349" tIns="38675" rIns="77349" bIns="38675" anchor="t" anchorCtr="1">
            <a:normAutofit/>
          </a:bodyPr>
          <a:lstStyle>
            <a:lvl1pPr marL="0" indent="0" algn="ctr">
              <a:buFontTx/>
              <a:buNone/>
              <a:defRPr sz="9800" b="1">
                <a:solidFill>
                  <a:schemeClr val="accent5">
                    <a:lumMod val="50000"/>
                  </a:schemeClr>
                </a:solidFill>
                <a:latin typeface="+mj-lt"/>
              </a:defRPr>
            </a:lvl1pPr>
            <a:lvl2pPr>
              <a:buFontTx/>
              <a:buNone/>
              <a:defRPr sz="6100"/>
            </a:lvl2pPr>
            <a:lvl3pPr>
              <a:buFontTx/>
              <a:buNone/>
              <a:defRPr sz="6100"/>
            </a:lvl3pPr>
            <a:lvl4pPr>
              <a:buFontTx/>
              <a:buNone/>
              <a:defRPr sz="6100"/>
            </a:lvl4pPr>
            <a:lvl5pPr>
              <a:buFontTx/>
              <a:buNone/>
              <a:defRPr sz="6100"/>
            </a:lvl5pPr>
          </a:lstStyle>
          <a:p>
            <a:pPr lvl="0"/>
            <a:r>
              <a:rPr lang="en-US" dirty="0"/>
              <a:t>Click here to add title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A73CEEE2-ACD9-82CF-397D-77E068323C78}"/>
              </a:ext>
            </a:extLst>
          </p:cNvPr>
          <p:cNvSpPr>
            <a:spLocks noGrp="1"/>
          </p:cNvSpPr>
          <p:nvPr>
            <p:ph type="body" sz="quarter" idx="154" hasCustomPrompt="1"/>
          </p:nvPr>
        </p:nvSpPr>
        <p:spPr>
          <a:xfrm>
            <a:off x="15365848" y="24976035"/>
            <a:ext cx="14291358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Experimental Results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E970220D-428D-0519-8D48-7EA76D1EC56E}"/>
              </a:ext>
            </a:extLst>
          </p:cNvPr>
          <p:cNvSpPr>
            <a:spLocks noGrp="1"/>
          </p:cNvSpPr>
          <p:nvPr>
            <p:ph type="body" sz="quarter" idx="155" hasCustomPrompt="1"/>
          </p:nvPr>
        </p:nvSpPr>
        <p:spPr>
          <a:xfrm>
            <a:off x="15353328" y="25733277"/>
            <a:ext cx="14300387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</p:spTree>
    <p:extLst>
      <p:ext uri="{BB962C8B-B14F-4D97-AF65-F5344CB8AC3E}">
        <p14:creationId xmlns:p14="http://schemas.microsoft.com/office/powerpoint/2010/main" val="22471728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70641" y="7005156"/>
            <a:ext cx="25733931" cy="14902051"/>
          </a:xfrm>
        </p:spPr>
        <p:txBody>
          <a:bodyPr anchor="b"/>
          <a:lstStyle>
            <a:lvl1pPr algn="ctr">
              <a:defRPr sz="1986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84402" y="22481887"/>
            <a:ext cx="22706410" cy="10334331"/>
          </a:xfrm>
        </p:spPr>
        <p:txBody>
          <a:bodyPr/>
          <a:lstStyle>
            <a:lvl1pPr marL="0" indent="0" algn="ctr">
              <a:buNone/>
              <a:defRPr sz="7946"/>
            </a:lvl1pPr>
            <a:lvl2pPr marL="1513743" indent="0" algn="ctr">
              <a:buNone/>
              <a:defRPr sz="6622"/>
            </a:lvl2pPr>
            <a:lvl3pPr marL="3027487" indent="0" algn="ctr">
              <a:buNone/>
              <a:defRPr sz="5960"/>
            </a:lvl3pPr>
            <a:lvl4pPr marL="4541230" indent="0" algn="ctr">
              <a:buNone/>
              <a:defRPr sz="5297"/>
            </a:lvl4pPr>
            <a:lvl5pPr marL="6054974" indent="0" algn="ctr">
              <a:buNone/>
              <a:defRPr sz="5297"/>
            </a:lvl5pPr>
            <a:lvl6pPr marL="7568717" indent="0" algn="ctr">
              <a:buNone/>
              <a:defRPr sz="5297"/>
            </a:lvl6pPr>
            <a:lvl7pPr marL="9082461" indent="0" algn="ctr">
              <a:buNone/>
              <a:defRPr sz="5297"/>
            </a:lvl7pPr>
            <a:lvl8pPr marL="10596204" indent="0" algn="ctr">
              <a:buNone/>
              <a:defRPr sz="5297"/>
            </a:lvl8pPr>
            <a:lvl9pPr marL="12109948" indent="0" algn="ctr">
              <a:buNone/>
              <a:defRPr sz="5297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6556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4764CC4D-40CA-E106-D750-21DA993E4B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03948" y="1560456"/>
            <a:ext cx="16067315" cy="203183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5BC3F14C-E222-62E8-2CB0-3C8B8424E14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6213" y="6884938"/>
            <a:ext cx="14287866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78027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65654" y="10671229"/>
            <a:ext cx="26112371" cy="17805173"/>
          </a:xfrm>
        </p:spPr>
        <p:txBody>
          <a:bodyPr anchor="b"/>
          <a:lstStyle>
            <a:lvl1pPr>
              <a:defRPr sz="1986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65654" y="28644846"/>
            <a:ext cx="26112371" cy="9363320"/>
          </a:xfrm>
        </p:spPr>
        <p:txBody>
          <a:bodyPr/>
          <a:lstStyle>
            <a:lvl1pPr marL="0" indent="0">
              <a:buNone/>
              <a:defRPr sz="7946">
                <a:solidFill>
                  <a:schemeClr val="tx1">
                    <a:tint val="82000"/>
                  </a:schemeClr>
                </a:solidFill>
              </a:defRPr>
            </a:lvl1pPr>
            <a:lvl2pPr marL="1513743" indent="0">
              <a:buNone/>
              <a:defRPr sz="6622">
                <a:solidFill>
                  <a:schemeClr val="tx1">
                    <a:tint val="82000"/>
                  </a:schemeClr>
                </a:solidFill>
              </a:defRPr>
            </a:lvl2pPr>
            <a:lvl3pPr marL="3027487" indent="0">
              <a:buNone/>
              <a:defRPr sz="5960">
                <a:solidFill>
                  <a:schemeClr val="tx1">
                    <a:tint val="82000"/>
                  </a:schemeClr>
                </a:solidFill>
              </a:defRPr>
            </a:lvl3pPr>
            <a:lvl4pPr marL="4541230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4pPr>
            <a:lvl5pPr marL="6054974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5pPr>
            <a:lvl6pPr marL="7568717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6pPr>
            <a:lvl7pPr marL="9082461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7pPr>
            <a:lvl8pPr marL="10596204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8pPr>
            <a:lvl9pPr marL="12109948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99519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81421" y="11394520"/>
            <a:ext cx="12866966" cy="271585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326826" y="11394520"/>
            <a:ext cx="12866966" cy="271585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81746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2278913"/>
            <a:ext cx="26112371" cy="82734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5368" y="10492870"/>
            <a:ext cx="12807832" cy="5142393"/>
          </a:xfrm>
        </p:spPr>
        <p:txBody>
          <a:bodyPr anchor="b"/>
          <a:lstStyle>
            <a:lvl1pPr marL="0" indent="0">
              <a:buNone/>
              <a:defRPr sz="7946" b="1"/>
            </a:lvl1pPr>
            <a:lvl2pPr marL="1513743" indent="0">
              <a:buNone/>
              <a:defRPr sz="6622" b="1"/>
            </a:lvl2pPr>
            <a:lvl3pPr marL="3027487" indent="0">
              <a:buNone/>
              <a:defRPr sz="5960" b="1"/>
            </a:lvl3pPr>
            <a:lvl4pPr marL="4541230" indent="0">
              <a:buNone/>
              <a:defRPr sz="5297" b="1"/>
            </a:lvl4pPr>
            <a:lvl5pPr marL="6054974" indent="0">
              <a:buNone/>
              <a:defRPr sz="5297" b="1"/>
            </a:lvl5pPr>
            <a:lvl6pPr marL="7568717" indent="0">
              <a:buNone/>
              <a:defRPr sz="5297" b="1"/>
            </a:lvl6pPr>
            <a:lvl7pPr marL="9082461" indent="0">
              <a:buNone/>
              <a:defRPr sz="5297" b="1"/>
            </a:lvl7pPr>
            <a:lvl8pPr marL="10596204" indent="0">
              <a:buNone/>
              <a:defRPr sz="5297" b="1"/>
            </a:lvl8pPr>
            <a:lvl9pPr marL="12109948" indent="0">
              <a:buNone/>
              <a:defRPr sz="529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85368" y="15635264"/>
            <a:ext cx="12807832" cy="2299711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26828" y="10492870"/>
            <a:ext cx="12870909" cy="5142393"/>
          </a:xfrm>
        </p:spPr>
        <p:txBody>
          <a:bodyPr anchor="b"/>
          <a:lstStyle>
            <a:lvl1pPr marL="0" indent="0">
              <a:buNone/>
              <a:defRPr sz="7946" b="1"/>
            </a:lvl1pPr>
            <a:lvl2pPr marL="1513743" indent="0">
              <a:buNone/>
              <a:defRPr sz="6622" b="1"/>
            </a:lvl2pPr>
            <a:lvl3pPr marL="3027487" indent="0">
              <a:buNone/>
              <a:defRPr sz="5960" b="1"/>
            </a:lvl3pPr>
            <a:lvl4pPr marL="4541230" indent="0">
              <a:buNone/>
              <a:defRPr sz="5297" b="1"/>
            </a:lvl4pPr>
            <a:lvl5pPr marL="6054974" indent="0">
              <a:buNone/>
              <a:defRPr sz="5297" b="1"/>
            </a:lvl5pPr>
            <a:lvl6pPr marL="7568717" indent="0">
              <a:buNone/>
              <a:defRPr sz="5297" b="1"/>
            </a:lvl6pPr>
            <a:lvl7pPr marL="9082461" indent="0">
              <a:buNone/>
              <a:defRPr sz="5297" b="1"/>
            </a:lvl7pPr>
            <a:lvl8pPr marL="10596204" indent="0">
              <a:buNone/>
              <a:defRPr sz="5297" b="1"/>
            </a:lvl8pPr>
            <a:lvl9pPr marL="12109948" indent="0">
              <a:buNone/>
              <a:defRPr sz="529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26828" y="15635264"/>
            <a:ext cx="12870909" cy="2299711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67406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4020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27524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2853584"/>
            <a:ext cx="9764544" cy="9987545"/>
          </a:xfrm>
        </p:spPr>
        <p:txBody>
          <a:bodyPr anchor="b"/>
          <a:lstStyle>
            <a:lvl1pPr>
              <a:defRPr sz="1059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70909" y="6162959"/>
            <a:ext cx="15326827" cy="30418415"/>
          </a:xfrm>
        </p:spPr>
        <p:txBody>
          <a:bodyPr/>
          <a:lstStyle>
            <a:lvl1pPr>
              <a:defRPr sz="10595"/>
            </a:lvl1pPr>
            <a:lvl2pPr>
              <a:defRPr sz="9271"/>
            </a:lvl2pPr>
            <a:lvl3pPr>
              <a:defRPr sz="7946"/>
            </a:lvl3pPr>
            <a:lvl4pPr>
              <a:defRPr sz="6622"/>
            </a:lvl4pPr>
            <a:lvl5pPr>
              <a:defRPr sz="6622"/>
            </a:lvl5pPr>
            <a:lvl6pPr>
              <a:defRPr sz="6622"/>
            </a:lvl6pPr>
            <a:lvl7pPr>
              <a:defRPr sz="6622"/>
            </a:lvl7pPr>
            <a:lvl8pPr>
              <a:defRPr sz="6622"/>
            </a:lvl8pPr>
            <a:lvl9pPr>
              <a:defRPr sz="662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5364" y="12841129"/>
            <a:ext cx="9764544" cy="23789780"/>
          </a:xfrm>
        </p:spPr>
        <p:txBody>
          <a:bodyPr/>
          <a:lstStyle>
            <a:lvl1pPr marL="0" indent="0">
              <a:buNone/>
              <a:defRPr sz="5297"/>
            </a:lvl1pPr>
            <a:lvl2pPr marL="1513743" indent="0">
              <a:buNone/>
              <a:defRPr sz="4635"/>
            </a:lvl2pPr>
            <a:lvl3pPr marL="3027487" indent="0">
              <a:buNone/>
              <a:defRPr sz="3973"/>
            </a:lvl3pPr>
            <a:lvl4pPr marL="4541230" indent="0">
              <a:buNone/>
              <a:defRPr sz="3311"/>
            </a:lvl4pPr>
            <a:lvl5pPr marL="6054974" indent="0">
              <a:buNone/>
              <a:defRPr sz="3311"/>
            </a:lvl5pPr>
            <a:lvl6pPr marL="7568717" indent="0">
              <a:buNone/>
              <a:defRPr sz="3311"/>
            </a:lvl6pPr>
            <a:lvl7pPr marL="9082461" indent="0">
              <a:buNone/>
              <a:defRPr sz="3311"/>
            </a:lvl7pPr>
            <a:lvl8pPr marL="10596204" indent="0">
              <a:buNone/>
              <a:defRPr sz="3311"/>
            </a:lvl8pPr>
            <a:lvl9pPr marL="12109948" indent="0">
              <a:buNone/>
              <a:defRPr sz="331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9355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2853584"/>
            <a:ext cx="9764544" cy="9987545"/>
          </a:xfrm>
        </p:spPr>
        <p:txBody>
          <a:bodyPr anchor="b"/>
          <a:lstStyle>
            <a:lvl1pPr>
              <a:defRPr sz="1059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70909" y="6162959"/>
            <a:ext cx="15326827" cy="30418415"/>
          </a:xfrm>
        </p:spPr>
        <p:txBody>
          <a:bodyPr anchor="t"/>
          <a:lstStyle>
            <a:lvl1pPr marL="0" indent="0">
              <a:buNone/>
              <a:defRPr sz="10595"/>
            </a:lvl1pPr>
            <a:lvl2pPr marL="1513743" indent="0">
              <a:buNone/>
              <a:defRPr sz="9271"/>
            </a:lvl2pPr>
            <a:lvl3pPr marL="3027487" indent="0">
              <a:buNone/>
              <a:defRPr sz="7946"/>
            </a:lvl3pPr>
            <a:lvl4pPr marL="4541230" indent="0">
              <a:buNone/>
              <a:defRPr sz="6622"/>
            </a:lvl4pPr>
            <a:lvl5pPr marL="6054974" indent="0">
              <a:buNone/>
              <a:defRPr sz="6622"/>
            </a:lvl5pPr>
            <a:lvl6pPr marL="7568717" indent="0">
              <a:buNone/>
              <a:defRPr sz="6622"/>
            </a:lvl6pPr>
            <a:lvl7pPr marL="9082461" indent="0">
              <a:buNone/>
              <a:defRPr sz="6622"/>
            </a:lvl7pPr>
            <a:lvl8pPr marL="10596204" indent="0">
              <a:buNone/>
              <a:defRPr sz="6622"/>
            </a:lvl8pPr>
            <a:lvl9pPr marL="12109948" indent="0">
              <a:buNone/>
              <a:defRPr sz="6622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5364" y="12841129"/>
            <a:ext cx="9764544" cy="23789780"/>
          </a:xfrm>
        </p:spPr>
        <p:txBody>
          <a:bodyPr/>
          <a:lstStyle>
            <a:lvl1pPr marL="0" indent="0">
              <a:buNone/>
              <a:defRPr sz="5297"/>
            </a:lvl1pPr>
            <a:lvl2pPr marL="1513743" indent="0">
              <a:buNone/>
              <a:defRPr sz="4635"/>
            </a:lvl2pPr>
            <a:lvl3pPr marL="3027487" indent="0">
              <a:buNone/>
              <a:defRPr sz="3973"/>
            </a:lvl3pPr>
            <a:lvl4pPr marL="4541230" indent="0">
              <a:buNone/>
              <a:defRPr sz="3311"/>
            </a:lvl4pPr>
            <a:lvl5pPr marL="6054974" indent="0">
              <a:buNone/>
              <a:defRPr sz="3311"/>
            </a:lvl5pPr>
            <a:lvl6pPr marL="7568717" indent="0">
              <a:buNone/>
              <a:defRPr sz="3311"/>
            </a:lvl6pPr>
            <a:lvl7pPr marL="9082461" indent="0">
              <a:buNone/>
              <a:defRPr sz="3311"/>
            </a:lvl7pPr>
            <a:lvl8pPr marL="10596204" indent="0">
              <a:buNone/>
              <a:defRPr sz="3311"/>
            </a:lvl8pPr>
            <a:lvl9pPr marL="12109948" indent="0">
              <a:buNone/>
              <a:defRPr sz="331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5509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5599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665701" y="2278904"/>
            <a:ext cx="6528093" cy="3627421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81423" y="2278904"/>
            <a:ext cx="19205838" cy="3627421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71697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81421" y="2278913"/>
            <a:ext cx="26112371" cy="827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1421" y="11394520"/>
            <a:ext cx="26112371" cy="271585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081421" y="39672756"/>
            <a:ext cx="6811923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9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70713F-4B5C-AD41-A9C1-0EDA460603E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028665" y="39672756"/>
            <a:ext cx="10217884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9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381869" y="39672756"/>
            <a:ext cx="6811923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9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83162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61" r:id="rId2"/>
    <p:sldLayoutId id="214748367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</p:sldLayoutIdLst>
  <p:txStyles>
    <p:titleStyle>
      <a:lvl1pPr algn="l" defTabSz="3027487" rtl="0" eaLnBrk="1" latinLnBrk="0" hangingPunct="1">
        <a:lnSpc>
          <a:spcPct val="90000"/>
        </a:lnSpc>
        <a:spcBef>
          <a:spcPct val="0"/>
        </a:spcBef>
        <a:buNone/>
        <a:defRPr sz="1456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56872" indent="-756872" algn="l" defTabSz="3027487" rtl="0" eaLnBrk="1" latinLnBrk="0" hangingPunct="1">
        <a:lnSpc>
          <a:spcPct val="90000"/>
        </a:lnSpc>
        <a:spcBef>
          <a:spcPts val="3311"/>
        </a:spcBef>
        <a:buFont typeface="Arial" panose="020B0604020202020204" pitchFamily="34" charset="0"/>
        <a:buChar char="•"/>
        <a:defRPr sz="9271" kern="1200">
          <a:solidFill>
            <a:schemeClr val="tx1"/>
          </a:solidFill>
          <a:latin typeface="+mn-lt"/>
          <a:ea typeface="+mn-ea"/>
          <a:cs typeface="+mn-cs"/>
        </a:defRPr>
      </a:lvl1pPr>
      <a:lvl2pPr marL="2270615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7946" kern="1200">
          <a:solidFill>
            <a:schemeClr val="tx1"/>
          </a:solidFill>
          <a:latin typeface="+mn-lt"/>
          <a:ea typeface="+mn-ea"/>
          <a:cs typeface="+mn-cs"/>
        </a:defRPr>
      </a:lvl2pPr>
      <a:lvl3pPr marL="3784359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6622" kern="1200">
          <a:solidFill>
            <a:schemeClr val="tx1"/>
          </a:solidFill>
          <a:latin typeface="+mn-lt"/>
          <a:ea typeface="+mn-ea"/>
          <a:cs typeface="+mn-cs"/>
        </a:defRPr>
      </a:lvl3pPr>
      <a:lvl4pPr marL="5298102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4pPr>
      <a:lvl5pPr marL="6811846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5pPr>
      <a:lvl6pPr marL="8325589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6pPr>
      <a:lvl7pPr marL="9839333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7pPr>
      <a:lvl8pPr marL="11353076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8pPr>
      <a:lvl9pPr marL="12866820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1pPr>
      <a:lvl2pPr marL="1513743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2pPr>
      <a:lvl3pPr marL="3027487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3pPr>
      <a:lvl4pPr marL="4541230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4pPr>
      <a:lvl5pPr marL="6054974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5pPr>
      <a:lvl6pPr marL="7568717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6pPr>
      <a:lvl7pPr marL="9082461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7pPr>
      <a:lvl8pPr marL="10596204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8pPr>
      <a:lvl9pPr marL="12109948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BAE24B3-6CAF-FFBF-565C-DC77E8B2EBD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3691" y="7680960"/>
            <a:ext cx="14299153" cy="10607040"/>
          </a:xfrm>
        </p:spPr>
        <p:txBody>
          <a:bodyPr wrap="square"/>
          <a:lstStyle/>
          <a:p>
            <a:pPr>
              <a:spcAft>
                <a:spcPts val="1189"/>
              </a:spcAft>
            </a:pPr>
            <a:r>
              <a:rPr sz="3400"/>
              <a:t>Text-to-SQL models let people who don't know SQL ask a database questions in plain English — but they answer every question with the same confidence, so a wrong answer looks exactly like a right one.</a:t>
            </a:r>
            <a:endParaRPr lang="en-US"/>
          </a:p>
          <a:p>
            <a:pPr>
              <a:spcAft>
                <a:spcPts val="1189"/>
              </a:spcAft>
            </a:pPr>
            <a:r>
              <a:rPr sz="3400"/>
              <a:t>We reproduced CodeS (SIGMOD 2024), an open-source text-to-SQL model: 77.8% Execution Accuracy on the Spider development set against 77.9% in the paper.</a:t>
            </a:r>
          </a:p>
          <a:p>
            <a:pPr>
              <a:spcAft>
                <a:spcPts val="1189"/>
              </a:spcAft>
            </a:pPr>
            <a:r>
              <a:rPr sz="3400"/>
              <a:t>Our enhancement, confidence-aware abstention, runs the four candidate queries CodeS already generates and counts how many agree. When they disagree, QueryGenie asks the user instead of guessing: it is then correct on 83.3% of the questions it answers (90.4% of all), wrong answers fall by 32%, and the gain is statistically significant.</a:t>
            </a:r>
          </a:p>
          <a:p>
            <a:pPr>
              <a:spcAft>
                <a:spcPts val="1189"/>
              </a:spcAft>
            </a:pPr>
            <a:r>
              <a:rPr sz="3400"/>
              <a:t>Everything runs locally on open weights in a desktop app.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380ED4-BDC9-974B-CC52-F6BB7C473CD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solidFill>
            <a:srgbClr val="C00000"/>
          </a:solidFill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Abstract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378EA6-312C-ECEF-59B9-E36348719ACD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solidFill>
            <a:srgbClr val="C00000"/>
          </a:solidFill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Objectives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E303FC3-EF78-0195-9E8A-80D1DD3BF3A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solidFill>
            <a:srgbClr val="C00000"/>
          </a:solidFill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Proposed Methodology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7492D2A-3855-86DB-BA68-CFA9AC77BE1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15353328" y="15713963"/>
            <a:ext cx="14287682" cy="8778240"/>
          </a:xfrm>
        </p:spPr>
        <p:txBody>
          <a:bodyPr wrap="square"/>
          <a:lstStyle/>
          <a:p>
            <a:pPr>
              <a:spcAft>
                <a:spcPts val="1050"/>
              </a:spcAft>
            </a:pPr>
            <a:r>
              <a:rPr b="1" sz="3000"/>
              <a:t>Data </a:t>
            </a:r>
            <a:r>
              <a:rPr sz="3000"/>
              <a:t>(Hugging Face, approved source): Spider dev — 1,034 questions, 20 unseen databases; Spider-Realistic — 508 questions without column names; BIRD Mini-Dev — 500 questions on 11 real-world databases.</a:t>
            </a:r>
            <a:endParaRPr lang="en-US"/>
          </a:p>
          <a:p>
            <a:pPr>
              <a:spcAft>
                <a:spcPts val="1050"/>
              </a:spcAft>
            </a:pPr>
            <a:r>
              <a:rPr b="1" sz="3000"/>
              <a:t>CodeS pipeline (reproduced): </a:t>
            </a:r>
            <a:r>
              <a:rPr sz="3000"/>
              <a:t>database prompt (schema, keys, sample values, matched values) → 4 candidate queries by beam search → first query that runs.</a:t>
            </a:r>
          </a:p>
          <a:p>
            <a:pPr>
              <a:spcAft>
                <a:spcPts val="1050"/>
              </a:spcAft>
            </a:pPr>
            <a:r>
              <a:rPr b="1" sz="3000"/>
              <a:t>Enhancement: </a:t>
            </a:r>
            <a:r>
              <a:rPr sz="3000"/>
              <a:t>execute all 4 candidates and count how many return the same result. Agreement below the threshold (τ = 0.2526, calibrated on held-out halves) → abstain and show the readings to choose from.</a:t>
            </a:r>
          </a:p>
          <a:p>
            <a:pPr>
              <a:spcAft>
                <a:spcPts val="1050"/>
              </a:spcAft>
            </a:pPr>
            <a:r>
              <a:rPr b="1" sz="3000"/>
              <a:t>Evaluation: </a:t>
            </a:r>
            <a:r>
              <a:rPr sz="3000"/>
              <a:t>official Spider evaluator; 10 calibration/test splits, paired t-test and Wilcoxon, bootstrap over questions.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283505F-57B0-D147-C007-1439ADEC238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solidFill>
            <a:srgbClr val="C00000"/>
          </a:solidFill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References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050C502-46E2-231E-BC5F-71BFDCE1817F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23691" y="32644080"/>
            <a:ext cx="14289232" cy="8961120"/>
          </a:xfrm>
        </p:spPr>
        <p:txBody>
          <a:bodyPr wrap="square"/>
          <a:lstStyle/>
          <a:p>
            <a:pPr>
              <a:spcAft>
                <a:spcPts val="769"/>
              </a:spcAft>
            </a:pPr>
            <a:r>
              <a:rPr sz="2200"/>
              <a:t>Li, H., et al. (2024). CodeS: Towards building open-source language models for text-to-SQL. arXiv:2402.16347.</a:t>
            </a:r>
            <a:endParaRPr lang="en-US"/>
          </a:p>
          <a:p>
            <a:pPr>
              <a:spcAft>
                <a:spcPts val="769"/>
              </a:spcAft>
            </a:pPr>
            <a:r>
              <a:rPr sz="2200"/>
              <a:t>Yu, T., et al. (2018). Spider: A large-scale human-labeled dataset for complex and cross-domain semantic parsing and text-to-SQL task. arXiv:1809.08887.</a:t>
            </a:r>
          </a:p>
          <a:p>
            <a:pPr>
              <a:spcAft>
                <a:spcPts val="769"/>
              </a:spcAft>
            </a:pPr>
            <a:r>
              <a:rPr sz="2200"/>
              <a:t>Li, J., et al. (2023). Can LLM already serve as a database interface? A big bench for large-scale database grounded text-to-SQLs. arXiv:2305.03111.</a:t>
            </a:r>
          </a:p>
          <a:p>
            <a:pPr>
              <a:spcAft>
                <a:spcPts val="769"/>
              </a:spcAft>
            </a:pPr>
            <a:r>
              <a:rPr sz="2200"/>
              <a:t>Deng, X., Awadallah, A. H., Meek, C., Polozov, O., Sun, H., &amp; Richardson, M. (2020). Structure-grounded pretraining for text-to-SQL. arXiv:2010.12773.</a:t>
            </a:r>
          </a:p>
          <a:p>
            <a:pPr>
              <a:spcAft>
                <a:spcPts val="769"/>
              </a:spcAft>
            </a:pPr>
            <a:r>
              <a:rPr sz="2200"/>
              <a:t>Pourreza, M., &amp; Rafiei, D. (2023). DIN-SQL: Decomposed in-context learning of text-to-SQL with self-correction. arXiv:2304.11015.</a:t>
            </a:r>
          </a:p>
          <a:p>
            <a:pPr>
              <a:spcAft>
                <a:spcPts val="769"/>
              </a:spcAft>
            </a:pPr>
            <a:r>
              <a:rPr sz="2200"/>
              <a:t>Wang, X., et al. (2022). Self-consistency improves chain of thought reasoning in language models. arXiv:2203.11171.</a:t>
            </a:r>
          </a:p>
          <a:p>
            <a:pPr>
              <a:spcAft>
                <a:spcPts val="769"/>
              </a:spcAft>
            </a:pPr>
            <a:r>
              <a:rPr sz="2200"/>
              <a:t>Geifman, Y., &amp; El-Yaniv, R. (2017). Selective classification for deep neural networks. arXiv:1705.08500.</a:t>
            </a:r>
          </a:p>
          <a:p>
            <a:pPr>
              <a:spcAft>
                <a:spcPts val="769"/>
              </a:spcAft>
            </a:pPr>
            <a:r>
              <a:rPr sz="2200"/>
              <a:t>Zhong, R., Yu, T., &amp; Klein, D. (2020). Semantic evaluation for text-to-SQL with distilled test suites. arXiv:2010.02840.</a:t>
            </a:r>
          </a:p>
          <a:p>
            <a:pPr>
              <a:spcAft>
                <a:spcPts val="769"/>
              </a:spcAft>
            </a:pPr>
            <a:r>
              <a:rPr sz="2200"/>
              <a:t>Li, H., et al. (2023). RESDSQL: Decoupling schema linking and skeleton parsing for text-to-SQL. arXiv:2302.05965.</a:t>
            </a:r>
          </a:p>
          <a:p>
            <a:pPr>
              <a:spcAft>
                <a:spcPts val="769"/>
              </a:spcAft>
            </a:pPr>
            <a:r>
              <a:rPr sz="2200"/>
              <a:t>Lin, X. V., Socher, R., &amp; Xiong, C. (2020). Bridging textual and tabular data for cross-domain text-to-SQL semantic parsing. arXiv:2012.12627.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99D4F33-A05F-99BA-67E6-198CD7C00D9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solidFill>
            <a:srgbClr val="C00000"/>
          </a:solidFill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Team Details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238FB74-198A-E802-6D4E-35526CA7C4CE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15353329" y="37358864"/>
            <a:ext cx="14283756" cy="3272899"/>
          </a:xfrm>
        </p:spPr>
        <p:txBody>
          <a:bodyPr wrap="square"/>
          <a:lstStyle/>
          <a:p>
            <a:pPr>
              <a:spcAft>
                <a:spcPts val="979"/>
              </a:spcAft>
            </a:pPr>
            <a:r>
              <a:rPr sz="2800"/>
              <a:t>Team 18 · Supervisor: M Parameswar, Associate Professor</a:t>
            </a:r>
          </a:p>
          <a:p>
            <a:pPr>
              <a:spcAft>
                <a:spcPts val="979"/>
              </a:spcAft>
            </a:pPr>
            <a:r>
              <a:rPr sz="2800"/>
              <a:t>2320090050 – N V V S S Jayakanth Kamisetti</a:t>
            </a:r>
          </a:p>
          <a:p>
            <a:pPr>
              <a:spcAft>
                <a:spcPts val="979"/>
              </a:spcAft>
            </a:pPr>
            <a:r>
              <a:rPr sz="2800"/>
              <a:t>2320090009 – Boddupally Narendar</a:t>
            </a:r>
          </a:p>
          <a:p>
            <a:pPr>
              <a:spcAft>
                <a:spcPts val="979"/>
              </a:spcAft>
            </a:pPr>
            <a:r>
              <a:rPr sz="2800"/>
              <a:t>2320090018 – M Praneeth Reddy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E8FAAD1-9D6D-0FFA-5F80-F5B6C776031C}"/>
              </a:ext>
            </a:extLst>
          </p:cNvPr>
          <p:cNvSpPr>
            <a:spLocks noGrp="1"/>
          </p:cNvSpPr>
          <p:nvPr>
            <p:ph type="body" sz="quarter" idx="96"/>
          </p:nvPr>
        </p:nvSpPr>
        <p:spPr>
          <a:xfrm>
            <a:off x="623691" y="19385280"/>
            <a:ext cx="14300387" cy="4754880"/>
          </a:xfrm>
        </p:spPr>
        <p:txBody>
          <a:bodyPr wrap="square"/>
          <a:lstStyle/>
          <a:p>
            <a:pPr>
              <a:spcAft>
                <a:spcPts val="1050"/>
              </a:spcAft>
            </a:pPr>
            <a:r>
              <a:rPr b="1" sz="3000"/>
              <a:t>1. Reproduce </a:t>
            </a:r>
            <a:r>
              <a:rPr sz="3000"/>
              <a:t>CodeS-1B on Spider within ±5–10% of the published result.</a:t>
            </a:r>
            <a:endParaRPr lang="en-US"/>
          </a:p>
          <a:p>
            <a:pPr>
              <a:spcAft>
                <a:spcPts val="1050"/>
              </a:spcAft>
            </a:pPr>
            <a:r>
              <a:rPr b="1" sz="3000"/>
              <a:t>2. Ablate </a:t>
            </a:r>
            <a:r>
              <a:rPr sz="3000"/>
              <a:t>the CodeS pipeline to find which parts matter.</a:t>
            </a:r>
          </a:p>
          <a:p>
            <a:pPr>
              <a:spcAft>
                <a:spcPts val="1050"/>
              </a:spcAft>
            </a:pPr>
            <a:r>
              <a:rPr b="1" sz="3000"/>
              <a:t>3. Enhance </a:t>
            </a:r>
            <a:r>
              <a:rPr sz="3000"/>
              <a:t>it with confidence-aware abstention and test it statistically.</a:t>
            </a:r>
          </a:p>
          <a:p>
            <a:pPr>
              <a:spcAft>
                <a:spcPts val="1050"/>
              </a:spcAft>
            </a:pPr>
            <a:r>
              <a:rPr b="1" sz="3000"/>
              <a:t>4. Measure </a:t>
            </a:r>
            <a:r>
              <a:rPr sz="3000"/>
              <a:t>the benchmark-to-reality gap on realistic questions and real databases.</a:t>
            </a:r>
          </a:p>
          <a:p>
            <a:pPr>
              <a:spcAft>
                <a:spcPts val="1050"/>
              </a:spcAft>
            </a:pPr>
            <a:r>
              <a:rPr b="1" sz="3000"/>
              <a:t>5. Deliver </a:t>
            </a:r>
            <a:r>
              <a:rPr sz="3000"/>
              <a:t>a working desktop application, not a notebook.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077E7D37-4ADD-B411-5745-64B80A6DFF3E}"/>
              </a:ext>
            </a:extLst>
          </p:cNvPr>
          <p:cNvSpPr>
            <a:spLocks noGrp="1"/>
          </p:cNvSpPr>
          <p:nvPr>
            <p:ph type="body" sz="quarter" idx="153"/>
          </p:nvPr>
        </p:nvSpPr>
        <p:spPr>
          <a:xfrm>
            <a:off x="6248401" y="1190980"/>
            <a:ext cx="20319999" cy="2712068"/>
          </a:xfrm>
        </p:spPr>
        <p:txBody>
          <a:bodyPr/>
          <a:lstStyle/>
          <a:p>
            <a:r>
              <a:rPr sz="6600" b="1"/>
              <a:t>QueryGenie: A Self-Correcting Natural Language to SQL Interface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31925E26-3D5F-FD61-C041-F736D92C1EDE}"/>
              </a:ext>
            </a:extLst>
          </p:cNvPr>
          <p:cNvSpPr>
            <a:spLocks noGrp="1"/>
          </p:cNvSpPr>
          <p:nvPr>
            <p:ph type="body" sz="quarter" idx="154"/>
          </p:nvPr>
        </p:nvSpPr>
        <p:spPr>
          <a:solidFill>
            <a:srgbClr val="C00000"/>
          </a:solidFill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Experimental Results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700095B5-184C-4621-241F-6E501731F4AA}"/>
              </a:ext>
            </a:extLst>
          </p:cNvPr>
          <p:cNvSpPr>
            <a:spLocks noGrp="1"/>
          </p:cNvSpPr>
          <p:nvPr>
            <p:ph type="body" sz="quarter" idx="155"/>
          </p:nvPr>
        </p:nvSpPr>
        <p:spPr>
          <a:xfrm>
            <a:off x="15353328" y="29809440"/>
            <a:ext cx="14300387" cy="6583680"/>
          </a:xfrm>
        </p:spPr>
        <p:txBody>
          <a:bodyPr wrap="square"/>
          <a:lstStyle/>
          <a:p>
            <a:pPr>
              <a:spcAft>
                <a:spcPts val="1050"/>
              </a:spcAft>
            </a:pPr>
            <a:r>
              <a:rPr b="1" sz="3000"/>
              <a:t>Reproduction: </a:t>
            </a:r>
            <a:r>
              <a:rPr sz="3000"/>
              <a:t>77.8% vs 77.9% (−0.1 pts) on a free Colab T4.</a:t>
            </a:r>
            <a:endParaRPr lang="en-US" dirty="0"/>
          </a:p>
          <a:p>
            <a:pPr>
              <a:spcAft>
                <a:spcPts val="1050"/>
              </a:spcAft>
            </a:pPr>
            <a:r>
              <a:rPr b="1" sz="3000"/>
              <a:t>Enhancement: </a:t>
            </a:r>
            <a:r>
              <a:rPr sz="3000"/>
              <a:t>+5.5 pts accuracy on answered questions; t-test p = 7.7×10⁻¹⁰, Wilcoxon p = 9.8×10⁻⁴, 95% CI +4.5 to +6.7.</a:t>
            </a:r>
          </a:p>
          <a:p>
            <a:pPr>
              <a:spcAft>
                <a:spcPts val="1050"/>
              </a:spcAft>
            </a:pPr>
            <a:r>
              <a:rPr b="1" sz="3000"/>
              <a:t>Beyond Spider: </a:t>
            </a:r>
            <a:r>
              <a:rPr sz="3000"/>
              <a:t>Spider-Realistic EX 69.5% (paper 70.9%; the wording costs 3.3 pts, p = 0.016); BIRD Mini-Dev EX TBD.</a:t>
            </a:r>
          </a:p>
          <a:p>
            <a:pPr>
              <a:spcAft>
                <a:spcPts val="1050"/>
              </a:spcAft>
            </a:pPr>
            <a:r>
              <a:rPr b="1" sz="3000"/>
              <a:t>Next: </a:t>
            </a:r>
            <a:r>
              <a:rPr sz="3000"/>
              <a:t>a platform companies plug into any database (Spark, Snowflake, NoSQL via a SQL gateway), with access control and per-database adaptation.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0FB54E70-3F09-D332-907A-A69C3F44B9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691" y="1195278"/>
            <a:ext cx="5051364" cy="1859917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D91D1E30-4CB1-0118-0883-B370DAD87939}"/>
              </a:ext>
            </a:extLst>
          </p:cNvPr>
          <p:cNvSpPr/>
          <p:nvPr/>
        </p:nvSpPr>
        <p:spPr>
          <a:xfrm>
            <a:off x="-1" y="42003496"/>
            <a:ext cx="30275213" cy="80026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Department of Computer Science and Information Technology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EA968B0-F23F-1CB8-E525-D45C1F1DD8C8}"/>
              </a:ext>
            </a:extLst>
          </p:cNvPr>
          <p:cNvGrpSpPr/>
          <p:nvPr/>
        </p:nvGrpSpPr>
        <p:grpSpPr>
          <a:xfrm>
            <a:off x="623691" y="5045569"/>
            <a:ext cx="29013394" cy="203459"/>
            <a:chOff x="5297214" y="5869884"/>
            <a:chExt cx="3874494" cy="78971"/>
          </a:xfrm>
        </p:grpSpPr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62A849BB-57EB-3B07-9045-6D992A2C1BB8}"/>
                </a:ext>
              </a:extLst>
            </p:cNvPr>
            <p:cNvSpPr/>
            <p:nvPr/>
          </p:nvSpPr>
          <p:spPr>
            <a:xfrm>
              <a:off x="5297214" y="5875283"/>
              <a:ext cx="798786" cy="73572"/>
            </a:xfrm>
            <a:prstGeom prst="round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b="1"/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96ABFFEB-9857-207A-093B-83A088610716}"/>
                </a:ext>
              </a:extLst>
            </p:cNvPr>
            <p:cNvSpPr/>
            <p:nvPr/>
          </p:nvSpPr>
          <p:spPr>
            <a:xfrm>
              <a:off x="6322450" y="5875283"/>
              <a:ext cx="798786" cy="73572"/>
            </a:xfrm>
            <a:prstGeom prst="round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b="1"/>
            </a:p>
          </p:txBody>
        </p:sp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CABAA8FC-E2ED-F8A9-D777-1432EBA0830F}"/>
                </a:ext>
              </a:extLst>
            </p:cNvPr>
            <p:cNvSpPr/>
            <p:nvPr/>
          </p:nvSpPr>
          <p:spPr>
            <a:xfrm>
              <a:off x="7347686" y="5869884"/>
              <a:ext cx="798786" cy="73572"/>
            </a:xfrm>
            <a:prstGeom prst="round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b="1"/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F92808BA-82AF-3250-3679-A73FE7DAD85C}"/>
                </a:ext>
              </a:extLst>
            </p:cNvPr>
            <p:cNvSpPr/>
            <p:nvPr/>
          </p:nvSpPr>
          <p:spPr>
            <a:xfrm>
              <a:off x="8372922" y="5869884"/>
              <a:ext cx="798786" cy="73572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b="1"/>
            </a:p>
          </p:txBody>
        </p:sp>
      </p:grpSp>
      <p:pic>
        <p:nvPicPr>
          <p:cNvPr id="25" name="Picture 24" descr="app_not_s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8880" y="24231600"/>
            <a:ext cx="10607040" cy="6629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40080" y="30952440"/>
            <a:ext cx="14264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i="1"/>
              <a:t>QueryGenie asking which reading was meant when its four queries disagree.</a:t>
            </a:r>
          </a:p>
        </p:txBody>
      </p:sp>
      <p:pic>
        <p:nvPicPr>
          <p:cNvPr id="27" name="Picture 26" descr="final_pipe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61920" y="7772400"/>
            <a:ext cx="14264640" cy="7667244"/>
          </a:xfrm>
          <a:prstGeom prst="rect">
            <a:avLst/>
          </a:prstGeom>
        </p:spPr>
      </p:pic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15361920" y="25786080"/>
          <a:ext cx="76809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463040"/>
                <a:gridCol w="1463040"/>
                <a:gridCol w="1463040"/>
              </a:tblGrid>
              <a:tr h="548640">
                <a:tc>
                  <a:txBody>
                    <a:bodyPr/>
                    <a:lstStyle/>
                    <a:p>
                      <a:r>
                        <a:rPr sz="2000" b="1"/>
                        <a:t>System (Spider dev)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Answered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Correct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Wrong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000" b="0"/>
                        <a:t>CodeS-1B, paper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0"/>
                        <a:t>77.9%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0"/>
                        <a:t>—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000" b="0"/>
                        <a:t>Our reproduction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0"/>
                        <a:t>77.8%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0"/>
                        <a:t>230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000" b="1"/>
                        <a:t>Enhanced (tested)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90.4%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83.3%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156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000" b="0"/>
                        <a:t>All 4 must agree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0"/>
                        <a:t>39.8%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0"/>
                        <a:t>88.3%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0"/>
                        <a:t>48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29" name="Picture 28" descr="accuracy_coverage_T2-00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225760" y="25786080"/>
            <a:ext cx="6400800" cy="3733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7843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Yellow">
      <a:dk1>
        <a:sysClr val="windowText" lastClr="000000"/>
      </a:dk1>
      <a:lt1>
        <a:sysClr val="window" lastClr="FFFFFF"/>
      </a:lt1>
      <a:dk2>
        <a:srgbClr val="39302A"/>
      </a:dk2>
      <a:lt2>
        <a:srgbClr val="E5DEDB"/>
      </a:lt2>
      <a:accent1>
        <a:srgbClr val="FFCA08"/>
      </a:accent1>
      <a:accent2>
        <a:srgbClr val="F8931D"/>
      </a:accent2>
      <a:accent3>
        <a:srgbClr val="CE8D3E"/>
      </a:accent3>
      <a:accent4>
        <a:srgbClr val="EC7016"/>
      </a:accent4>
      <a:accent5>
        <a:srgbClr val="E64823"/>
      </a:accent5>
      <a:accent6>
        <a:srgbClr val="9C6A6A"/>
      </a:accent6>
      <a:hlink>
        <a:srgbClr val="2998E3"/>
      </a:hlink>
      <a:folHlink>
        <a:srgbClr val="7F723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56</TotalTime>
  <Words>37</Words>
  <Application>Microsoft Macintosh PowerPoint</Application>
  <PresentationFormat>Custom</PresentationFormat>
  <Paragraphs>12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Times New Roman</vt:lpstr>
      <vt:lpstr>Trebuchet MS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Dr. Jagan Mohan Reddy D</dc:creator>
  <cp:lastModifiedBy>Dr. Jagan Mohan Reddy D</cp:lastModifiedBy>
  <cp:revision>12</cp:revision>
  <dcterms:created xsi:type="dcterms:W3CDTF">2026-10-01T03:51:11Z</dcterms:created>
  <dcterms:modified xsi:type="dcterms:W3CDTF">2026-10-01T04:47:30Z</dcterms:modified>
</cp:coreProperties>
</file>
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2"/>
  </p:normalViewPr>
  <p:slideViewPr>
    <p:cSldViewPr snapToGrid="0">
      <p:cViewPr>
        <p:scale>
          <a:sx n="25" d="100"/>
          <a:sy n="25" d="100"/>
        </p:scale>
        <p:origin x="26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691" y="7680960"/>
            <a:ext cx="14299153" cy="10607040"/>
          </a:xfrm>
        </p:spPr>
        <p:txBody>
          <a:bodyPr wrap="square"/>
          <a:lstStyle/>
          <a:p>
            <a:pPr>
              <a:spcAft>
                <a:spcPts val="1189"/>
              </a:spcAft>
            </a:pPr>
            <a:r>
              <a:rPr sz="3400"/>
              <a:t>Text-to-SQL models let people who don't know SQL ask a database questions in plain English — but they answer every question with the same confidence, so a wrong answer looks exactly like a right one.</a:t>
            </a:r>
            <a:endParaRPr lang="en-US"/>
          </a:p>
          <a:p>
            <a:pPr>
              <a:spcAft>
                <a:spcPts val="1189"/>
              </a:spcAft>
            </a:pPr>
            <a:r>
              <a:rPr sz="3400"/>
              <a:t>We reproduced CodeS (SIGMOD 2024), an open-source text-to-SQL model: 77.8% Execution Accuracy on the Spider development set against 77.9% in the paper.</a:t>
            </a:r>
          </a:p>
          <a:p>
            <a:pPr>
              <a:spcAft>
                <a:spcPts val="1189"/>
              </a:spcAft>
            </a:pPr>
            <a:r>
              <a:rPr sz="3400"/>
              <a:t>Our enhancement, confidence-aware abstention, runs the four candidate queries CodeS already generates and counts how many agree. When they disagree, QueryGenie asks the user instead of guessing: it is then correct on 83.3% of the questions it answers (90.4% of all), wrong answers fall by 32%, and the gain is statistically significant.</a:t>
            </a:r>
          </a:p>
          <a:p>
            <a:pPr>
              <a:spcAft>
                <a:spcPts val="1189"/>
              </a:spcAft>
            </a:pPr>
            <a:r>
              <a:rPr sz="3400"/>
              <a:t>Everything runs locally on open weights in a desktop app.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Proposed Methodology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353328" y="15713963"/>
            <a:ext cx="14287682" cy="877824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Data </a:t>
            </a:r>
            <a:r>
              <a:rPr sz="3000"/>
              <a:t>(Hugging Face, approved source): Spider dev — 1,034 questions, 20 unseen databases; Spider-Realistic — 508 questions without column names; BIRD Mini-Dev — 500 questions on 11 real-world databases.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CodeS pipeline (reproduced): </a:t>
            </a:r>
            <a:r>
              <a:rPr sz="3000"/>
              <a:t>database prompt (schema, keys, sample values, matched values) → 4 candidate queries by beam search → first query that runs.</a:t>
            </a:r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execute all 4 candidates and count how many return the same result. Agreement below the threshold (τ = 0.2526, calibrated on held-out halves) → abstain and show the readings to choose from.</a:t>
            </a:r>
          </a:p>
          <a:p>
            <a:pPr>
              <a:spcAft>
                <a:spcPts val="1050"/>
              </a:spcAft>
            </a:pPr>
            <a:r>
              <a:rPr b="1" sz="3000"/>
              <a:t>Evaluation: </a:t>
            </a:r>
            <a:r>
              <a:rPr sz="3000"/>
              <a:t>official Spider evaluator; 10 calibration/test splits, paired t-test and Wilcoxon, bootstrap over questions.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3691" y="32644080"/>
            <a:ext cx="14289232" cy="8961120"/>
          </a:xfrm>
        </p:spPr>
        <p:txBody>
          <a:bodyPr wrap="square"/>
          <a:lstStyle/>
          <a:p>
            <a:pPr>
              <a:spcAft>
                <a:spcPts val="769"/>
              </a:spcAft>
            </a:pPr>
            <a:r>
              <a:rPr sz="2200"/>
              <a:t>Li, H., et al. (2024). CodeS: Towards building open-source language models for text-to-SQL. arXiv:2402.16347.</a:t>
            </a:r>
            <a:endParaRPr lang="en-US"/>
          </a:p>
          <a:p>
            <a:pPr>
              <a:spcAft>
                <a:spcPts val="769"/>
              </a:spcAft>
            </a:pPr>
            <a:r>
              <a:rPr sz="2200"/>
              <a:t>Yu, T., et al. (2018). Spider: A large-scale human-labeled dataset for complex and cross-domain semantic parsing and text-to-SQL task. arXiv:1809.08887.</a:t>
            </a:r>
          </a:p>
          <a:p>
            <a:pPr>
              <a:spcAft>
                <a:spcPts val="769"/>
              </a:spcAft>
            </a:pPr>
            <a:r>
              <a:rPr sz="2200"/>
              <a:t>Li, J., et al. (2023). Can LLM already serve as a database interface? A big bench for large-scale database grounded text-to-SQLs. arXiv:2305.03111.</a:t>
            </a:r>
          </a:p>
          <a:p>
            <a:pPr>
              <a:spcAft>
                <a:spcPts val="769"/>
              </a:spcAft>
            </a:pPr>
            <a:r>
              <a:rPr sz="2200"/>
              <a:t>Deng, X., Awadallah, A. H., Meek, C., Polozov, O., Sun, H., &amp; Richardson, M. (2020). Structure-grounded pretraining for text-to-SQL. arXiv:2010.12773.</a:t>
            </a:r>
          </a:p>
          <a:p>
            <a:pPr>
              <a:spcAft>
                <a:spcPts val="769"/>
              </a:spcAft>
            </a:pPr>
            <a:r>
              <a:rPr sz="2200"/>
              <a:t>Pourreza, M., &amp; Rafiei, D. (2023). DIN-SQL: Decomposed in-context learning of text-to-SQL with self-correction. arXiv:2304.11015.</a:t>
            </a:r>
          </a:p>
          <a:p>
            <a:pPr>
              <a:spcAft>
                <a:spcPts val="769"/>
              </a:spcAft>
            </a:pPr>
            <a:r>
              <a:rPr sz="2200"/>
              <a:t>Wang, X., et al. (2022). Self-consistency improves chain of thought reasoning in language models. arXiv:2203.11171.</a:t>
            </a:r>
          </a:p>
          <a:p>
            <a:pPr>
              <a:spcAft>
                <a:spcPts val="769"/>
              </a:spcAft>
            </a:pPr>
            <a:r>
              <a:rPr sz="2200"/>
              <a:t>Geifman, Y., &amp; El-Yaniv, R. (2017). Selective classification for deep neural networks. arXiv:1705.08500.</a:t>
            </a:r>
          </a:p>
          <a:p>
            <a:pPr>
              <a:spcAft>
                <a:spcPts val="769"/>
              </a:spcAft>
            </a:pPr>
            <a:r>
              <a:rPr sz="2200"/>
              <a:t>Zhong, R., Yu, T., &amp; Klein, D. (2020). Semantic evaluation for text-to-SQL with distilled test suites. arXiv:2010.02840.</a:t>
            </a:r>
          </a:p>
          <a:p>
            <a:pPr>
              <a:spcAft>
                <a:spcPts val="769"/>
              </a:spcAft>
            </a:pPr>
            <a:r>
              <a:rPr sz="2200"/>
              <a:t>Li, H., et al. (2023). RESDSQL: Decoupling schema linking and skeleton parsing for text-to-SQL. arXiv:2302.05965.</a:t>
            </a:r>
          </a:p>
          <a:p>
            <a:pPr>
              <a:spcAft>
                <a:spcPts val="769"/>
              </a:spcAft>
            </a:pPr>
            <a:r>
              <a:rPr sz="2200"/>
              <a:t>Lin, X. V., Socher, R., &amp; Xiong, C. (2020). Bridging textual and tabular data for cross-domain text-to-SQL semantic parsing. arXiv:2012.12627.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5353329" y="37358864"/>
            <a:ext cx="14283756" cy="3272899"/>
          </a:xfrm>
        </p:spPr>
        <p:txBody>
          <a:bodyPr wrap="square"/>
          <a:lstStyle/>
          <a:p>
            <a:pPr>
              <a:spcAft>
                <a:spcPts val="979"/>
              </a:spcAft>
            </a:pPr>
            <a:r>
              <a:rPr sz="2800"/>
              <a:t>M Parameswar, Associate Professor</a:t>
            </a:r>
          </a:p>
          <a:p>
            <a:pPr>
              <a:spcAft>
                <a:spcPts val="979"/>
              </a:spcAft>
            </a:pPr>
            <a:r>
              <a:rPr sz="2800"/>
              <a:t>2320090050 – N V V S S Jayakanth Kamisetti</a:t>
            </a:r>
          </a:p>
          <a:p>
            <a:pPr>
              <a:spcAft>
                <a:spcPts val="979"/>
              </a:spcAft>
            </a:pPr>
            <a:r>
              <a:rPr sz="2800"/>
              <a:t>2320090009 – Boddupally Narendar</a:t>
            </a:r>
          </a:p>
          <a:p>
            <a:pPr>
              <a:spcAft>
                <a:spcPts val="979"/>
              </a:spcAft>
            </a:pPr>
            <a:r>
              <a:rPr sz="2800"/>
              <a:t>2320090018 – M Praneeth Reddy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23691" y="19385280"/>
            <a:ext cx="14300387" cy="47548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1. Reproduce </a:t>
            </a:r>
            <a:r>
              <a:rPr sz="3000"/>
              <a:t>CodeS-1B on Spider within ±5–10% of the published result.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2. Ablate </a:t>
            </a:r>
            <a:r>
              <a:rPr sz="3000"/>
              <a:t>the CodeS pipeline to find which parts matter.</a:t>
            </a:r>
          </a:p>
          <a:p>
            <a:pPr>
              <a:spcAft>
                <a:spcPts val="1050"/>
              </a:spcAft>
            </a:pPr>
            <a:r>
              <a:rPr b="1" sz="3000"/>
              <a:t>3. Enhance </a:t>
            </a:r>
            <a:r>
              <a:rPr sz="3000"/>
              <a:t>it with confidence-aware abstention and test it statistically.</a:t>
            </a:r>
          </a:p>
          <a:p>
            <a:pPr>
              <a:spcAft>
                <a:spcPts val="1050"/>
              </a:spcAft>
            </a:pPr>
            <a:r>
              <a:rPr b="1" sz="3000"/>
              <a:t>4. Measure </a:t>
            </a:r>
            <a:r>
              <a:rPr sz="3000"/>
              <a:t>the benchmark-to-reality gap on realistic questions and real databases.</a:t>
            </a:r>
          </a:p>
          <a:p>
            <a:pPr>
              <a:spcAft>
                <a:spcPts val="1050"/>
              </a:spcAft>
            </a:pPr>
            <a:r>
              <a:rPr b="1" sz="3000"/>
              <a:t>5. Deliver </a:t>
            </a:r>
            <a:r>
              <a:rPr sz="3000"/>
              <a:t>a working desktop application, not a notebook.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248401" y="1190980"/>
            <a:ext cx="20319999" cy="2712068"/>
          </a:xfrm>
        </p:spPr>
        <p:txBody>
          <a:bodyPr/>
          <a:lstStyle/>
          <a:p>
            <a:r>
              <a:rPr sz="6600" b="1"/>
              <a:t>QueryGenie: A Self-Correcting Natural Language to SQL Interface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15353328" y="29809440"/>
            <a:ext cx="14300387" cy="65836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Reproduction: </a:t>
            </a:r>
            <a:r>
              <a:rPr sz="3000"/>
              <a:t>77.8% vs 77.9% (−0.1 pts) on a free Colab T4.</a:t>
            </a:r>
            <a:endParaRPr lang="en-US" dirty="0"/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+5.5 pts accuracy on answered questions; t-test p = 7.7×10⁻¹⁰, Wilcoxon p = 9.8×10⁻⁴, 95% CI +4.5 to +6.7.</a:t>
            </a:r>
          </a:p>
          <a:p>
            <a:pPr>
              <a:spcAft>
                <a:spcPts val="1050"/>
              </a:spcAft>
            </a:pPr>
            <a:r>
              <a:rPr b="1" sz="3000"/>
              <a:t>Beyond Spider: </a:t>
            </a:r>
            <a:r>
              <a:rPr sz="3000"/>
              <a:t>Spider-Realistic EX TBD; BIRD Mini-Dev EX TBD.</a:t>
            </a:r>
          </a:p>
          <a:p>
            <a:pPr>
              <a:spcAft>
                <a:spcPts val="1050"/>
              </a:spcAft>
            </a:pPr>
            <a:r>
              <a:rPr b="1" sz="3000"/>
              <a:t>Next: </a:t>
            </a:r>
            <a:r>
              <a:rPr sz="3000"/>
              <a:t>a platform companies plug into any database (Spark, Snowflake, NoSQL via a SQL gateway), with access control and per-database adaptation.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pic>
        <p:nvPicPr>
          <p:cNvPr id="25" name="Picture 2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24231600"/>
            <a:ext cx="10607040" cy="662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30952440"/>
            <a:ext cx="1426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i="1"/>
              <a:t>QueryGenie asking which reading was meant when its four queries disagree.</a:t>
            </a:r>
          </a:p>
        </p:txBody>
      </p:sp>
      <p:pic>
        <p:nvPicPr>
          <p:cNvPr id="27" name="Picture 26" descr="final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7772400"/>
            <a:ext cx="14264640" cy="7667244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5361920" y="257860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46304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System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Answered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Wrong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CodeS-1B, 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Our reproduction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Enhanced (tested)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All 4 must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48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9" name="Picture 28" descr="accuracy_coverage_T2-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25760" y="25786080"/>
            <a:ext cx="640080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37</Words>
  <Application>Microsoft Macintosh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12</cp:revision>
  <dcterms:created xsi:type="dcterms:W3CDTF">2026-10-01T03:51:11Z</dcterms:created>
  <dcterms:modified xsi:type="dcterms:W3CDTF">2026-10-01T04:47:30Z</dcterms:modified>
</cp:coreProperties>
</file>
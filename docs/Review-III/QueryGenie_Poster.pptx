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1"/>
  </p:normalViewPr>
  <p:slideViewPr>
    <p:cSldViewPr snapToGrid="0">
      <p:cViewPr>
        <p:scale>
          <a:sx n="31" d="100"/>
          <a:sy n="31" d="100"/>
        </p:scale>
        <p:origin x="2056" y="-1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080" y="130302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536192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Proposed Methodology / System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8196560" y="29809440"/>
            <a:ext cx="66294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5008839" y="29809440"/>
            <a:ext cx="461772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/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035040" y="1005840"/>
            <a:ext cx="19568160" cy="3108960"/>
          </a:xfrm>
        </p:spPr>
        <p:txBody>
          <a:bodyPr wrap="square" anchor="t" lIns="73152" rIns="73152" tIns="27432" bIns="27432"/>
          <a:lstStyle/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9600" b="1" i="0" u="none">
                <a:solidFill>
                  <a:srgbClr val="002060"/>
                </a:solidFill>
                <a:latin typeface="Arial"/>
              </a:rPr>
              <a:t>QueryGenie</a:t>
            </a:r>
          </a:p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4000" b="0" i="0" u="none">
                <a:solidFill>
                  <a:srgbClr val="002060"/>
                </a:solidFill>
                <a:latin typeface="Arial"/>
              </a:rPr>
              <a:t>A Self-Correcting, Confidence-Aware Natural Language to SQL Interface</a:t>
            </a:r>
          </a:p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2700" b="0" i="1" u="none">
                <a:solidFill>
                  <a:srgbClr val="4B5563"/>
                </a:solidFill>
                <a:latin typeface="Arial"/>
              </a:rPr>
              <a:t>Ask a database in plain English — and be told when the answer can't be trusted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xfrm>
            <a:off x="640080" y="29809440"/>
            <a:ext cx="173736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Arial"/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EC58C13-E2F0-38F2-BE1B-7BB99133B9E5}"/>
              </a:ext>
            </a:extLst>
          </p:cNvPr>
          <p:cNvSpPr txBox="1"/>
          <p:nvPr/>
        </p:nvSpPr>
        <p:spPr>
          <a:xfrm>
            <a:off x="2202874" y="4405744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STUDENTS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4D8927-421D-132B-30DD-C0DECF1225BE}"/>
              </a:ext>
            </a:extLst>
          </p:cNvPr>
          <p:cNvSpPr txBox="1"/>
          <p:nvPr/>
        </p:nvSpPr>
        <p:spPr>
          <a:xfrm>
            <a:off x="9712038" y="439625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INNOVATION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A5CA1-6A1D-A450-A745-A29C2F565D5D}"/>
              </a:ext>
            </a:extLst>
          </p:cNvPr>
          <p:cNvSpPr txBox="1"/>
          <p:nvPr/>
        </p:nvSpPr>
        <p:spPr>
          <a:xfrm>
            <a:off x="17576645" y="442801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RESEARCH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124A98-D633-909B-F752-74C8912A4A84}"/>
              </a:ext>
            </a:extLst>
          </p:cNvPr>
          <p:cNvSpPr txBox="1"/>
          <p:nvPr/>
        </p:nvSpPr>
        <p:spPr>
          <a:xfrm>
            <a:off x="25176018" y="4414407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IMPACT</a:t>
            </a:r>
          </a:p>
        </p:txBody>
      </p:sp>
      <p:pic>
        <p:nvPicPr>
          <p:cNvPr id="27" name="Picture 26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0" y="1143000"/>
            <a:ext cx="2945718" cy="27432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4008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rand_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41848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46304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Python 3.13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625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rand_pyto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3410" y="5641848"/>
            <a:ext cx="640080" cy="6400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0921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PyTorch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3242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rand_huggingfa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9580" y="5641848"/>
            <a:ext cx="640080" cy="6400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75538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Hugging 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57859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rand_sql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5750" y="5641848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40155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SQLite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22476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_postgresq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61920" y="5641848"/>
            <a:ext cx="640080" cy="6400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604772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PostgreSQL · MySQL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87093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onitor-smartphone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08089" y="5641848"/>
            <a:ext cx="640080" cy="6400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9693889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macOS · Windows app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51710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badge-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654260" y="5641848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334006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45 tests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16327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rand_githu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00430" y="5641848"/>
            <a:ext cx="640080" cy="6400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2698623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Open source · GitHub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7680960"/>
            <a:ext cx="1426464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7772400"/>
            <a:ext cx="13990319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775"/>
              </a:spcAft>
            </a:pPr>
            <a:r>
              <a:rPr sz="3100" b="1" i="0" u="none">
                <a:solidFill>
                  <a:srgbClr val="1F2937"/>
                </a:solidFill>
                <a:latin typeface="Arial"/>
              </a:rPr>
              <a:t>QueryGenie</a:t>
            </a:r>
            <a:r>
              <a:rPr sz="3100" b="0" i="0" u="none">
                <a:solidFill>
                  <a:srgbClr val="1F2937"/>
                </a:solidFill>
                <a:latin typeface="Arial"/>
              </a:rPr>
              <a:t> lets anyone ask a database questions in plain English. Text-to-SQL models answer every question with the same confidence, so a wrong answer looks exactly like a right one. We reproduce CodeS (SIGMOD 2024), an open-source text-to-SQL model, to 77.8% execution accuracy on Spider (paper: 77.9%), and add confidence-aware abstention: the system runs every candidate query the model writes and checks whether they agree. When they don't, it asks the user instead of guessing. It answers 90.4% of questions and is right on 83.3% of them, with a third fewer wrong answers — a statistically significant gain. It runs fully locally in a desktop app.</a:t>
            </a:r>
          </a:p>
        </p:txBody>
      </p:sp>
      <p:sp>
        <p:nvSpPr>
          <p:cNvPr id="54" name="Oval 53"/>
          <p:cNvSpPr/>
          <p:nvPr/>
        </p:nvSpPr>
        <p:spPr>
          <a:xfrm>
            <a:off x="777240" y="13944600"/>
            <a:ext cx="731520" cy="73152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39" y="1388059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Reproduce CodeS-1B on Spider within the ±5–10% tolerance</a:t>
            </a:r>
          </a:p>
        </p:txBody>
      </p:sp>
      <p:sp>
        <p:nvSpPr>
          <p:cNvPr id="56" name="Oval 55"/>
          <p:cNvSpPr/>
          <p:nvPr/>
        </p:nvSpPr>
        <p:spPr>
          <a:xfrm>
            <a:off x="777240" y="14904720"/>
            <a:ext cx="731520" cy="7315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91639" y="1484071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Find which parts of the CodeS pipeline matter (ablation)</a:t>
            </a:r>
          </a:p>
        </p:txBody>
      </p:sp>
      <p:sp>
        <p:nvSpPr>
          <p:cNvPr id="58" name="Oval 57"/>
          <p:cNvSpPr/>
          <p:nvPr/>
        </p:nvSpPr>
        <p:spPr>
          <a:xfrm>
            <a:off x="777240" y="15864840"/>
            <a:ext cx="731520" cy="73152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1639" y="1580083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Make the system say when it is unsure — tested statistically</a:t>
            </a:r>
          </a:p>
        </p:txBody>
      </p:sp>
      <p:sp>
        <p:nvSpPr>
          <p:cNvPr id="60" name="Oval 59"/>
          <p:cNvSpPr/>
          <p:nvPr/>
        </p:nvSpPr>
        <p:spPr>
          <a:xfrm>
            <a:off x="777240" y="1682496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39" y="16760951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Measure accuracy on realistically worded questions</a:t>
            </a:r>
          </a:p>
        </p:txBody>
      </p:sp>
      <p:sp>
        <p:nvSpPr>
          <p:cNvPr id="62" name="Oval 61"/>
          <p:cNvSpPr/>
          <p:nvPr/>
        </p:nvSpPr>
        <p:spPr>
          <a:xfrm>
            <a:off x="777240" y="17785080"/>
            <a:ext cx="731520" cy="73152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91639" y="1772107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Deliver a desktop app that runs fully locally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188823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Key Innovations &amp; Contributions</a:t>
            </a:r>
          </a:p>
        </p:txBody>
      </p:sp>
      <p:pic>
        <p:nvPicPr>
          <p:cNvPr id="65" name="Picture 64" descr="shield-check_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959" y="19961352"/>
            <a:ext cx="868680" cy="86868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920239" y="19796760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1. Confidence-aware abstention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Run all candidate queries, count how many agree; ask “Did you mean…?” when they don't</a:t>
            </a:r>
          </a:p>
        </p:txBody>
      </p:sp>
      <p:pic>
        <p:nvPicPr>
          <p:cNvPr id="67" name="Picture 66" descr="badge-check_blu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2959" y="21534119"/>
            <a:ext cx="868680" cy="86868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920239" y="21369527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2. Faithful, audited reproduction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77.8% vs 77.9% with the official evaluator, after auditing our own harness</a:t>
            </a:r>
          </a:p>
        </p:txBody>
      </p:sp>
      <p:pic>
        <p:nvPicPr>
          <p:cNvPr id="69" name="Picture 68" descr="refresh-cw_blu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959" y="23106888"/>
            <a:ext cx="868680" cy="8686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920239" y="22942296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3. Execution-guided self-correction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A failed query goes back to the model with the database error</a:t>
            </a:r>
          </a:p>
        </p:txBody>
      </p:sp>
      <p:pic>
        <p:nvPicPr>
          <p:cNvPr id="71" name="Picture 70" descr="lock-keyhole_blu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959" y="24679656"/>
            <a:ext cx="868680" cy="86868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920239" y="24515064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4. Private by design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Open weights, runs on the user's computer — no schema sent to a third party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261975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Datasets (Hugging Face — approved source)</a:t>
            </a:r>
          </a:p>
        </p:txBody>
      </p: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640080" y="27020520"/>
          <a:ext cx="14264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023360"/>
                <a:gridCol w="6035040"/>
              </a:tblGrid>
              <a:tr h="59436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Benchmark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Questions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Used for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Spider 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1,034 · 20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Reproduction, ablation, enhancement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Spider-Realistic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Questions without column names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BIRD Mini-Dev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500 · 11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Real-world databases (future work)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75" name="Rounded Rectangle 74"/>
          <p:cNvSpPr/>
          <p:nvPr/>
        </p:nvSpPr>
        <p:spPr>
          <a:xfrm>
            <a:off x="15361920" y="7680960"/>
            <a:ext cx="14264640" cy="2171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572768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message-circle-question_blu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956280" y="8595360"/>
            <a:ext cx="914400" cy="9144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7007839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USER QUESTION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“Which student scored the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highest marks in DBMS?”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286000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database_blu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88600" y="8595360"/>
            <a:ext cx="914400" cy="9144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4140160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YOUR DATABASE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SQLite · PostgreSQL · MySQL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opened read-only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892808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2386584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16733520" y="10789920"/>
            <a:ext cx="11521440" cy="25146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ile-text_blu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962120" y="11590020"/>
            <a:ext cx="914400" cy="91440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8013680" y="10863072"/>
            <a:ext cx="10104119" cy="236829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DATABASE PROMPT BUILDER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Tables, columns, types, keys, 2 sample values each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Value retriever: stored values that match the question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494240" y="13304520"/>
            <a:ext cx="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16733520" y="13898880"/>
            <a:ext cx="1152144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brain-circuit_blu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962120" y="14493240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8013680" y="13972032"/>
            <a:ext cx="10104119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CODES-1B (FINE-TUNED ON SPIDER)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Beam search → 4 candidate SQL queries, each scored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18928080" y="16002000"/>
            <a:ext cx="12801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572768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play_blu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56280" y="17327880"/>
            <a:ext cx="914400" cy="9144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7007839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EXECUTE ALL 4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Read-only; keep the first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valid query (paper's rule)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286000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refresh-cw_gree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3088600" y="17327880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4140160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SELF-CORRECTION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Failed query + error →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the model repairs it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2128480" y="17785080"/>
            <a:ext cx="731520" cy="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8928080" y="18973800"/>
            <a:ext cx="21945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16733520" y="19568160"/>
            <a:ext cx="11521440" cy="219456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list-checks_oran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6962120" y="20208239"/>
            <a:ext cx="914400" cy="9144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8013680" y="19641311"/>
            <a:ext cx="10104119" cy="204825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EXECUTION AGREEMENT  ·  OUR ENHANCEMENT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How many different queries return the same result (0–4)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2494240" y="21762720"/>
            <a:ext cx="0" cy="54864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16733520" y="22357080"/>
            <a:ext cx="11521440" cy="201168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gauge_oran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6962120" y="22905720"/>
            <a:ext cx="914400" cy="9144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8013680" y="22430231"/>
            <a:ext cx="10104119" cy="186537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CONFIDENT ENOUGH?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Agreement vs a threshold calibrated on Spider (strictness mode)</a:t>
            </a:r>
          </a:p>
        </p:txBody>
      </p:sp>
      <p:cxnSp>
        <p:nvCxnSpPr>
          <p:cNvPr id="107" name="Connector 106"/>
          <p:cNvCxnSpPr/>
          <p:nvPr/>
        </p:nvCxnSpPr>
        <p:spPr>
          <a:xfrm flipH="1">
            <a:off x="18928080" y="24368760"/>
            <a:ext cx="1280160" cy="6400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17190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2E7D32"/>
                </a:solidFill>
                <a:latin typeface="Arial"/>
              </a:rPr>
              <a:t>yes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24780240" y="24368760"/>
            <a:ext cx="1280160" cy="64008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26334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C98A00"/>
                </a:solidFill>
                <a:latin typeface="Arial"/>
              </a:rPr>
              <a:t>no → ask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572768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chart-column_gree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956280" y="25786080"/>
            <a:ext cx="914400" cy="9144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17007839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ANSWER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Table + automatic chart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SQL + “N of 4 agree”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286000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circle-help_oran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3088600" y="25786080"/>
            <a:ext cx="914400" cy="9144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24140160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“DID YOU MEAN…?”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No guess: shows the different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readings to choose from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591056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655064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>
                <a:solidFill>
                  <a:srgbClr val="1F2937"/>
                </a:solidFill>
                <a:latin typeface="Arial"/>
              </a:rPr>
              <a:t>Reproduced from CodeS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57400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121408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>
                <a:solidFill>
                  <a:srgbClr val="1F2937"/>
                </a:solidFill>
                <a:latin typeface="Arial"/>
              </a:rPr>
              <a:t>Our enhancement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23744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587752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>
                <a:solidFill>
                  <a:srgbClr val="1F2937"/>
                </a:solidFill>
                <a:latin typeface="Arial"/>
              </a:rPr>
              <a:t>Application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727680" y="28575000"/>
            <a:ext cx="13533119" cy="7315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100" b="1" i="0" u="none">
                <a:solidFill>
                  <a:srgbClr val="002060"/>
                </a:solidFill>
                <a:latin typeface="Arial"/>
              </a:rPr>
              <a:t>Desktop app (macOS · Windows) · runs locally on open weights</a:t>
            </a:r>
          </a:p>
        </p:txBody>
      </p:sp>
      <p:pic>
        <p:nvPicPr>
          <p:cNvPr id="124" name="Picture 123" descr="chart_reproduction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0080" y="30678120"/>
            <a:ext cx="6309360" cy="3984859"/>
          </a:xfrm>
          <a:prstGeom prst="rect">
            <a:avLst/>
          </a:prstGeom>
        </p:spPr>
      </p:pic>
      <p:pic>
        <p:nvPicPr>
          <p:cNvPr id="125" name="Picture 124" descr="chart_enhancement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086600" y="30678120"/>
            <a:ext cx="6309360" cy="3984859"/>
          </a:xfrm>
          <a:prstGeom prst="rect">
            <a:avLst/>
          </a:prstGeom>
        </p:spPr>
      </p:pic>
      <p:pic>
        <p:nvPicPr>
          <p:cNvPr id="126" name="Picture 125" descr="chart_wrong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0080" y="34754418"/>
            <a:ext cx="6309360" cy="3984859"/>
          </a:xfrm>
          <a:prstGeom prst="rect">
            <a:avLst/>
          </a:prstGeom>
        </p:spPr>
      </p:pic>
      <p:pic>
        <p:nvPicPr>
          <p:cNvPr id="127" name="Picture 126" descr="chart_calibration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86600" y="34754418"/>
            <a:ext cx="6309360" cy="3984859"/>
          </a:xfrm>
          <a:prstGeom prst="rect">
            <a:avLst/>
          </a:prstGeom>
        </p:spPr>
      </p:pic>
      <p:sp>
        <p:nvSpPr>
          <p:cNvPr id="128" name="Rounded Rectangle 127"/>
          <p:cNvSpPr/>
          <p:nvPr/>
        </p:nvSpPr>
        <p:spPr>
          <a:xfrm>
            <a:off x="13578840" y="30678120"/>
            <a:ext cx="4434840" cy="8061157"/>
          </a:xfrm>
          <a:prstGeom prst="roundRect">
            <a:avLst>
              <a:gd name="adj" fmla="val 4000"/>
            </a:avLst>
          </a:prstGeom>
          <a:solidFill>
            <a:srgbClr val="FFF7E6"/>
          </a:solidFill>
          <a:ln w="254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3670280" y="30769560"/>
            <a:ext cx="4251959" cy="1463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 u="none">
                <a:solidFill>
                  <a:srgbClr val="0070C0"/>
                </a:solidFill>
                <a:latin typeface="Arial"/>
              </a:rPr>
              <a:t>77.8%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 u="none">
                <a:solidFill>
                  <a:srgbClr val="1F2937"/>
                </a:solidFill>
                <a:latin typeface="Arial"/>
              </a:rPr>
              <a:t>Spider EX (paper 77.9%)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3670280" y="32345215"/>
            <a:ext cx="4251959" cy="1463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 u="none">
                <a:solidFill>
                  <a:srgbClr val="0070C0"/>
                </a:solidFill>
                <a:latin typeface="Arial"/>
              </a:rPr>
              <a:t>69.5%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 u="none">
                <a:solidFill>
                  <a:srgbClr val="1F2937"/>
                </a:solidFill>
                <a:latin typeface="Arial"/>
              </a:rPr>
              <a:t>Spider-Realistic (paper 70.9%)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3670280" y="33920871"/>
            <a:ext cx="4251959" cy="1463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 u="none">
                <a:solidFill>
                  <a:srgbClr val="0070C0"/>
                </a:solidFill>
                <a:latin typeface="Arial"/>
              </a:rPr>
              <a:t>83.3%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 u="none">
                <a:solidFill>
                  <a:srgbClr val="1F2937"/>
                </a:solidFill>
                <a:latin typeface="Arial"/>
              </a:rPr>
              <a:t>correct when it answers (vs 77.8%)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3670280" y="35496526"/>
            <a:ext cx="4251959" cy="1463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 u="none">
                <a:solidFill>
                  <a:srgbClr val="0070C0"/>
                </a:solidFill>
                <a:latin typeface="Arial"/>
              </a:rPr>
              <a:t>−32%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 u="none">
                <a:solidFill>
                  <a:srgbClr val="1F2937"/>
                </a:solidFill>
                <a:latin typeface="Arial"/>
              </a:rPr>
              <a:t>wrong answers (230 → 156)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670280" y="37072182"/>
            <a:ext cx="4251959" cy="1463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 u="none">
                <a:solidFill>
                  <a:srgbClr val="0070C0"/>
                </a:solidFill>
                <a:latin typeface="Arial"/>
              </a:rPr>
              <a:t>p &lt; 10⁻⁹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 u="none">
                <a:solidFill>
                  <a:srgbClr val="1F2937"/>
                </a:solidFill>
                <a:latin typeface="Arial"/>
              </a:rPr>
              <a:t>paired t-test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0080" y="38876437"/>
            <a:ext cx="17373600" cy="295736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75"/>
              </a:spcAft>
            </a:pPr>
            <a:r>
              <a:rPr sz="2500" b="1" i="0" u="none">
                <a:solidFill>
                  <a:srgbClr val="1F2937"/>
                </a:solidFill>
                <a:latin typeface="Arial"/>
              </a:rPr>
              <a:t>Significant: </a:t>
            </a:r>
            <a:r>
              <a:rPr sz="2500" b="0" i="0" u="none">
                <a:solidFill>
                  <a:srgbClr val="1F2937"/>
                </a:solidFill>
                <a:latin typeface="Arial"/>
              </a:rPr>
              <a:t>paired t-test p = 7.7×10⁻¹⁰, Wilcoxon p = 9.8×10⁻⁴, bootstrap 95% CI +4.5 to +6.7 points.</a:t>
            </a:r>
          </a:p>
          <a:p>
            <a:pPr algn="l">
              <a:spcBef>
                <a:spcPts val="0"/>
              </a:spcBef>
              <a:spcAft>
                <a:spcPts val="375"/>
              </a:spcAft>
            </a:pPr>
            <a:r>
              <a:rPr sz="2500" b="1" i="0" u="none">
                <a:solidFill>
                  <a:srgbClr val="1F2937"/>
                </a:solidFill>
                <a:latin typeface="Arial"/>
              </a:rPr>
              <a:t>Robust: </a:t>
            </a:r>
            <a:r>
              <a:rPr sz="2500" b="0" i="0" u="none">
                <a:solidFill>
                  <a:srgbClr val="1F2937"/>
                </a:solidFill>
                <a:latin typeface="Arial"/>
              </a:rPr>
              <a:t>counting each different query only once, accuracy at 90% coverage is still 83.5%.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8196560" y="30678120"/>
            <a:ext cx="6629400" cy="11109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8288000" y="30769560"/>
            <a:ext cx="6446520" cy="109270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[1]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Li, H., et al. (2024). CodeS: Towards building open-source language models for text-to-SQL. arXiv:2402.16347.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[2]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Yu, T., et al. (2018). Spider: A large-scale human-labeled dataset for complex and cross-domain semantic parsing and text-to-SQL task. arXiv:1809.08887.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[3]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Deng, X., et al. (2020). Structure-grounded pretraining for text-to-SQL. arXiv:2010.12773.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[4]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Li, J., et al. (2023). Can LLM already serve as a database interface? A big bench for large-scale database grounded text-to-SQLs. arXiv:2305.03111.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[5]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Pourreza, M., &amp; Rafiei, D. (2023). DIN-SQL: Decomposed in-context learning of text-to-SQL with self-correction. arXiv:2304.11015.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[6]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Wang, X., et al. (2022). Self-consistency improves chain of thought reasoning in language models. arXiv:2203.11171.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[7]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Geifman, Y., &amp; El-Yaniv, R. (2017). Selective classification for deep neural networks. arXiv:1705.08500.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[8]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Zhong, R., Yu, T., &amp; Klein, D. (2020). Semantic evaluation for text-to-SQL with distilled test suites. arXiv:2010.02840.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5008839" y="30678120"/>
            <a:ext cx="4617720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5100280" y="30769560"/>
            <a:ext cx="4434840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500" b="0" i="0" u="none">
                <a:solidFill>
                  <a:srgbClr val="1F2937"/>
                </a:solidFill>
                <a:latin typeface="Arial"/>
              </a:rPr>
              <a:t>M Parameswar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4B5563"/>
                </a:solidFill>
                <a:latin typeface="Arial"/>
              </a:rPr>
              <a:t>Associate Professor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Team 18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100" b="1" i="0" u="none">
                <a:solidFill>
                  <a:srgbClr val="4B5563"/>
                </a:solidFill>
                <a:latin typeface="Arial"/>
              </a:rPr>
              <a:t>2320090050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1F2937"/>
                </a:solidFill>
                <a:latin typeface="Arial"/>
              </a:rPr>
              <a:t>N V V S S Jayakanth Kamisetti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100" b="1" i="0" u="none">
                <a:solidFill>
                  <a:srgbClr val="4B5563"/>
                </a:solidFill>
                <a:latin typeface="Arial"/>
              </a:rPr>
              <a:t>2320090009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1F2937"/>
                </a:solidFill>
                <a:latin typeface="Arial"/>
              </a:rPr>
              <a:t>Boddupally Narendar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100" b="1" i="0" u="none">
                <a:solidFill>
                  <a:srgbClr val="4B5563"/>
                </a:solidFill>
                <a:latin typeface="Arial"/>
              </a:rPr>
              <a:t>2320090018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1F2937"/>
                </a:solidFill>
                <a:latin typeface="Arial"/>
              </a:rPr>
              <a:t>M Praneeth Reddy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5008839" y="36027360"/>
            <a:ext cx="461772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Future Work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5008839" y="36896040"/>
            <a:ext cx="4617720" cy="4892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• CodeS-3B and more, more diverse candidate queries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• Real-world databases (BIRD)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• A platform for any database (Spark, Snowflake, NoSQL) with access control</a:t>
            </a:r>
          </a:p>
        </p:txBody>
      </p:sp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649</TotalTime>
  <Words>41</Words>
  <Application>Microsoft Macintosh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14</cp:revision>
  <dcterms:created xsi:type="dcterms:W3CDTF">2026-10-01T03:51:11Z</dcterms:created>
  <dcterms:modified xsi:type="dcterms:W3CDTF">2026-10-08T04:27:16Z</dcterms:modified>
</cp:coreProperties>
</file>
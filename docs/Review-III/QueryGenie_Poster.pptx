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8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9FC"/>
    <a:srgbClr val="F867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>
        <p:scale>
          <a:sx n="31" d="100"/>
          <a:sy n="31" d="100"/>
        </p:scale>
        <p:origin x="2056" y="-1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9781CB-E638-AC4E-B8EC-984A76828676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EFC2D9-C6F9-D446-8B89-26818FEE0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102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0CMx140CM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623691" y="7585962"/>
            <a:ext cx="14299153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Introduction or Abstract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636211" y="18518420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Objectives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5" hasCustomPrompt="1"/>
          </p:nvPr>
        </p:nvSpPr>
        <p:spPr>
          <a:xfrm>
            <a:off x="15353328" y="6884938"/>
            <a:ext cx="14287682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Proposed Methodology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15353328" y="7585962"/>
            <a:ext cx="1428768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7" hasCustomPrompt="1"/>
          </p:nvPr>
        </p:nvSpPr>
        <p:spPr>
          <a:xfrm>
            <a:off x="629167" y="31830857"/>
            <a:ext cx="1428375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 References</a:t>
            </a:r>
          </a:p>
        </p:txBody>
      </p:sp>
      <p:sp>
        <p:nvSpPr>
          <p:cNvPr id="28" name="Text Placeholder 3"/>
          <p:cNvSpPr>
            <a:spLocks noGrp="1"/>
          </p:cNvSpPr>
          <p:nvPr>
            <p:ph type="body" sz="quarter" idx="28" hasCustomPrompt="1"/>
          </p:nvPr>
        </p:nvSpPr>
        <p:spPr>
          <a:xfrm>
            <a:off x="623691" y="32586238"/>
            <a:ext cx="14289232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29" hasCustomPrompt="1"/>
          </p:nvPr>
        </p:nvSpPr>
        <p:spPr>
          <a:xfrm>
            <a:off x="15364404" y="36583483"/>
            <a:ext cx="14276605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Team Details</a:t>
            </a:r>
          </a:p>
        </p:txBody>
      </p:sp>
      <p:sp>
        <p:nvSpPr>
          <p:cNvPr id="30" name="Text Placeholder 3"/>
          <p:cNvSpPr>
            <a:spLocks noGrp="1"/>
          </p:cNvSpPr>
          <p:nvPr>
            <p:ph type="body" sz="quarter" idx="30" hasCustomPrompt="1"/>
          </p:nvPr>
        </p:nvSpPr>
        <p:spPr>
          <a:xfrm>
            <a:off x="15353329" y="37358864"/>
            <a:ext cx="14283756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60" name="Text Placeholder 3"/>
          <p:cNvSpPr>
            <a:spLocks noGrp="1"/>
          </p:cNvSpPr>
          <p:nvPr>
            <p:ph type="body" sz="quarter" idx="96" hasCustomPrompt="1"/>
          </p:nvPr>
        </p:nvSpPr>
        <p:spPr>
          <a:xfrm>
            <a:off x="623691" y="19275662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  <p:sp>
        <p:nvSpPr>
          <p:cNvPr id="76" name="Text Placeholder 76"/>
          <p:cNvSpPr>
            <a:spLocks noGrp="1"/>
          </p:cNvSpPr>
          <p:nvPr>
            <p:ph type="body" sz="quarter" idx="150" hasCustomPrompt="1"/>
          </p:nvPr>
        </p:nvSpPr>
        <p:spPr>
          <a:xfrm>
            <a:off x="4090899" y="4110875"/>
            <a:ext cx="22093415" cy="1087559"/>
          </a:xfrm>
          <a:prstGeom prst="rect">
            <a:avLst/>
          </a:prstGeom>
        </p:spPr>
        <p:txBody>
          <a:bodyPr lIns="77349" tIns="38675" rIns="77349" bIns="38675">
            <a:normAutofit/>
          </a:bodyPr>
          <a:lstStyle>
            <a:lvl1pPr marL="0" indent="0" algn="ctr">
              <a:buFontTx/>
              <a:buNone/>
              <a:defRPr sz="54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affiliations</a:t>
            </a:r>
          </a:p>
        </p:txBody>
      </p:sp>
      <p:sp>
        <p:nvSpPr>
          <p:cNvPr id="79" name="Text Placeholder 76"/>
          <p:cNvSpPr>
            <a:spLocks noGrp="1"/>
          </p:cNvSpPr>
          <p:nvPr>
            <p:ph type="body" sz="quarter" idx="151" hasCustomPrompt="1"/>
          </p:nvPr>
        </p:nvSpPr>
        <p:spPr>
          <a:xfrm>
            <a:off x="4090899" y="2558463"/>
            <a:ext cx="22093415" cy="1262156"/>
          </a:xfrm>
          <a:prstGeom prst="rect">
            <a:avLst/>
          </a:prstGeom>
        </p:spPr>
        <p:txBody>
          <a:bodyPr lIns="77349" tIns="38675" rIns="77349" bIns="38675" anchor="t" anchorCtr="1">
            <a:noAutofit/>
          </a:bodyPr>
          <a:lstStyle>
            <a:lvl1pPr marL="0" indent="0" algn="ctr">
              <a:buFontTx/>
              <a:buNone/>
              <a:defRPr sz="720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authors</a:t>
            </a:r>
          </a:p>
        </p:txBody>
      </p:sp>
      <p:sp>
        <p:nvSpPr>
          <p:cNvPr id="80" name="Text Placeholder 76"/>
          <p:cNvSpPr>
            <a:spLocks noGrp="1"/>
          </p:cNvSpPr>
          <p:nvPr>
            <p:ph type="body" sz="quarter" idx="153" hasCustomPrompt="1"/>
          </p:nvPr>
        </p:nvSpPr>
        <p:spPr>
          <a:xfrm>
            <a:off x="4090899" y="492940"/>
            <a:ext cx="22093415" cy="1775267"/>
          </a:xfrm>
          <a:prstGeom prst="rect">
            <a:avLst/>
          </a:prstGeom>
        </p:spPr>
        <p:txBody>
          <a:bodyPr lIns="77349" tIns="38675" rIns="77349" bIns="38675" anchor="t" anchorCtr="1">
            <a:normAutofit/>
          </a:bodyPr>
          <a:lstStyle>
            <a:lvl1pPr marL="0" indent="0" algn="ctr">
              <a:buFontTx/>
              <a:buNone/>
              <a:defRPr sz="9800" b="1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  <a:lvl2pPr>
              <a:buFontTx/>
              <a:buNone/>
              <a:defRPr sz="6100"/>
            </a:lvl2pPr>
            <a:lvl3pPr>
              <a:buFontTx/>
              <a:buNone/>
              <a:defRPr sz="6100"/>
            </a:lvl3pPr>
            <a:lvl4pPr>
              <a:buFontTx/>
              <a:buNone/>
              <a:defRPr sz="6100"/>
            </a:lvl4pPr>
            <a:lvl5pPr>
              <a:buFontTx/>
              <a:buNone/>
              <a:defRPr sz="6100"/>
            </a:lvl5pPr>
          </a:lstStyle>
          <a:p>
            <a:pPr lvl="0"/>
            <a:r>
              <a:rPr lang="en-US" dirty="0"/>
              <a:t>Click here to add title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A73CEEE2-ACD9-82CF-397D-77E068323C78}"/>
              </a:ext>
            </a:extLst>
          </p:cNvPr>
          <p:cNvSpPr>
            <a:spLocks noGrp="1"/>
          </p:cNvSpPr>
          <p:nvPr>
            <p:ph type="body" sz="quarter" idx="154" hasCustomPrompt="1"/>
          </p:nvPr>
        </p:nvSpPr>
        <p:spPr>
          <a:xfrm>
            <a:off x="15365848" y="24976035"/>
            <a:ext cx="14291358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(click to edit) Experimental Results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970220D-428D-0519-8D48-7EA76D1EC56E}"/>
              </a:ext>
            </a:extLst>
          </p:cNvPr>
          <p:cNvSpPr>
            <a:spLocks noGrp="1"/>
          </p:cNvSpPr>
          <p:nvPr>
            <p:ph type="body" sz="quarter" idx="155" hasCustomPrompt="1"/>
          </p:nvPr>
        </p:nvSpPr>
        <p:spPr>
          <a:xfrm>
            <a:off x="15353328" y="25733277"/>
            <a:ext cx="14300387" cy="897605"/>
          </a:xfrm>
          <a:prstGeom prst="rect">
            <a:avLst/>
          </a:prstGeom>
        </p:spPr>
        <p:txBody>
          <a:bodyPr wrap="square" lIns="223877" tIns="223877" rIns="223877" bIns="223877">
            <a:spAutoFit/>
          </a:bodyPr>
          <a:lstStyle>
            <a:lvl1pPr marL="0" indent="0">
              <a:buNone/>
              <a:defRPr sz="280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1455191" indent="-559688">
              <a:defRPr sz="2500">
                <a:latin typeface="Trebuchet MS" pitchFamily="34" charset="0"/>
              </a:defRPr>
            </a:lvl2pPr>
            <a:lvl3pPr marL="2014879" indent="-559688">
              <a:defRPr sz="2500">
                <a:latin typeface="Trebuchet MS" pitchFamily="34" charset="0"/>
              </a:defRPr>
            </a:lvl3pPr>
            <a:lvl4pPr marL="2630537" indent="-615658">
              <a:defRPr sz="2500">
                <a:latin typeface="Trebuchet MS" pitchFamily="34" charset="0"/>
              </a:defRPr>
            </a:lvl4pPr>
            <a:lvl5pPr marL="3078288" indent="-447751">
              <a:defRPr sz="2500">
                <a:latin typeface="Trebuchet MS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2471728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5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64CC4D-40CA-E106-D750-21DA993E4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03948" y="1560456"/>
            <a:ext cx="16067315" cy="203183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BC3F14C-E222-62E8-2CB0-3C8B8424E1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213" y="6884938"/>
            <a:ext cx="14287866" cy="724461"/>
          </a:xfrm>
          <a:prstGeom prst="rect">
            <a:avLst/>
          </a:prstGeom>
          <a:noFill/>
        </p:spPr>
        <p:txBody>
          <a:bodyPr wrap="square" lIns="89551" tIns="89551" rIns="89551" bIns="89551" anchor="ctr" anchorCtr="0">
            <a:spAutoFit/>
          </a:bodyPr>
          <a:lstStyle>
            <a:lvl1pPr marL="0" indent="0" algn="ctr">
              <a:buNone/>
              <a:defRPr sz="3900" b="1" u="sng" baseline="0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802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>
                    <a:tint val="82000"/>
                  </a:schemeClr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82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82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51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174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4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0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75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935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550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5599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1697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0713F-4B5C-AD41-A9C1-0EDA460603EE}" type="datetimeFigureOut">
              <a:rPr lang="en-US" smtClean="0"/>
              <a:t>10/8/26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4B3C1C-7ED1-5E4C-8A37-2117C2A4D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1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61" r:id="rId2"/>
    <p:sldLayoutId id="214748367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E24B3-6CAF-FFBF-565C-DC77E8B2EBD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40080" y="7726679"/>
            <a:ext cx="14264640" cy="4846320"/>
          </a:xfrm>
        </p:spPr>
        <p:txBody>
          <a:bodyPr wrap="square" anchor="t" lIns="73152" rIns="73152" tIns="27432" bIns="27432"/>
          <a:lstStyle/>
          <a:p>
            <a:pPr algn="l">
              <a:spcBef>
                <a:spcPts val="0"/>
              </a:spcBef>
              <a:spcAft>
                <a:spcPts val="725"/>
              </a:spcAft>
            </a:pPr>
            <a:r>
              <a:rPr sz="2900" b="0" i="0">
                <a:solidFill>
                  <a:srgbClr val="1F2937"/>
                </a:solidFill>
                <a:latin typeface="Times New Roman"/>
              </a:rPr>
              <a:t>Text-to-SQL models let people who do not know SQL ask a database questions in plain English, but they answer every question with the same confidence, so a wrong answer looks exactly like a right one. </a:t>
            </a:r>
            <a:r>
              <a:rPr sz="2900" b="1" i="0">
                <a:solidFill>
                  <a:srgbClr val="1F2937"/>
                </a:solidFill>
                <a:latin typeface="Times New Roman"/>
              </a:rPr>
              <a:t>QueryGenie</a:t>
            </a:r>
            <a:r>
              <a:rPr sz="2900" b="0" i="0">
                <a:solidFill>
                  <a:srgbClr val="1F2937"/>
                </a:solidFill>
                <a:latin typeface="Times New Roman"/>
              </a:rPr>
              <a:t> reproduces CodeS (SIGMOD 2024, arXiv:2402.16347), an open-source text-to-SQL model, and makes it say when it is unsure. We reproduce CodeS-1B to 77.8% execution accuracy on Spider (paper: 77.9%) and 69.5% on Spider-Realistic (paper: 70.9%). Our enhancement, confidence-aware abstention, runs the candidate queries the model already generates and checks whether they agree: when they don't, it asks the user instead of guessing. It answers 90.4% of questions and is right on 83.3% of them, with a third fewer wrong answers — a statistically significant gain. Everything runs locally in a desktop app, on open weights.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80ED4-BDC9-974B-CC52-F6BB7C473C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0080" y="6858000"/>
            <a:ext cx="14264640" cy="731520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78EA6-312C-ECEF-59B9-E36348719AC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40080" y="12755880"/>
            <a:ext cx="14264640" cy="731520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303FC3-EF78-0195-9E8A-80D1DD3BF3A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361920" y="6858000"/>
            <a:ext cx="14264640" cy="731520"/>
          </a:xfrm>
          <a:solidFill>
            <a:srgbClr val="C00000"/>
          </a:solidFill>
        </p:spPr>
        <p:txBody>
          <a:bodyPr/>
          <a:lstStyle/>
          <a:p>
            <a:r>
              <a:rPr sz="3900" b="1" u="sng">
                <a:solidFill>
                  <a:srgbClr val="FFFFFF"/>
                </a:solidFill>
              </a:rPr>
              <a:t>Proposed Methodology / System Architecture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7492D2A-3855-86DB-BA68-CFA9AC77BE1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5361920" y="7726679"/>
            <a:ext cx="91440" cy="914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283505F-57B0-D147-C007-1439ADEC238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40080" y="34518600"/>
            <a:ext cx="14264640" cy="731520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050C502-46E2-231E-BC5F-71BFDCE181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40080" y="35387280"/>
            <a:ext cx="14264640" cy="6400800"/>
          </a:xfrm>
        </p:spPr>
        <p:txBody>
          <a:bodyPr wrap="square" anchor="t" lIns="73152" rIns="73152" tIns="27432" bIns="27432"/>
          <a:lstStyle/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[1]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Li, H., et al. (2024). CodeS: Towards building open-source language models for text-to-SQL. arXiv:2402.16347.</a:t>
            </a:r>
            <a:endParaRPr lang="en-US"/>
          </a:p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[2]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Yu, T., et al. (2018). Spider: A large-scale human-labeled dataset for complex and cross-domain semantic parsing and text-to-SQL task. arXiv:1809.08887.</a:t>
            </a:r>
          </a:p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[3]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Deng, X., Awadallah, A. H., Meek, C., Polozov, O., Sun, H., &amp; Richardson, M. (2020). Structure-grounded pretraining for text-to-SQL. arXiv:2010.12773.</a:t>
            </a:r>
          </a:p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[4]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Li, J., et al. (2023). Can LLM already serve as a database interface? A big bench for large-scale database grounded text-to-SQLs. arXiv:2305.03111.</a:t>
            </a:r>
          </a:p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[5]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Pourreza, M., &amp; Rafiei, D. (2023). DIN-SQL: Decomposed in-context learning of text-to-SQL with self-correction. arXiv:2304.11015.</a:t>
            </a:r>
          </a:p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[6]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Wang, X., et al. (2022). Self-consistency improves chain of thought reasoning in language models. arXiv:2203.11171.</a:t>
            </a:r>
          </a:p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[7]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Geifman, Y., &amp; El-Yaniv, R. (2017). Selective classification for deep neural networks. arXiv:1705.08500.</a:t>
            </a:r>
          </a:p>
          <a:p>
            <a:pPr algn="l">
              <a:spcBef>
                <a:spcPts val="0"/>
              </a:spcBef>
              <a:spcAft>
                <a:spcPts val="660"/>
              </a:spcAft>
            </a:pPr>
            <a:r>
              <a:rPr sz="2200" b="1" i="0">
                <a:solidFill>
                  <a:srgbClr val="1F2937"/>
                </a:solidFill>
                <a:latin typeface="Times New Roman"/>
              </a:rPr>
              <a:t>[8] </a:t>
            </a:r>
            <a:r>
              <a:rPr sz="2200" b="0" i="0">
                <a:solidFill>
                  <a:srgbClr val="1F2937"/>
                </a:solidFill>
                <a:latin typeface="Times New Roman"/>
              </a:rPr>
              <a:t>Zhong, R., Yu, T., &amp; Klein, D. (2020). Semantic evaluation for text-to-SQL with distilled test suites. arXiv:2010.02840.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9D4F33-A05F-99BA-67E6-198CD7C00D9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5361920" y="37536120"/>
            <a:ext cx="14264640" cy="731520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Team Details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38FB74-198A-E802-6D4E-35526CA7C4C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5361920" y="38359080"/>
            <a:ext cx="14264640" cy="3383280"/>
          </a:xfrm>
        </p:spPr>
        <p:txBody>
          <a:bodyPr wrap="square" anchor="t" lIns="73152" rIns="73152" tIns="27432" bIns="27432"/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1" i="0">
                <a:solidFill>
                  <a:srgbClr val="1F2937"/>
                </a:solidFill>
                <a:latin typeface="Times New Roman"/>
              </a:rPr>
              <a:t>Supervisor: </a:t>
            </a:r>
            <a:r>
              <a:rPr sz="2700" b="0" i="0">
                <a:solidFill>
                  <a:srgbClr val="1F2937"/>
                </a:solidFill>
                <a:latin typeface="Times New Roman"/>
              </a:rPr>
              <a:t>M Parameswar, Associate Professor</a:t>
            </a:r>
          </a:p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1" i="0">
                <a:solidFill>
                  <a:srgbClr val="002060"/>
                </a:solidFill>
                <a:latin typeface="Times New Roman"/>
              </a:rPr>
              <a:t>Team 18</a:t>
            </a:r>
          </a:p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2320090050 – N V V S S Jayakanth Kamisetti</a:t>
            </a:r>
          </a:p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2320090009 – Boddupally Narendar</a:t>
            </a:r>
          </a:p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2320090018 – M Praneeth Reddy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8FAAD1-9D6D-0FFA-5F80-F5B6C776031C}"/>
              </a:ext>
            </a:extLst>
          </p:cNvPr>
          <p:cNvSpPr>
            <a:spLocks noGrp="1"/>
          </p:cNvSpPr>
          <p:nvPr>
            <p:ph type="body" sz="quarter" idx="96"/>
          </p:nvPr>
        </p:nvSpPr>
        <p:spPr>
          <a:xfrm>
            <a:off x="640080" y="13716000"/>
            <a:ext cx="91440" cy="9144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7E7D37-4ADD-B411-5745-64B80A6DFF3E}"/>
              </a:ext>
            </a:extLst>
          </p:cNvPr>
          <p:cNvSpPr>
            <a:spLocks noGrp="1"/>
          </p:cNvSpPr>
          <p:nvPr>
            <p:ph type="body" sz="quarter" idx="153"/>
          </p:nvPr>
        </p:nvSpPr>
        <p:spPr>
          <a:xfrm>
            <a:off x="6035040" y="1005840"/>
            <a:ext cx="19568160" cy="3108960"/>
          </a:xfrm>
        </p:spPr>
        <p:txBody>
          <a:bodyPr wrap="square" anchor="t" lIns="73152" rIns="73152" tIns="27432" bIns="27432"/>
          <a:lstStyle/>
          <a:p>
            <a:pPr algn="ctr">
              <a:spcBef>
                <a:spcPts val="0"/>
              </a:spcBef>
              <a:spcAft>
                <a:spcPts val="130"/>
              </a:spcAft>
            </a:pPr>
            <a:r>
              <a:rPr sz="10000" b="1" i="0">
                <a:solidFill>
                  <a:srgbClr val="002060"/>
                </a:solidFill>
                <a:latin typeface="Times New Roman"/>
              </a:rPr>
              <a:t>QueryGenie</a:t>
            </a:r>
          </a:p>
          <a:p>
            <a:pPr algn="ctr">
              <a:spcBef>
                <a:spcPts val="0"/>
              </a:spcBef>
              <a:spcAft>
                <a:spcPts val="130"/>
              </a:spcAft>
            </a:pPr>
            <a:r>
              <a:rPr sz="4000" b="0" i="0">
                <a:solidFill>
                  <a:srgbClr val="002060"/>
                </a:solidFill>
                <a:latin typeface="Times New Roman"/>
              </a:rPr>
              <a:t>A Self-Correcting, Confidence-Aware Natural Language to SQL Interface</a:t>
            </a:r>
          </a:p>
          <a:p>
            <a:pPr algn="ctr">
              <a:spcBef>
                <a:spcPts val="0"/>
              </a:spcBef>
              <a:spcAft>
                <a:spcPts val="130"/>
              </a:spcAft>
            </a:pPr>
            <a:r>
              <a:rPr sz="2800" b="0" i="1">
                <a:solidFill>
                  <a:srgbClr val="4B5563"/>
                </a:solidFill>
                <a:latin typeface="Times New Roman"/>
              </a:rPr>
              <a:t>Ask a database in plain English — and get told when the answer can't be trusted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1925E26-3D5F-FD61-C041-F736D92C1EDE}"/>
              </a:ext>
            </a:extLst>
          </p:cNvPr>
          <p:cNvSpPr>
            <a:spLocks noGrp="1"/>
          </p:cNvSpPr>
          <p:nvPr>
            <p:ph type="body" sz="quarter" idx="154"/>
          </p:nvPr>
        </p:nvSpPr>
        <p:spPr>
          <a:xfrm>
            <a:off x="15361920" y="19476720"/>
            <a:ext cx="14264640" cy="731520"/>
          </a:xfrm>
          <a:solidFill>
            <a:srgbClr val="C00000"/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Experimental Results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00095B5-184C-4621-241F-6E501731F4AA}"/>
              </a:ext>
            </a:extLst>
          </p:cNvPr>
          <p:cNvSpPr>
            <a:spLocks noGrp="1"/>
          </p:cNvSpPr>
          <p:nvPr>
            <p:ph type="body" sz="quarter" idx="155"/>
          </p:nvPr>
        </p:nvSpPr>
        <p:spPr>
          <a:xfrm>
            <a:off x="15361920" y="19476720"/>
            <a:ext cx="91440" cy="9144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FB54E70-3F09-D332-907A-A69C3F44B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91" y="1195278"/>
            <a:ext cx="5051364" cy="1859917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91D1E30-4CB1-0118-0883-B370DAD87939}"/>
              </a:ext>
            </a:extLst>
          </p:cNvPr>
          <p:cNvSpPr/>
          <p:nvPr/>
        </p:nvSpPr>
        <p:spPr>
          <a:xfrm>
            <a:off x="-1" y="42003496"/>
            <a:ext cx="30275213" cy="80026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tx1"/>
                </a:solidFill>
              </a:rPr>
              <a:t>Department of Computer Science and Information Technology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EA968B0-F23F-1CB8-E525-D45C1F1DD8C8}"/>
              </a:ext>
            </a:extLst>
          </p:cNvPr>
          <p:cNvGrpSpPr/>
          <p:nvPr/>
        </p:nvGrpSpPr>
        <p:grpSpPr>
          <a:xfrm>
            <a:off x="623691" y="5045569"/>
            <a:ext cx="29013394" cy="203459"/>
            <a:chOff x="5297214" y="5869884"/>
            <a:chExt cx="3874494" cy="78971"/>
          </a:xfrm>
        </p:grpSpPr>
        <p:sp>
          <p:nvSpPr>
            <p:cNvPr id="21" name="Rounded Rectangle 20">
              <a:extLst>
                <a:ext uri="{FF2B5EF4-FFF2-40B4-BE49-F238E27FC236}">
                  <a16:creationId xmlns:a16="http://schemas.microsoft.com/office/drawing/2014/main" id="{62A849BB-57EB-3B07-9045-6D992A2C1BB8}"/>
                </a:ext>
              </a:extLst>
            </p:cNvPr>
            <p:cNvSpPr/>
            <p:nvPr/>
          </p:nvSpPr>
          <p:spPr>
            <a:xfrm>
              <a:off x="5297214" y="5875283"/>
              <a:ext cx="798786" cy="73572"/>
            </a:xfrm>
            <a:prstGeom prst="round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96ABFFEB-9857-207A-093B-83A088610716}"/>
                </a:ext>
              </a:extLst>
            </p:cNvPr>
            <p:cNvSpPr/>
            <p:nvPr/>
          </p:nvSpPr>
          <p:spPr>
            <a:xfrm>
              <a:off x="6322450" y="5875283"/>
              <a:ext cx="798786" cy="73572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CABAA8FC-E2ED-F8A9-D777-1432EBA0830F}"/>
                </a:ext>
              </a:extLst>
            </p:cNvPr>
            <p:cNvSpPr/>
            <p:nvPr/>
          </p:nvSpPr>
          <p:spPr>
            <a:xfrm>
              <a:off x="7347686" y="5869884"/>
              <a:ext cx="798786" cy="73572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  <p:sp>
          <p:nvSpPr>
            <p:cNvPr id="24" name="Rounded Rectangle 23">
              <a:extLst>
                <a:ext uri="{FF2B5EF4-FFF2-40B4-BE49-F238E27FC236}">
                  <a16:creationId xmlns:a16="http://schemas.microsoft.com/office/drawing/2014/main" id="{F92808BA-82AF-3250-3679-A73FE7DAD85C}"/>
                </a:ext>
              </a:extLst>
            </p:cNvPr>
            <p:cNvSpPr/>
            <p:nvPr/>
          </p:nvSpPr>
          <p:spPr>
            <a:xfrm>
              <a:off x="8372922" y="5869884"/>
              <a:ext cx="798786" cy="73572"/>
            </a:xfrm>
            <a:prstGeom prst="round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b="1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EC58C13-E2F0-38F2-BE1B-7BB99133B9E5}"/>
              </a:ext>
            </a:extLst>
          </p:cNvPr>
          <p:cNvSpPr txBox="1"/>
          <p:nvPr/>
        </p:nvSpPr>
        <p:spPr>
          <a:xfrm>
            <a:off x="2202874" y="4405744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STUDENTS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4D8927-421D-132B-30DD-C0DECF1225BE}"/>
              </a:ext>
            </a:extLst>
          </p:cNvPr>
          <p:cNvSpPr txBox="1"/>
          <p:nvPr/>
        </p:nvSpPr>
        <p:spPr>
          <a:xfrm>
            <a:off x="9712038" y="439625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INNOVATION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A5CA1-6A1D-A450-A745-A29C2F565D5D}"/>
              </a:ext>
            </a:extLst>
          </p:cNvPr>
          <p:cNvSpPr txBox="1"/>
          <p:nvPr/>
        </p:nvSpPr>
        <p:spPr>
          <a:xfrm>
            <a:off x="17576645" y="4428013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RESEARCH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124A98-D633-909B-F752-74C8912A4A84}"/>
              </a:ext>
            </a:extLst>
          </p:cNvPr>
          <p:cNvSpPr txBox="1"/>
          <p:nvPr/>
        </p:nvSpPr>
        <p:spPr>
          <a:xfrm>
            <a:off x="25176018" y="4414407"/>
            <a:ext cx="27847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</a:rPr>
              <a:t>IMPACT</a:t>
            </a:r>
          </a:p>
        </p:txBody>
      </p:sp>
      <p:pic>
        <p:nvPicPr>
          <p:cNvPr id="27" name="Picture 26" descr="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17600" y="1143000"/>
            <a:ext cx="2945718" cy="27432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40080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graduation-ca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669280"/>
            <a:ext cx="594360" cy="594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417319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B.Tech CSIT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74820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user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1980" y="5669280"/>
            <a:ext cx="594360" cy="5943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5052059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Team 18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39735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shield-check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895" y="5669280"/>
            <a:ext cx="594360" cy="5943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716975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Confidence-aware abstention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574475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refresh-cw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11635" y="5669280"/>
            <a:ext cx="594360" cy="59436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12351715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Self-correction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239390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book-ope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376550" y="5669280"/>
            <a:ext cx="594360" cy="59436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6016630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CodeS · SIGMOD 2024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8874130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database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11290" y="5669280"/>
            <a:ext cx="594360" cy="59436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9651370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Spider benchmark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539045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monitor-smartphone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676205" y="5669280"/>
            <a:ext cx="594360" cy="59436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3316285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Desktop app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173785" y="5394960"/>
            <a:ext cx="3451860" cy="1143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9050">
            <a:solidFill>
              <a:srgbClr val="D6D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lock-keyhole_nav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10945" y="5669280"/>
            <a:ext cx="594360" cy="59436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26951025" y="5394960"/>
            <a:ext cx="2583180" cy="11430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100" b="1" i="0">
                <a:solidFill>
                  <a:srgbClr val="002060"/>
                </a:solidFill>
                <a:latin typeface="Times New Roman"/>
              </a:rPr>
              <a:t>Runs locally</a:t>
            </a:r>
          </a:p>
        </p:txBody>
      </p:sp>
      <p:sp>
        <p:nvSpPr>
          <p:cNvPr id="52" name="Oval 51"/>
          <p:cNvSpPr/>
          <p:nvPr/>
        </p:nvSpPr>
        <p:spPr>
          <a:xfrm>
            <a:off x="777240" y="13716000"/>
            <a:ext cx="713232" cy="713232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91639" y="13642848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Reproduce CodeS-1B on Spider within the ±5–10% tolerance, logging every run.</a:t>
            </a:r>
          </a:p>
        </p:txBody>
      </p:sp>
      <p:sp>
        <p:nvSpPr>
          <p:cNvPr id="54" name="Oval 53"/>
          <p:cNvSpPr/>
          <p:nvPr/>
        </p:nvSpPr>
        <p:spPr>
          <a:xfrm>
            <a:off x="777240" y="14648688"/>
            <a:ext cx="713232" cy="713232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91639" y="14575536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Ablate the CodeS pipeline to find which components matter.</a:t>
            </a:r>
          </a:p>
        </p:txBody>
      </p:sp>
      <p:sp>
        <p:nvSpPr>
          <p:cNvPr id="56" name="Oval 55"/>
          <p:cNvSpPr/>
          <p:nvPr/>
        </p:nvSpPr>
        <p:spPr>
          <a:xfrm>
            <a:off x="777240" y="15581376"/>
            <a:ext cx="713232" cy="71323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91639" y="15508224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Make the system say when it is unsure: confidence-aware abstention, tested statistically.</a:t>
            </a:r>
          </a:p>
        </p:txBody>
      </p:sp>
      <p:sp>
        <p:nvSpPr>
          <p:cNvPr id="58" name="Oval 57"/>
          <p:cNvSpPr/>
          <p:nvPr/>
        </p:nvSpPr>
        <p:spPr>
          <a:xfrm>
            <a:off x="777240" y="16514063"/>
            <a:ext cx="713232" cy="713232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91639" y="16440912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Measure the benchmark-to-reality gap on realistically worded questions.</a:t>
            </a:r>
          </a:p>
        </p:txBody>
      </p:sp>
      <p:sp>
        <p:nvSpPr>
          <p:cNvPr id="60" name="Oval 59"/>
          <p:cNvSpPr/>
          <p:nvPr/>
        </p:nvSpPr>
        <p:spPr>
          <a:xfrm>
            <a:off x="777240" y="17446752"/>
            <a:ext cx="713232" cy="713232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91639" y="17373600"/>
            <a:ext cx="13121640" cy="8686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7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Deliver a working desktop application that runs fully locally.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0080" y="18562320"/>
            <a:ext cx="14264640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900" b="1" i="0" u="sng">
                <a:solidFill>
                  <a:srgbClr val="FFFFFF"/>
                </a:solidFill>
                <a:latin typeface="Times New Roman"/>
              </a:rPr>
              <a:t>Key Innovations &amp; Contributions</a:t>
            </a:r>
          </a:p>
        </p:txBody>
      </p:sp>
      <p:pic>
        <p:nvPicPr>
          <p:cNvPr id="63" name="Picture 62" descr="shield-check_blu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59" y="19659600"/>
            <a:ext cx="868680" cy="868680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920239" y="19522440"/>
            <a:ext cx="12893040" cy="15544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800" b="1" i="0">
                <a:solidFill>
                  <a:srgbClr val="002060"/>
                </a:solidFill>
                <a:latin typeface="Times New Roman"/>
              </a:rPr>
              <a:t>Confidence-aware abstention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500" b="0" i="0">
                <a:solidFill>
                  <a:srgbClr val="1F2937"/>
                </a:solidFill>
                <a:latin typeface="Times New Roman"/>
              </a:rPr>
              <a:t>Runs every candidate query, counts how many agree, and asks “Did you mean…?” when they don't.</a:t>
            </a:r>
          </a:p>
        </p:txBody>
      </p:sp>
      <p:pic>
        <p:nvPicPr>
          <p:cNvPr id="65" name="Picture 64" descr="badge-check_blu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959" y="21259800"/>
            <a:ext cx="868680" cy="86868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920239" y="21122640"/>
            <a:ext cx="12893040" cy="15544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800" b="1" i="0">
                <a:solidFill>
                  <a:srgbClr val="002060"/>
                </a:solidFill>
                <a:latin typeface="Times New Roman"/>
              </a:rPr>
              <a:t>Faithful, audited reproduction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500" b="0" i="0">
                <a:solidFill>
                  <a:srgbClr val="1F2937"/>
                </a:solidFill>
                <a:latin typeface="Times New Roman"/>
              </a:rPr>
              <a:t>77.8% vs 77.9% with the official evaluator, after an audit that fixed our own scoring and a value-retriever bug.</a:t>
            </a:r>
          </a:p>
        </p:txBody>
      </p:sp>
      <p:pic>
        <p:nvPicPr>
          <p:cNvPr id="67" name="Picture 66" descr="refresh-cw_blu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2959" y="22860000"/>
            <a:ext cx="868680" cy="8686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1920239" y="22722840"/>
            <a:ext cx="12893040" cy="15544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800" b="1" i="0">
                <a:solidFill>
                  <a:srgbClr val="002060"/>
                </a:solidFill>
                <a:latin typeface="Times New Roman"/>
              </a:rPr>
              <a:t>Execution-guided self-correction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500" b="0" i="0">
                <a:solidFill>
                  <a:srgbClr val="1F2937"/>
                </a:solidFill>
                <a:latin typeface="Times New Roman"/>
              </a:rPr>
              <a:t>Failed queries go back to the model with the database error; measured honestly (77.76 → 77.85%).</a:t>
            </a:r>
          </a:p>
        </p:txBody>
      </p:sp>
      <p:pic>
        <p:nvPicPr>
          <p:cNvPr id="69" name="Picture 68" descr="monitor-smartphone_blu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959" y="24460200"/>
            <a:ext cx="868680" cy="86868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920239" y="24323040"/>
            <a:ext cx="12893040" cy="155448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800" b="1" i="0">
                <a:solidFill>
                  <a:srgbClr val="002060"/>
                </a:solidFill>
                <a:latin typeface="Times New Roman"/>
              </a:rPr>
              <a:t>Local desktop application</a:t>
            </a:r>
          </a:p>
          <a:p>
            <a:pPr algn="l">
              <a:spcBef>
                <a:spcPts val="0"/>
              </a:spcBef>
              <a:spcAft>
                <a:spcPts val="130"/>
              </a:spcAft>
            </a:pPr>
            <a:r>
              <a:rPr sz="2500" b="0" i="0">
                <a:solidFill>
                  <a:srgbClr val="1F2937"/>
                </a:solidFill>
                <a:latin typeface="Times New Roman"/>
              </a:rPr>
              <a:t>Chats, schema map, charts, SQLite / PostgreSQL / MySQL — schema and data never leave the computer.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0080" y="26060400"/>
            <a:ext cx="14264640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900" b="1" i="0" u="sng">
                <a:solidFill>
                  <a:srgbClr val="FFFFFF"/>
                </a:solidFill>
                <a:latin typeface="Times New Roman"/>
              </a:rPr>
              <a:t>The Application</a:t>
            </a:r>
          </a:p>
        </p:txBody>
      </p:sp>
      <p:pic>
        <p:nvPicPr>
          <p:cNvPr id="72" name="Picture 71" descr="app_answer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68880" y="26974800"/>
            <a:ext cx="10607040" cy="662940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640080" y="33695640"/>
            <a:ext cx="142646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2100" b="0" i="1">
                <a:solidFill>
                  <a:srgbClr val="4B5563"/>
                </a:solidFill>
                <a:latin typeface="Times New Roman"/>
              </a:rPr>
              <a:t>A confident answer: all four candidate queries agree, so QueryGenie shows the table and a chart.</a:t>
            </a:r>
          </a:p>
        </p:txBody>
      </p:sp>
      <p:pic>
        <p:nvPicPr>
          <p:cNvPr id="74" name="Picture 73" descr="final_pipelin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361920" y="7726679"/>
            <a:ext cx="14264640" cy="7667244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15361920" y="15622524"/>
            <a:ext cx="142646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500" b="1" i="0">
                <a:solidFill>
                  <a:srgbClr val="002060"/>
                </a:solidFill>
                <a:latin typeface="Times New Roman"/>
              </a:rPr>
              <a:t>Datasets — all from Hugging Face (approved source; no Kaggle)</a:t>
            </a:r>
          </a:p>
        </p:txBody>
      </p:sp>
      <p:graphicFrame>
        <p:nvGraphicFramePr>
          <p:cNvPr id="76" name="Table 75"/>
          <p:cNvGraphicFramePr>
            <a:graphicFrameLocks noGrp="1"/>
          </p:cNvGraphicFramePr>
          <p:nvPr/>
        </p:nvGraphicFramePr>
        <p:xfrm>
          <a:off x="15361920" y="16216884"/>
          <a:ext cx="142646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7760"/>
                <a:gridCol w="3108960"/>
                <a:gridCol w="6217920"/>
              </a:tblGrid>
              <a:tr h="54864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Set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Questions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</a:rPr>
                        <a:t>Used for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Spider dev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1,034 · 20 databases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Reproduction, ablation, enhancement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Spider-Realistic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508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Realistic wording (no column names)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BIRD Mini-Dev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500 · 11 databases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F2937"/>
                          </a:solidFill>
                          <a:latin typeface="Times New Roman"/>
                        </a:rPr>
                        <a:t>Real-world databases (set up; future work)</a:t>
                      </a:r>
                    </a:p>
                  </a:txBody>
                  <a:tcPr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pic>
        <p:nvPicPr>
          <p:cNvPr id="77" name="Picture 76" descr="chart_reproduction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361920" y="20345400"/>
            <a:ext cx="7040880" cy="4446872"/>
          </a:xfrm>
          <a:prstGeom prst="rect">
            <a:avLst/>
          </a:prstGeom>
        </p:spPr>
      </p:pic>
      <p:pic>
        <p:nvPicPr>
          <p:cNvPr id="78" name="Picture 77" descr="chart_enhancement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2585680" y="20345400"/>
            <a:ext cx="7040880" cy="4446872"/>
          </a:xfrm>
          <a:prstGeom prst="rect">
            <a:avLst/>
          </a:prstGeom>
        </p:spPr>
      </p:pic>
      <p:pic>
        <p:nvPicPr>
          <p:cNvPr id="79" name="Picture 78" descr="chart_wrong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361920" y="24929431"/>
            <a:ext cx="7040880" cy="4446872"/>
          </a:xfrm>
          <a:prstGeom prst="rect">
            <a:avLst/>
          </a:prstGeom>
        </p:spPr>
      </p:pic>
      <p:pic>
        <p:nvPicPr>
          <p:cNvPr id="80" name="Picture 79" descr="chart_calibration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585680" y="24929431"/>
            <a:ext cx="7040880" cy="4446872"/>
          </a:xfrm>
          <a:prstGeom prst="rect">
            <a:avLst/>
          </a:prstGeom>
        </p:spPr>
      </p:pic>
      <p:sp>
        <p:nvSpPr>
          <p:cNvPr id="81" name="Rounded Rectangle 80"/>
          <p:cNvSpPr/>
          <p:nvPr/>
        </p:nvSpPr>
        <p:spPr>
          <a:xfrm>
            <a:off x="15361920" y="29604903"/>
            <a:ext cx="14264640" cy="3840480"/>
          </a:xfrm>
          <a:prstGeom prst="roundRect">
            <a:avLst>
              <a:gd name="adj" fmla="val 6000"/>
            </a:avLst>
          </a:prstGeom>
          <a:solidFill>
            <a:srgbClr val="FFF7E6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5590520" y="29696343"/>
            <a:ext cx="13807440" cy="3749039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324"/>
              </a:spcAft>
            </a:pPr>
            <a:r>
              <a:rPr sz="2800" b="1" i="0">
                <a:solidFill>
                  <a:srgbClr val="002060"/>
                </a:solidFill>
                <a:latin typeface="Times New Roman"/>
              </a:rPr>
              <a:t>Key results</a:t>
            </a:r>
          </a:p>
          <a:p>
            <a:pPr algn="l">
              <a:spcBef>
                <a:spcPts val="0"/>
              </a:spcBef>
              <a:spcAft>
                <a:spcPts val="324"/>
              </a:spcAft>
            </a:pPr>
            <a:r>
              <a:rPr sz="2700" b="1" i="0">
                <a:solidFill>
                  <a:srgbClr val="1F2937"/>
                </a:solidFill>
                <a:latin typeface="Times New Roman"/>
              </a:rPr>
              <a:t>Reproduced: </a:t>
            </a:r>
            <a:r>
              <a:rPr sz="2700" b="0" i="0">
                <a:solidFill>
                  <a:srgbClr val="1F2937"/>
                </a:solidFill>
                <a:latin typeface="Times New Roman"/>
              </a:rPr>
              <a:t>77.8% EX on Spider (paper 77.9%), 69.5% on Spider-Realistic (paper 70.9%) — within tolerance.</a:t>
            </a:r>
          </a:p>
          <a:p>
            <a:pPr algn="l">
              <a:spcBef>
                <a:spcPts val="0"/>
              </a:spcBef>
              <a:spcAft>
                <a:spcPts val="324"/>
              </a:spcAft>
            </a:pPr>
            <a:r>
              <a:rPr sz="2700" b="1" i="0">
                <a:solidFill>
                  <a:srgbClr val="1F2937"/>
                </a:solidFill>
                <a:latin typeface="Times New Roman"/>
              </a:rPr>
              <a:t>Enhanced: </a:t>
            </a:r>
            <a:r>
              <a:rPr sz="2700" b="0" i="0">
                <a:solidFill>
                  <a:srgbClr val="1F2937"/>
                </a:solidFill>
                <a:latin typeface="Times New Roman"/>
              </a:rPr>
              <a:t>answers 90.4% of questions, correct on 83.3% (vs 77.8%); wrong answers 230 → 156.</a:t>
            </a:r>
          </a:p>
          <a:p>
            <a:pPr algn="l">
              <a:spcBef>
                <a:spcPts val="0"/>
              </a:spcBef>
              <a:spcAft>
                <a:spcPts val="324"/>
              </a:spcAft>
            </a:pPr>
            <a:r>
              <a:rPr sz="2700" b="1" i="0">
                <a:solidFill>
                  <a:srgbClr val="1F2937"/>
                </a:solidFill>
                <a:latin typeface="Times New Roman"/>
              </a:rPr>
              <a:t>Significant: </a:t>
            </a:r>
            <a:r>
              <a:rPr sz="2700" b="0" i="0">
                <a:solidFill>
                  <a:srgbClr val="1F2937"/>
                </a:solidFill>
                <a:latin typeface="Times New Roman"/>
              </a:rPr>
              <a:t>paired t-test p = 7.7×10⁻¹⁰, Wilcoxon p = 9.8×10⁻⁴, bootstrap 95% CI +4.5 to +6.7 pts.</a:t>
            </a:r>
          </a:p>
          <a:p>
            <a:pPr algn="l">
              <a:spcBef>
                <a:spcPts val="0"/>
              </a:spcBef>
              <a:spcAft>
                <a:spcPts val="324"/>
              </a:spcAft>
            </a:pPr>
            <a:r>
              <a:rPr sz="2700" b="1" i="0">
                <a:solidFill>
                  <a:srgbClr val="1F2937"/>
                </a:solidFill>
                <a:latin typeface="Times New Roman"/>
              </a:rPr>
              <a:t>Robust: </a:t>
            </a:r>
            <a:r>
              <a:rPr sz="2700" b="0" i="0">
                <a:solidFill>
                  <a:srgbClr val="1F2937"/>
                </a:solidFill>
                <a:latin typeface="Times New Roman"/>
              </a:rPr>
              <a:t>counting each different query once, it still reaches 83.5% at 90% coverage.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5361920" y="33673983"/>
            <a:ext cx="14264640" cy="73152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900" b="1" i="0" u="sng">
                <a:solidFill>
                  <a:srgbClr val="FFFFFF"/>
                </a:solidFill>
                <a:latin typeface="Times New Roman"/>
              </a:rPr>
              <a:t>Conclusion &amp; Future Work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361920" y="34542663"/>
            <a:ext cx="14264640" cy="3108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Bef>
                <a:spcPts val="0"/>
              </a:spcBef>
              <a:spcAft>
                <a:spcPts val="405"/>
              </a:spcAft>
            </a:pPr>
            <a:r>
              <a:rPr sz="2700" b="0" i="0">
                <a:solidFill>
                  <a:srgbClr val="1F2937"/>
                </a:solidFill>
                <a:latin typeface="Times New Roman"/>
              </a:rPr>
              <a:t>CodeS reproduced within 0.1 points; abstention makes its answers more trustworthy, running locally.</a:t>
            </a:r>
          </a:p>
          <a:p>
            <a:pPr algn="l">
              <a:spcBef>
                <a:spcPts val="0"/>
              </a:spcBef>
              <a:spcAft>
                <a:spcPts val="405"/>
              </a:spcAft>
            </a:pPr>
            <a:r>
              <a:rPr sz="2700" b="1" i="0">
                <a:solidFill>
                  <a:srgbClr val="1F2937"/>
                </a:solidFill>
                <a:latin typeface="Times New Roman"/>
              </a:rPr>
              <a:t>Next: </a:t>
            </a:r>
            <a:r>
              <a:rPr sz="2700" b="0" i="0">
                <a:solidFill>
                  <a:srgbClr val="1F2937"/>
                </a:solidFill>
                <a:latin typeface="Times New Roman"/>
              </a:rPr>
              <a:t>CodeS-3B and more, more diverse candidate queries; then a platform that plugs into any database (Spark, Snowflake, NoSQL via a SQL gateway) with access control.</a:t>
            </a:r>
          </a:p>
        </p:txBody>
      </p:sp>
    </p:spTree>
    <p:extLst>
      <p:ext uri="{BB962C8B-B14F-4D97-AF65-F5344CB8AC3E}">
        <p14:creationId xmlns:p14="http://schemas.microsoft.com/office/powerpoint/2010/main" val="21378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649</TotalTime>
  <Words>41</Words>
  <Application>Microsoft Macintosh PowerPoint</Application>
  <PresentationFormat>Custom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Trebuchet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Dr. Jagan Mohan Reddy D</dc:creator>
  <cp:lastModifiedBy>Dr. Jagan Mohan Reddy D</cp:lastModifiedBy>
  <cp:revision>14</cp:revision>
  <dcterms:created xsi:type="dcterms:W3CDTF">2026-10-01T03:51:11Z</dcterms:created>
  <dcterms:modified xsi:type="dcterms:W3CDTF">2026-10-08T04:27:16Z</dcterms:modified>
</cp:coreProperties>
</file>
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>
        <p:scale>
          <a:sx n="31" d="100"/>
          <a:sy n="31" d="100"/>
        </p:scale>
        <p:origin x="2056" y="-1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0080" y="7726679"/>
            <a:ext cx="14264640" cy="4846320"/>
          </a:xfrm>
        </p:spPr>
        <p:txBody>
          <a:bodyPr wrap="square" anchor="t" lIns="73152" rIns="73152" tIns="27432" bIns="27432"/>
          <a:lstStyle/>
          <a:p>
            <a:pPr algn="l">
              <a:spcBef>
                <a:spcPts val="0"/>
              </a:spcBef>
              <a:spcAft>
                <a:spcPts val="725"/>
              </a:spcAft>
            </a:pPr>
            <a:r>
              <a:rPr sz="2900" b="0" i="0">
                <a:solidFill>
                  <a:srgbClr val="1F2937"/>
                </a:solidFill>
                <a:latin typeface="Times New Roman"/>
              </a:rPr>
              <a:t>Text-to-SQL models let people who do not know SQL ask a database questions in plain English, but they answer every question with the same confidence, so a wrong answer looks exactly like a right one. </a:t>
            </a:r>
            <a:r>
              <a:rPr sz="2900" b="1" i="0">
                <a:solidFill>
                  <a:srgbClr val="1F2937"/>
                </a:solidFill>
                <a:latin typeface="Times New Roman"/>
              </a:rPr>
              <a:t>QueryGenie</a:t>
            </a:r>
            <a:r>
              <a:rPr sz="2900" b="0" i="0">
                <a:solidFill>
                  <a:srgbClr val="1F2937"/>
                </a:solidFill>
                <a:latin typeface="Times New Roman"/>
              </a:rPr>
              <a:t> reproduces CodeS (SIGMOD 2024, arXiv:2402.16347), an open-source text-to-SQL model, and makes it say when it is unsure. We reproduce CodeS-1B to 77.8% execution accuracy on Spider (paper: 77.9%) and 69.5% on Spider-Realistic (paper: 70.9%). Our enhancement, confidence-aware abstention, runs the candidate queries the model already generates and checks whether they agree: when they don't, it asks the user instead of guessing. It answers 90.4% of questions and is right on 83.3% of them, with a third fewer wrong answers — a statistically significant gain. Everything runs locally in a desktop app, on open weights.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0080" y="6858000"/>
            <a:ext cx="14264640" cy="731520"/>
          </a:xfrm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080" y="12755880"/>
            <a:ext cx="14264640" cy="731520"/>
          </a:xfrm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5361920" y="6858000"/>
            <a:ext cx="14264640" cy="731520"/>
          </a:xfrm>
          <a:solidFill>
            <a:srgbClr val="C00000"/>
          </a:solidFill>
        </p:spPr>
        <p:txBody>
          <a:bodyPr/>
          <a:lstStyle/>
          <a:p>
            <a:r>
              <a:rPr sz="3900" b="1" u="sng">
                <a:solidFill>
                  <a:srgbClr val="FFFFFF"/>
                </a:solidFill>
              </a:rPr>
              <a:t>Proposed Methodology / System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361920" y="7726679"/>
            <a:ext cx="91440" cy="914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40080" y="34518600"/>
            <a:ext cx="14264640" cy="731520"/>
          </a:xfrm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40080" y="35387280"/>
            <a:ext cx="14264640" cy="6400800"/>
          </a:xfrm>
        </p:spPr>
        <p:txBody>
          <a:bodyPr wrap="square" anchor="t" lIns="73152" rIns="73152" tIns="27432" bIns="27432"/>
          <a:lstStyle/>
          <a:p>
            <a:pPr algn="l">
              <a:spcBef>
                <a:spcPts val="0"/>
              </a:spcBef>
              <a:spcAft>
                <a:spcPts val="660"/>
              </a:spcAft>
            </a:pPr>
            <a:r>
              <a:rPr sz="2200" b="1" i="0">
                <a:solidFill>
                  <a:srgbClr val="1F2937"/>
                </a:solidFill>
                <a:latin typeface="Times New Roman"/>
              </a:rPr>
              <a:t>[1] </a:t>
            </a:r>
            <a:r>
              <a:rPr sz="2200" b="0" i="0">
                <a:solidFill>
                  <a:srgbClr val="1F2937"/>
                </a:solidFill>
                <a:latin typeface="Times New Roman"/>
              </a:rPr>
              <a:t>Li, H., et al. (2024). CodeS: Towards building open-source language models for text-to-SQL. arXiv:2402.16347.</a:t>
            </a:r>
            <a:endParaRPr lang="en-US"/>
          </a:p>
          <a:p>
            <a:pPr algn="l">
              <a:spcBef>
                <a:spcPts val="0"/>
              </a:spcBef>
              <a:spcAft>
                <a:spcPts val="660"/>
              </a:spcAft>
            </a:pPr>
            <a:r>
              <a:rPr sz="2200" b="1" i="0">
                <a:solidFill>
                  <a:srgbClr val="1F2937"/>
                </a:solidFill>
                <a:latin typeface="Times New Roman"/>
              </a:rPr>
              <a:t>[2] </a:t>
            </a:r>
            <a:r>
              <a:rPr sz="2200" b="0" i="0">
                <a:solidFill>
                  <a:srgbClr val="1F2937"/>
                </a:solidFill>
                <a:latin typeface="Times New Roman"/>
              </a:rPr>
              <a:t>Yu, T., et al. (2018). Spider: A large-scale human-labeled dataset for complex and cross-domain semantic parsing and text-to-SQL task. arXiv:1809.08887.</a:t>
            </a:r>
          </a:p>
          <a:p>
            <a:pPr algn="l">
              <a:spcBef>
                <a:spcPts val="0"/>
              </a:spcBef>
              <a:spcAft>
                <a:spcPts val="660"/>
              </a:spcAft>
            </a:pPr>
            <a:r>
              <a:rPr sz="2200" b="1" i="0">
                <a:solidFill>
                  <a:srgbClr val="1F2937"/>
                </a:solidFill>
                <a:latin typeface="Times New Roman"/>
              </a:rPr>
              <a:t>[3] </a:t>
            </a:r>
            <a:r>
              <a:rPr sz="2200" b="0" i="0">
                <a:solidFill>
                  <a:srgbClr val="1F2937"/>
                </a:solidFill>
                <a:latin typeface="Times New Roman"/>
              </a:rPr>
              <a:t>Deng, X., Awadallah, A. H., Meek, C., Polozov, O., Sun, H., &amp; Richardson, M. (2020). Structure-grounded pretraining for text-to-SQL. arXiv:2010.12773.</a:t>
            </a:r>
          </a:p>
          <a:p>
            <a:pPr algn="l">
              <a:spcBef>
                <a:spcPts val="0"/>
              </a:spcBef>
              <a:spcAft>
                <a:spcPts val="660"/>
              </a:spcAft>
            </a:pPr>
            <a:r>
              <a:rPr sz="2200" b="1" i="0">
                <a:solidFill>
                  <a:srgbClr val="1F2937"/>
                </a:solidFill>
                <a:latin typeface="Times New Roman"/>
              </a:rPr>
              <a:t>[4] </a:t>
            </a:r>
            <a:r>
              <a:rPr sz="2200" b="0" i="0">
                <a:solidFill>
                  <a:srgbClr val="1F2937"/>
                </a:solidFill>
                <a:latin typeface="Times New Roman"/>
              </a:rPr>
              <a:t>Li, J., et al. (2023). Can LLM already serve as a database interface? A big bench for large-scale database grounded text-to-SQLs. arXiv:2305.03111.</a:t>
            </a:r>
          </a:p>
          <a:p>
            <a:pPr algn="l">
              <a:spcBef>
                <a:spcPts val="0"/>
              </a:spcBef>
              <a:spcAft>
                <a:spcPts val="660"/>
              </a:spcAft>
            </a:pPr>
            <a:r>
              <a:rPr sz="2200" b="1" i="0">
                <a:solidFill>
                  <a:srgbClr val="1F2937"/>
                </a:solidFill>
                <a:latin typeface="Times New Roman"/>
              </a:rPr>
              <a:t>[5] </a:t>
            </a:r>
            <a:r>
              <a:rPr sz="2200" b="0" i="0">
                <a:solidFill>
                  <a:srgbClr val="1F2937"/>
                </a:solidFill>
                <a:latin typeface="Times New Roman"/>
              </a:rPr>
              <a:t>Pourreza, M., &amp; Rafiei, D. (2023). DIN-SQL: Decomposed in-context learning of text-to-SQL with self-correction. arXiv:2304.11015.</a:t>
            </a:r>
          </a:p>
          <a:p>
            <a:pPr algn="l">
              <a:spcBef>
                <a:spcPts val="0"/>
              </a:spcBef>
              <a:spcAft>
                <a:spcPts val="660"/>
              </a:spcAft>
            </a:pPr>
            <a:r>
              <a:rPr sz="2200" b="1" i="0">
                <a:solidFill>
                  <a:srgbClr val="1F2937"/>
                </a:solidFill>
                <a:latin typeface="Times New Roman"/>
              </a:rPr>
              <a:t>[6] </a:t>
            </a:r>
            <a:r>
              <a:rPr sz="2200" b="0" i="0">
                <a:solidFill>
                  <a:srgbClr val="1F2937"/>
                </a:solidFill>
                <a:latin typeface="Times New Roman"/>
              </a:rPr>
              <a:t>Wang, X., et al. (2022). Self-consistency improves chain of thought reasoning in language models. arXiv:2203.11171.</a:t>
            </a:r>
          </a:p>
          <a:p>
            <a:pPr algn="l">
              <a:spcBef>
                <a:spcPts val="0"/>
              </a:spcBef>
              <a:spcAft>
                <a:spcPts val="660"/>
              </a:spcAft>
            </a:pPr>
            <a:r>
              <a:rPr sz="2200" b="1" i="0">
                <a:solidFill>
                  <a:srgbClr val="1F2937"/>
                </a:solidFill>
                <a:latin typeface="Times New Roman"/>
              </a:rPr>
              <a:t>[7] </a:t>
            </a:r>
            <a:r>
              <a:rPr sz="2200" b="0" i="0">
                <a:solidFill>
                  <a:srgbClr val="1F2937"/>
                </a:solidFill>
                <a:latin typeface="Times New Roman"/>
              </a:rPr>
              <a:t>Geifman, Y., &amp; El-Yaniv, R. (2017). Selective classification for deep neural networks. arXiv:1705.08500.</a:t>
            </a:r>
          </a:p>
          <a:p>
            <a:pPr algn="l">
              <a:spcBef>
                <a:spcPts val="0"/>
              </a:spcBef>
              <a:spcAft>
                <a:spcPts val="660"/>
              </a:spcAft>
            </a:pPr>
            <a:r>
              <a:rPr sz="2200" b="1" i="0">
                <a:solidFill>
                  <a:srgbClr val="1F2937"/>
                </a:solidFill>
                <a:latin typeface="Times New Roman"/>
              </a:rPr>
              <a:t>[8] </a:t>
            </a:r>
            <a:r>
              <a:rPr sz="2200" b="0" i="0">
                <a:solidFill>
                  <a:srgbClr val="1F2937"/>
                </a:solidFill>
                <a:latin typeface="Times New Roman"/>
              </a:rPr>
              <a:t>Zhong, R., Yu, T., &amp; Klein, D. (2020). Semantic evaluation for text-to-SQL with distilled test suites. arXiv:2010.02840.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5361920" y="37536120"/>
            <a:ext cx="14264640" cy="731520"/>
          </a:xfrm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5361920" y="38359080"/>
            <a:ext cx="14264640" cy="3383280"/>
          </a:xfrm>
        </p:spPr>
        <p:txBody>
          <a:bodyPr wrap="square" anchor="t" lIns="73152" rIns="73152" tIns="27432" bIns="27432"/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1" i="0">
                <a:solidFill>
                  <a:srgbClr val="1F2937"/>
                </a:solidFill>
                <a:latin typeface="Times New Roman"/>
              </a:rPr>
              <a:t>Supervisor: </a:t>
            </a:r>
            <a:r>
              <a:rPr sz="2700" b="0" i="0">
                <a:solidFill>
                  <a:srgbClr val="1F2937"/>
                </a:solidFill>
                <a:latin typeface="Times New Roman"/>
              </a:rPr>
              <a:t>M Parameswar, Associate Professor</a:t>
            </a:r>
          </a:p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1" i="0">
                <a:solidFill>
                  <a:srgbClr val="002060"/>
                </a:solidFill>
                <a:latin typeface="Times New Roman"/>
              </a:rPr>
              <a:t>Team 18</a:t>
            </a:r>
          </a:p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2320090050 – N V V S S Jayakanth Kamisetti</a:t>
            </a:r>
          </a:p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2320090009 – Boddupally Narendar</a:t>
            </a:r>
          </a:p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2320090018 – M Praneeth Reddy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40080" y="13716000"/>
            <a:ext cx="91440" cy="91440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035040" y="1005840"/>
            <a:ext cx="19568160" cy="3108960"/>
          </a:xfrm>
        </p:spPr>
        <p:txBody>
          <a:bodyPr wrap="square" anchor="t" lIns="73152" rIns="73152" tIns="27432" bIns="27432"/>
          <a:lstStyle/>
          <a:p>
            <a:pPr algn="ctr">
              <a:spcBef>
                <a:spcPts val="0"/>
              </a:spcBef>
              <a:spcAft>
                <a:spcPts val="130"/>
              </a:spcAft>
            </a:pPr>
            <a:r>
              <a:rPr sz="10000" b="1" i="0">
                <a:solidFill>
                  <a:srgbClr val="002060"/>
                </a:solidFill>
                <a:latin typeface="Times New Roman"/>
              </a:rPr>
              <a:t>QueryGenie</a:t>
            </a:r>
          </a:p>
          <a:p>
            <a:pPr algn="ctr">
              <a:spcBef>
                <a:spcPts val="0"/>
              </a:spcBef>
              <a:spcAft>
                <a:spcPts val="130"/>
              </a:spcAft>
            </a:pPr>
            <a:r>
              <a:rPr sz="4000" b="0" i="0">
                <a:solidFill>
                  <a:srgbClr val="002060"/>
                </a:solidFill>
                <a:latin typeface="Times New Roman"/>
              </a:rPr>
              <a:t>A Self-Correcting, Confidence-Aware Natural Language to SQL Interface</a:t>
            </a:r>
          </a:p>
          <a:p>
            <a:pPr algn="ctr">
              <a:spcBef>
                <a:spcPts val="0"/>
              </a:spcBef>
              <a:spcAft>
                <a:spcPts val="130"/>
              </a:spcAft>
            </a:pPr>
            <a:r>
              <a:rPr sz="2800" b="0" i="1">
                <a:solidFill>
                  <a:srgbClr val="4B5563"/>
                </a:solidFill>
                <a:latin typeface="Times New Roman"/>
              </a:rPr>
              <a:t>Ask a database in plain English — and get told when the answer can't be trusted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xfrm>
            <a:off x="15361920" y="19476720"/>
            <a:ext cx="14264640" cy="731520"/>
          </a:xfrm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15361920" y="19476720"/>
            <a:ext cx="91440" cy="9144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EC58C13-E2F0-38F2-BE1B-7BB99133B9E5}"/>
              </a:ext>
            </a:extLst>
          </p:cNvPr>
          <p:cNvSpPr txBox="1"/>
          <p:nvPr/>
        </p:nvSpPr>
        <p:spPr>
          <a:xfrm>
            <a:off x="2202874" y="4405744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</a:rPr>
              <a:t>STUDENTS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4D8927-421D-132B-30DD-C0DECF1225BE}"/>
              </a:ext>
            </a:extLst>
          </p:cNvPr>
          <p:cNvSpPr txBox="1"/>
          <p:nvPr/>
        </p:nvSpPr>
        <p:spPr>
          <a:xfrm>
            <a:off x="9712038" y="439625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</a:rPr>
              <a:t>INNOVATION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A5CA1-6A1D-A450-A745-A29C2F565D5D}"/>
              </a:ext>
            </a:extLst>
          </p:cNvPr>
          <p:cNvSpPr txBox="1"/>
          <p:nvPr/>
        </p:nvSpPr>
        <p:spPr>
          <a:xfrm>
            <a:off x="17576645" y="4428013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</a:rPr>
              <a:t>RESEARCH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124A98-D633-909B-F752-74C8912A4A84}"/>
              </a:ext>
            </a:extLst>
          </p:cNvPr>
          <p:cNvSpPr txBox="1"/>
          <p:nvPr/>
        </p:nvSpPr>
        <p:spPr>
          <a:xfrm>
            <a:off x="25176018" y="4414407"/>
            <a:ext cx="2784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2060"/>
                </a:solidFill>
              </a:rPr>
              <a:t>IMPACT</a:t>
            </a:r>
          </a:p>
        </p:txBody>
      </p:sp>
      <p:pic>
        <p:nvPicPr>
          <p:cNvPr id="27" name="Picture 26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0" y="1143000"/>
            <a:ext cx="2945718" cy="27432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40080" y="5394960"/>
            <a:ext cx="345186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raduation-cap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69280"/>
            <a:ext cx="594360" cy="5943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417319" y="5394960"/>
            <a:ext cx="2583180" cy="11430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1" i="0">
                <a:solidFill>
                  <a:srgbClr val="002060"/>
                </a:solidFill>
                <a:latin typeface="Times New Roman"/>
              </a:rPr>
              <a:t>B.Tech CSIT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4820" y="5394960"/>
            <a:ext cx="345186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ers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1980" y="5669280"/>
            <a:ext cx="594360" cy="594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52059" y="5394960"/>
            <a:ext cx="2583180" cy="11430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1" i="0">
                <a:solidFill>
                  <a:srgbClr val="002060"/>
                </a:solidFill>
                <a:latin typeface="Times New Roman"/>
              </a:rPr>
              <a:t>Team 18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39735" y="5394960"/>
            <a:ext cx="345186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hield-chec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6895" y="5669280"/>
            <a:ext cx="594360" cy="5943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716975" y="5394960"/>
            <a:ext cx="2583180" cy="11430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1" i="0">
                <a:solidFill>
                  <a:srgbClr val="002060"/>
                </a:solidFill>
                <a:latin typeface="Times New Roman"/>
              </a:rPr>
              <a:t>Confidence-aware abstention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574475" y="5394960"/>
            <a:ext cx="345186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refresh-cw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11635" y="5669280"/>
            <a:ext cx="594360" cy="5943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2351715" y="5394960"/>
            <a:ext cx="2583180" cy="11430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1" i="0">
                <a:solidFill>
                  <a:srgbClr val="002060"/>
                </a:solidFill>
                <a:latin typeface="Times New Roman"/>
              </a:rPr>
              <a:t>Self-correction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239390" y="5394960"/>
            <a:ext cx="345186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ook-open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76550" y="5669280"/>
            <a:ext cx="594360" cy="59436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6016630" y="5394960"/>
            <a:ext cx="2583180" cy="11430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1" i="0">
                <a:solidFill>
                  <a:srgbClr val="002060"/>
                </a:solidFill>
                <a:latin typeface="Times New Roman"/>
              </a:rPr>
              <a:t>CodeS · SIGMOD 2024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874130" y="5394960"/>
            <a:ext cx="345186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atabase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11290" y="5669280"/>
            <a:ext cx="594360" cy="59436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9651370" y="5394960"/>
            <a:ext cx="2583180" cy="11430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1" i="0">
                <a:solidFill>
                  <a:srgbClr val="002060"/>
                </a:solidFill>
                <a:latin typeface="Times New Roman"/>
              </a:rPr>
              <a:t>Spider benchmark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539045" y="5394960"/>
            <a:ext cx="345186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monitor-smartphon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676205" y="5669280"/>
            <a:ext cx="594360" cy="59436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3316285" y="5394960"/>
            <a:ext cx="2583180" cy="11430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1" i="0">
                <a:solidFill>
                  <a:srgbClr val="002060"/>
                </a:solidFill>
                <a:latin typeface="Times New Roman"/>
              </a:rPr>
              <a:t>Desktop app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6173785" y="5394960"/>
            <a:ext cx="3451860" cy="1143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D6D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lock-keyhole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10945" y="5669280"/>
            <a:ext cx="594360" cy="59436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26951025" y="5394960"/>
            <a:ext cx="2583180" cy="114300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100" b="1" i="0">
                <a:solidFill>
                  <a:srgbClr val="002060"/>
                </a:solidFill>
                <a:latin typeface="Times New Roman"/>
              </a:rPr>
              <a:t>Runs locally</a:t>
            </a:r>
          </a:p>
        </p:txBody>
      </p:sp>
      <p:sp>
        <p:nvSpPr>
          <p:cNvPr id="52" name="Oval 51"/>
          <p:cNvSpPr/>
          <p:nvPr/>
        </p:nvSpPr>
        <p:spPr>
          <a:xfrm>
            <a:off x="777240" y="13716000"/>
            <a:ext cx="713232" cy="713232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91639" y="13642848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Reproduce CodeS-1B on Spider within the ±5–10% tolerance, logging every run.</a:t>
            </a:r>
          </a:p>
        </p:txBody>
      </p:sp>
      <p:sp>
        <p:nvSpPr>
          <p:cNvPr id="54" name="Oval 53"/>
          <p:cNvSpPr/>
          <p:nvPr/>
        </p:nvSpPr>
        <p:spPr>
          <a:xfrm>
            <a:off x="777240" y="14648688"/>
            <a:ext cx="713232" cy="713232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39" y="14575536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Ablate the CodeS pipeline to find which components matter.</a:t>
            </a:r>
          </a:p>
        </p:txBody>
      </p:sp>
      <p:sp>
        <p:nvSpPr>
          <p:cNvPr id="56" name="Oval 55"/>
          <p:cNvSpPr/>
          <p:nvPr/>
        </p:nvSpPr>
        <p:spPr>
          <a:xfrm>
            <a:off x="777240" y="15581376"/>
            <a:ext cx="713232" cy="713232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91639" y="15508224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Make the system say when it is unsure: confidence-aware abstention, tested statistically.</a:t>
            </a:r>
          </a:p>
        </p:txBody>
      </p:sp>
      <p:sp>
        <p:nvSpPr>
          <p:cNvPr id="58" name="Oval 57"/>
          <p:cNvSpPr/>
          <p:nvPr/>
        </p:nvSpPr>
        <p:spPr>
          <a:xfrm>
            <a:off x="777240" y="16514063"/>
            <a:ext cx="713232" cy="713232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91639" y="16440912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Measure the benchmark-to-reality gap on realistically worded questions.</a:t>
            </a:r>
          </a:p>
        </p:txBody>
      </p:sp>
      <p:sp>
        <p:nvSpPr>
          <p:cNvPr id="60" name="Oval 59"/>
          <p:cNvSpPr/>
          <p:nvPr/>
        </p:nvSpPr>
        <p:spPr>
          <a:xfrm>
            <a:off x="777240" y="17446752"/>
            <a:ext cx="713232" cy="713232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39" y="17373600"/>
            <a:ext cx="13121640" cy="868680"/>
          </a:xfrm>
          <a:prstGeom prst="rect">
            <a:avLst/>
          </a:prstGeom>
          <a:noFill/>
        </p:spPr>
        <p:txBody>
          <a:bodyPr wrap="square" anchor="ctr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7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Deliver a working desktop application that runs fully locally.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1856232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900" b="1" i="0" u="sng">
                <a:solidFill>
                  <a:srgbClr val="FFFFFF"/>
                </a:solidFill>
                <a:latin typeface="Times New Roman"/>
              </a:rPr>
              <a:t>Key Innovations &amp; Contributions</a:t>
            </a:r>
          </a:p>
        </p:txBody>
      </p:sp>
      <p:pic>
        <p:nvPicPr>
          <p:cNvPr id="63" name="Picture 62" descr="shield-check_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959" y="19659600"/>
            <a:ext cx="868680" cy="86868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920239" y="19522440"/>
            <a:ext cx="12893040" cy="15544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3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Confidence-aware abstention</a:t>
            </a:r>
          </a:p>
          <a:p>
            <a:pPr algn="l">
              <a:spcBef>
                <a:spcPts val="0"/>
              </a:spcBef>
              <a:spcAft>
                <a:spcPts val="130"/>
              </a:spcAft>
            </a:pPr>
            <a:r>
              <a:rPr sz="2500" b="0" i="0">
                <a:solidFill>
                  <a:srgbClr val="1F2937"/>
                </a:solidFill>
                <a:latin typeface="Times New Roman"/>
              </a:rPr>
              <a:t>Runs every candidate query, counts how many agree, and asks “Did you mean…?” when they don't.</a:t>
            </a:r>
          </a:p>
        </p:txBody>
      </p:sp>
      <p:pic>
        <p:nvPicPr>
          <p:cNvPr id="65" name="Picture 64" descr="badge-check_blu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2959" y="21259800"/>
            <a:ext cx="868680" cy="86868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920239" y="21122640"/>
            <a:ext cx="12893040" cy="15544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3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Faithful, audited reproduction</a:t>
            </a:r>
          </a:p>
          <a:p>
            <a:pPr algn="l">
              <a:spcBef>
                <a:spcPts val="0"/>
              </a:spcBef>
              <a:spcAft>
                <a:spcPts val="130"/>
              </a:spcAft>
            </a:pPr>
            <a:r>
              <a:rPr sz="2500" b="0" i="0">
                <a:solidFill>
                  <a:srgbClr val="1F2937"/>
                </a:solidFill>
                <a:latin typeface="Times New Roman"/>
              </a:rPr>
              <a:t>77.8% vs 77.9% with the official evaluator, after an audit that fixed our own scoring and a value-retriever bug.</a:t>
            </a:r>
          </a:p>
        </p:txBody>
      </p:sp>
      <p:pic>
        <p:nvPicPr>
          <p:cNvPr id="67" name="Picture 66" descr="refresh-cw_blu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2959" y="22860000"/>
            <a:ext cx="868680" cy="86868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920239" y="22722840"/>
            <a:ext cx="12893040" cy="15544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3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Execution-guided self-correction</a:t>
            </a:r>
          </a:p>
          <a:p>
            <a:pPr algn="l">
              <a:spcBef>
                <a:spcPts val="0"/>
              </a:spcBef>
              <a:spcAft>
                <a:spcPts val="130"/>
              </a:spcAft>
            </a:pPr>
            <a:r>
              <a:rPr sz="2500" b="0" i="0">
                <a:solidFill>
                  <a:srgbClr val="1F2937"/>
                </a:solidFill>
                <a:latin typeface="Times New Roman"/>
              </a:rPr>
              <a:t>Failed queries go back to the model with the database error; measured honestly (77.76 → 77.85%).</a:t>
            </a:r>
          </a:p>
        </p:txBody>
      </p:sp>
      <p:pic>
        <p:nvPicPr>
          <p:cNvPr id="69" name="Picture 68" descr="monitor-smartphone_blu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2959" y="24460200"/>
            <a:ext cx="868680" cy="8686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920239" y="24323040"/>
            <a:ext cx="12893040" cy="155448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130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Local desktop application</a:t>
            </a:r>
          </a:p>
          <a:p>
            <a:pPr algn="l">
              <a:spcBef>
                <a:spcPts val="0"/>
              </a:spcBef>
              <a:spcAft>
                <a:spcPts val="130"/>
              </a:spcAft>
            </a:pPr>
            <a:r>
              <a:rPr sz="2500" b="0" i="0">
                <a:solidFill>
                  <a:srgbClr val="1F2937"/>
                </a:solidFill>
                <a:latin typeface="Times New Roman"/>
              </a:rPr>
              <a:t>Chats, schema map, charts, SQLite / PostgreSQL / MySQL — schema and data never leave the computer.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26060400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900" b="1" i="0" u="sng">
                <a:solidFill>
                  <a:srgbClr val="FFFFFF"/>
                </a:solidFill>
                <a:latin typeface="Times New Roman"/>
              </a:rPr>
              <a:t>The Application</a:t>
            </a:r>
          </a:p>
        </p:txBody>
      </p:sp>
      <p:pic>
        <p:nvPicPr>
          <p:cNvPr id="72" name="Picture 71" descr="app_not_sur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8880" y="26974800"/>
            <a:ext cx="10607040" cy="66294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40080" y="33695640"/>
            <a:ext cx="1426464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ctr">
              <a:spcBef>
                <a:spcPts val="0"/>
              </a:spcBef>
              <a:spcAft>
                <a:spcPts val="650"/>
              </a:spcAft>
            </a:pPr>
            <a:r>
              <a:rPr sz="2100" b="0" i="1">
                <a:solidFill>
                  <a:srgbClr val="4B5563"/>
                </a:solidFill>
                <a:latin typeface="Times New Roman"/>
              </a:rPr>
              <a:t>The four candidate queries disagree, so QueryGenie asks which reading was meant instead of guessing.</a:t>
            </a:r>
          </a:p>
        </p:txBody>
      </p:sp>
      <p:pic>
        <p:nvPicPr>
          <p:cNvPr id="74" name="Picture 73" descr="final_pipelin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5361920" y="7726679"/>
            <a:ext cx="14264640" cy="7667244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361920" y="15622524"/>
            <a:ext cx="14264640" cy="54864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650"/>
              </a:spcAft>
            </a:pPr>
            <a:r>
              <a:rPr sz="2500" b="1" i="0">
                <a:solidFill>
                  <a:srgbClr val="002060"/>
                </a:solidFill>
                <a:latin typeface="Times New Roman"/>
              </a:rPr>
              <a:t>Datasets — all from Hugging Face (approved source; no Kaggle)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15361920" y="16216884"/>
          <a:ext cx="14264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3108960"/>
                <a:gridCol w="6217920"/>
              </a:tblGrid>
              <a:tr h="54864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imes New Roman"/>
                        </a:rPr>
                        <a:t>Set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imes New Roman"/>
                        </a:rPr>
                        <a:t>Questions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Spider 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1,034 · 20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Reproduction, ablation, enhancement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Spider-Realistic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Realistic wording (no column names)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BIRD Mini-Dev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500 · 11 databases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F2937"/>
                          </a:solidFill>
                          <a:latin typeface="Times New Roman"/>
                        </a:rPr>
                        <a:t>Real-world databases (set up; future work)</a:t>
                      </a:r>
                    </a:p>
                  </a:txBody>
                  <a:tcPr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pic>
        <p:nvPicPr>
          <p:cNvPr id="77" name="Picture 76" descr="chart_reproducti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361920" y="20345400"/>
            <a:ext cx="7040880" cy="4446872"/>
          </a:xfrm>
          <a:prstGeom prst="rect">
            <a:avLst/>
          </a:prstGeom>
        </p:spPr>
      </p:pic>
      <p:pic>
        <p:nvPicPr>
          <p:cNvPr id="78" name="Picture 77" descr="chart_enhancemen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585680" y="20345400"/>
            <a:ext cx="7040880" cy="4446872"/>
          </a:xfrm>
          <a:prstGeom prst="rect">
            <a:avLst/>
          </a:prstGeom>
        </p:spPr>
      </p:pic>
      <p:pic>
        <p:nvPicPr>
          <p:cNvPr id="79" name="Picture 78" descr="chart_wrong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361920" y="24929431"/>
            <a:ext cx="7040880" cy="4446872"/>
          </a:xfrm>
          <a:prstGeom prst="rect">
            <a:avLst/>
          </a:prstGeom>
        </p:spPr>
      </p:pic>
      <p:pic>
        <p:nvPicPr>
          <p:cNvPr id="80" name="Picture 79" descr="chart_calibratio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585680" y="24929431"/>
            <a:ext cx="7040880" cy="4446872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15361920" y="29604903"/>
            <a:ext cx="14264640" cy="384048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590520" y="29696343"/>
            <a:ext cx="13807440" cy="3749039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324"/>
              </a:spcAft>
            </a:pPr>
            <a:r>
              <a:rPr sz="2800" b="1" i="0">
                <a:solidFill>
                  <a:srgbClr val="002060"/>
                </a:solidFill>
                <a:latin typeface="Times New Roman"/>
              </a:rPr>
              <a:t>Key results</a:t>
            </a:r>
          </a:p>
          <a:p>
            <a:pPr algn="l">
              <a:spcBef>
                <a:spcPts val="0"/>
              </a:spcBef>
              <a:spcAft>
                <a:spcPts val="324"/>
              </a:spcAft>
            </a:pPr>
            <a:r>
              <a:rPr sz="2700" b="1" i="0">
                <a:solidFill>
                  <a:srgbClr val="1F2937"/>
                </a:solidFill>
                <a:latin typeface="Times New Roman"/>
              </a:rPr>
              <a:t>Reproduced: </a:t>
            </a:r>
            <a:r>
              <a:rPr sz="2700" b="0" i="0">
                <a:solidFill>
                  <a:srgbClr val="1F2937"/>
                </a:solidFill>
                <a:latin typeface="Times New Roman"/>
              </a:rPr>
              <a:t>77.8% EX on Spider (paper 77.9%), 69.5% on Spider-Realistic (paper 70.9%) — within tolerance.</a:t>
            </a:r>
          </a:p>
          <a:p>
            <a:pPr algn="l">
              <a:spcBef>
                <a:spcPts val="0"/>
              </a:spcBef>
              <a:spcAft>
                <a:spcPts val="324"/>
              </a:spcAft>
            </a:pPr>
            <a:r>
              <a:rPr sz="2700" b="1" i="0">
                <a:solidFill>
                  <a:srgbClr val="1F2937"/>
                </a:solidFill>
                <a:latin typeface="Times New Roman"/>
              </a:rPr>
              <a:t>Enhanced: </a:t>
            </a:r>
            <a:r>
              <a:rPr sz="2700" b="0" i="0">
                <a:solidFill>
                  <a:srgbClr val="1F2937"/>
                </a:solidFill>
                <a:latin typeface="Times New Roman"/>
              </a:rPr>
              <a:t>answers 90.4% of questions, correct on 83.3% (vs 77.8%); wrong answers 230 → 156.</a:t>
            </a:r>
          </a:p>
          <a:p>
            <a:pPr algn="l">
              <a:spcBef>
                <a:spcPts val="0"/>
              </a:spcBef>
              <a:spcAft>
                <a:spcPts val="324"/>
              </a:spcAft>
            </a:pPr>
            <a:r>
              <a:rPr sz="2700" b="1" i="0">
                <a:solidFill>
                  <a:srgbClr val="1F2937"/>
                </a:solidFill>
                <a:latin typeface="Times New Roman"/>
              </a:rPr>
              <a:t>Significant: </a:t>
            </a:r>
            <a:r>
              <a:rPr sz="2700" b="0" i="0">
                <a:solidFill>
                  <a:srgbClr val="1F2937"/>
                </a:solidFill>
                <a:latin typeface="Times New Roman"/>
              </a:rPr>
              <a:t>paired t-test p = 7.7×10⁻¹⁰, Wilcoxon p = 9.8×10⁻⁴, bootstrap 95% CI +4.5 to +6.7 pts.</a:t>
            </a:r>
          </a:p>
          <a:p>
            <a:pPr algn="l">
              <a:spcBef>
                <a:spcPts val="0"/>
              </a:spcBef>
              <a:spcAft>
                <a:spcPts val="324"/>
              </a:spcAft>
            </a:pPr>
            <a:r>
              <a:rPr sz="2700" b="1" i="0">
                <a:solidFill>
                  <a:srgbClr val="1F2937"/>
                </a:solidFill>
                <a:latin typeface="Times New Roman"/>
              </a:rPr>
              <a:t>Robust: </a:t>
            </a:r>
            <a:r>
              <a:rPr sz="2700" b="0" i="0">
                <a:solidFill>
                  <a:srgbClr val="1F2937"/>
                </a:solidFill>
                <a:latin typeface="Times New Roman"/>
              </a:rPr>
              <a:t>counting each different query once, it still reaches 83.5% at 90% coverage.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5361920" y="33673983"/>
            <a:ext cx="14264640" cy="731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900" b="1" i="0" u="sng">
                <a:solidFill>
                  <a:srgbClr val="FFFFFF"/>
                </a:solidFill>
                <a:latin typeface="Times New Roman"/>
              </a:rPr>
              <a:t>Conclusion &amp; Future Work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361920" y="34542663"/>
            <a:ext cx="14264640" cy="3108960"/>
          </a:xfrm>
          <a:prstGeom prst="rect">
            <a:avLst/>
          </a:prstGeom>
          <a:noFill/>
        </p:spPr>
        <p:txBody>
          <a:bodyPr wrap="square" anchor="t" lIns="73152" rIns="73152" tIns="27432" bIns="27432">
            <a:spAutoFit/>
          </a:bodyPr>
          <a:lstStyle/>
          <a:p>
            <a:pPr algn="l">
              <a:spcBef>
                <a:spcPts val="0"/>
              </a:spcBef>
              <a:spcAft>
                <a:spcPts val="405"/>
              </a:spcAft>
            </a:pPr>
            <a:r>
              <a:rPr sz="2700" b="0" i="0">
                <a:solidFill>
                  <a:srgbClr val="1F2937"/>
                </a:solidFill>
                <a:latin typeface="Times New Roman"/>
              </a:rPr>
              <a:t>CodeS reproduced within 0.1 points; abstention makes its answers more trustworthy, running locally.</a:t>
            </a:r>
          </a:p>
          <a:p>
            <a:pPr algn="l">
              <a:spcBef>
                <a:spcPts val="0"/>
              </a:spcBef>
              <a:spcAft>
                <a:spcPts val="405"/>
              </a:spcAft>
            </a:pPr>
            <a:r>
              <a:rPr sz="2700" b="1" i="0">
                <a:solidFill>
                  <a:srgbClr val="1F2937"/>
                </a:solidFill>
                <a:latin typeface="Times New Roman"/>
              </a:rPr>
              <a:t>Next: </a:t>
            </a:r>
            <a:r>
              <a:rPr sz="2700" b="0" i="0">
                <a:solidFill>
                  <a:srgbClr val="1F2937"/>
                </a:solidFill>
                <a:latin typeface="Times New Roman"/>
              </a:rPr>
              <a:t>CodeS-3B and more, more diverse candidate queries; then a platform that plugs into any database (Spark, Snowflake, NoSQL via a SQL gateway) with access control.</a:t>
            </a:r>
          </a:p>
        </p:txBody>
      </p:sp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649</TotalTime>
  <Words>41</Words>
  <Application>Microsoft Macintosh PowerPoint</Application>
  <PresentationFormat>Custom</PresentationFormat>
  <Paragraphs>16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14</cp:revision>
  <dcterms:created xsi:type="dcterms:W3CDTF">2026-10-01T03:51:11Z</dcterms:created>
  <dcterms:modified xsi:type="dcterms:W3CDTF">2026-10-08T04:27:16Z</dcterms:modified>
</cp:coreProperties>
</file>
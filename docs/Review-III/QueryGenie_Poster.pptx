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30302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96560" y="29809440"/>
            <a:ext cx="66294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5008839" y="29809440"/>
            <a:ext cx="461772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/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100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42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A Self-Correcting, Confidence-Aware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640080" y="29809440"/>
            <a:ext cx="173736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ptos"/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7680960"/>
            <a:ext cx="142646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7772400"/>
            <a:ext cx="13990319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just">
              <a:spcBef>
                <a:spcPts val="0"/>
              </a:spcBef>
              <a:spcAft>
                <a:spcPts val="775"/>
              </a:spcAft>
            </a:pPr>
            <a:r>
              <a:rPr sz="31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QueryGenie</a:t>
            </a:r>
            <a:r>
              <a:rPr sz="3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 lets anyone ask a database questions in plain English. Text-to-SQL models answer every question with the same confidence, so a wrong answer looks exactly like a right one. We reproduce CodeS (SIGMOD 2024), an open-source text-to-SQL model, to 77.8% execution accuracy on Spider (paper: 77.9%), and add confidence-aware abstention: the system runs every candidate query the model writes and checks whether they agree. When they don't, it asks the user instead of guessing. It answers 90.4% of questions and is right on 83.3% of them, with a third fewer wrong answers — a statistically significant gain. It runs fully locally in a desktop app.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13944600"/>
            <a:ext cx="731520" cy="7315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39" y="1388059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Reproduce CodeS-1B on Spider within the ±5–10% tolerance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" y="149047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39" y="148407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Find which parts of the CodeS pipeline matter (ablation)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" y="15864840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39" y="1580083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Make the system say when it is unsure — tested statistically</a:t>
            </a:r>
          </a:p>
        </p:txBody>
      </p:sp>
      <p:sp>
        <p:nvSpPr>
          <p:cNvPr id="36" name="Oval 35"/>
          <p:cNvSpPr/>
          <p:nvPr/>
        </p:nvSpPr>
        <p:spPr>
          <a:xfrm>
            <a:off x="777240" y="1682496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39" y="16760951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Measure accuracy on realistically worded questions</a:t>
            </a:r>
          </a:p>
        </p:txBody>
      </p:sp>
      <p:sp>
        <p:nvSpPr>
          <p:cNvPr id="38" name="Oval 37"/>
          <p:cNvSpPr/>
          <p:nvPr/>
        </p:nvSpPr>
        <p:spPr>
          <a:xfrm>
            <a:off x="777240" y="17785080"/>
            <a:ext cx="731520" cy="73152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39" y="1772107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 a desktop app that runs fully locally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188823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Key Innovations &amp; Contributions</a:t>
            </a:r>
          </a:p>
        </p:txBody>
      </p:sp>
      <p:pic>
        <p:nvPicPr>
          <p:cNvPr id="41" name="Picture 40" descr="shield-check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" y="19961352"/>
            <a:ext cx="868680" cy="8686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920239" y="19796760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1. Confidence-aware abstention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Run all candidate queries, count how many agree; ask “Did you mean…?” when they don't</a:t>
            </a:r>
          </a:p>
        </p:txBody>
      </p:sp>
      <p:pic>
        <p:nvPicPr>
          <p:cNvPr id="43" name="Picture 42" descr="badge-chec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21534119"/>
            <a:ext cx="868680" cy="86868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920239" y="21369527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2. Faithful, audited reproduction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77.8% vs 77.9% with the official evaluator, after auditing our own harness</a:t>
            </a:r>
          </a:p>
        </p:txBody>
      </p:sp>
      <p:pic>
        <p:nvPicPr>
          <p:cNvPr id="45" name="Picture 44" descr="refresh-cw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23106888"/>
            <a:ext cx="868680" cy="8686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920239" y="22942296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3. Execution-guided self-correction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 failed query goes back to the model with the database error</a:t>
            </a:r>
          </a:p>
        </p:txBody>
      </p:sp>
      <p:pic>
        <p:nvPicPr>
          <p:cNvPr id="47" name="Picture 46" descr="lock-keyhole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59" y="24679656"/>
            <a:ext cx="868680" cy="8686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20239" y="24515064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4. Private by design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Open weights, runs on the user's computer — no schema sent to a third 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261975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Datasets (Hugging Face — approved source)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" y="27020520"/>
          <a:ext cx="14264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023360"/>
                <a:gridCol w="6035040"/>
              </a:tblGrid>
              <a:tr h="59436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Benchmark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Questions without column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Real-world databases (future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15361920" y="7680960"/>
            <a:ext cx="14264640" cy="2171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572768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essage-circle-question_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56280" y="8595360"/>
            <a:ext cx="914400" cy="914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07839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USER QUESTION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“Which student scored the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highest marks in DBMS?”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286000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database_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88600" y="8595360"/>
            <a:ext cx="914400" cy="914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24140160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YOUR DATABASE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SQLite · PostgreSQL · MySQL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opened read-only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892808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386584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6733520" y="10789920"/>
            <a:ext cx="11521440" cy="2514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file-text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962120" y="11590020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013680" y="10863072"/>
            <a:ext cx="10104119" cy="236829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DATABASE PROMPT BUILDER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Tables, columns, types, keys, 2 sample values each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Value retriever: stored values that match the question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494240" y="13304520"/>
            <a:ext cx="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733520" y="13898880"/>
            <a:ext cx="1152144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-circuit_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962120" y="14493240"/>
            <a:ext cx="914400" cy="914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8013680" y="13972032"/>
            <a:ext cx="10104119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CODES-1B (FINE-TUNED ON SPIDER)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Beam search → 4 candidate SQL queries, each scored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18928080" y="16002000"/>
            <a:ext cx="12801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572768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lay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956280" y="17327880"/>
            <a:ext cx="914400" cy="9144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7007839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EXECUTE ALL 4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Read-only; keep the first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valid query (paper's rule)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refresh-cw_gree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088600" y="17327880"/>
            <a:ext cx="914400" cy="9144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4140160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SELF-CORRECTION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Failed query + error →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model repairs 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128480" y="17785080"/>
            <a:ext cx="731520" cy="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8928080" y="18973800"/>
            <a:ext cx="21945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6733520" y="19568160"/>
            <a:ext cx="11521440" cy="219456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list-checks_oran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962120" y="20208239"/>
            <a:ext cx="914400" cy="9144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8013680" y="19641311"/>
            <a:ext cx="10104119" cy="204825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EXECUTION AGREEMENT  ·  OUR ENHANCEMENT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How many different queries return the same result (0–4)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494240" y="21762720"/>
            <a:ext cx="0" cy="54864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6733520" y="22357080"/>
            <a:ext cx="11521440" cy="201168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gauge_oran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962120" y="22905720"/>
            <a:ext cx="914400" cy="9144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8013680" y="22430231"/>
            <a:ext cx="10104119" cy="186537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CONFIDENT ENOUGH?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Agreement vs a threshold calibrated on Spider (strictness mode)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18928080" y="24368760"/>
            <a:ext cx="1280160" cy="6400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7190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 lang="en-US">
                <a:solidFill>
                  <a:srgbClr val="2E7D32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780240" y="24368760"/>
            <a:ext cx="1280160" cy="64008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6334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 lang="en-US">
                <a:solidFill>
                  <a:srgbClr val="C98A00"/>
                </a:solidFill>
                <a:latin typeface="Aptos"/>
                <a:ea typeface="Aptos"/>
                <a:cs typeface="Aptos"/>
              </a:rPr>
              <a:t>no → ask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572768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hart-column_gree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956280" y="25786080"/>
            <a:ext cx="914400" cy="9144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7007839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ANSWER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Table + automatic chart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SQL + “N of 4 agree”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286000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circle-help_oran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88600" y="25786080"/>
            <a:ext cx="914400" cy="9144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24140160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“DID YOU MEAN…?”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No guess: shows the different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readings to choose from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591056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655064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Reproduced from CodeS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057400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121408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Our enhancement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523744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587752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727680" y="28575000"/>
            <a:ext cx="13533119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Desktop app (macOS · Windows) · runs locally on open weights</a:t>
            </a:r>
          </a:p>
        </p:txBody>
      </p:sp>
      <p:pic>
        <p:nvPicPr>
          <p:cNvPr id="100" name="Picture 99" descr="chart_reproducti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94460" y="30678120"/>
            <a:ext cx="7863840" cy="4966636"/>
          </a:xfrm>
          <a:prstGeom prst="rect">
            <a:avLst/>
          </a:prstGeom>
        </p:spPr>
      </p:pic>
      <p:pic>
        <p:nvPicPr>
          <p:cNvPr id="101" name="Picture 100" descr="chart_enhancemen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5460" y="30678120"/>
            <a:ext cx="7863840" cy="4966636"/>
          </a:xfrm>
          <a:prstGeom prst="rect">
            <a:avLst/>
          </a:prstGeom>
        </p:spPr>
      </p:pic>
      <p:pic>
        <p:nvPicPr>
          <p:cNvPr id="102" name="Picture 101" descr="chart_wrong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94460" y="35736195"/>
            <a:ext cx="7863840" cy="4966636"/>
          </a:xfrm>
          <a:prstGeom prst="rect">
            <a:avLst/>
          </a:prstGeom>
        </p:spPr>
      </p:pic>
      <p:pic>
        <p:nvPicPr>
          <p:cNvPr id="103" name="Picture 102" descr="chart_calibratio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95460" y="35736195"/>
            <a:ext cx="7863840" cy="4966636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640080" y="40748551"/>
            <a:ext cx="17373600" cy="108524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Significant: </a:t>
            </a:r>
            <a:r>
              <a:rPr sz="22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paired t-test p = 7.7×10⁻¹⁰, Wilcoxon p = 9.8×10⁻⁴, bootstrap 95% CI +4.5 to +6.7 points.</a:t>
            </a:r>
          </a:p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Robust: </a:t>
            </a:r>
            <a:r>
              <a:rPr sz="22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counting each different query only once, accuracy at 90% coverage is still 83.5%.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8196560" y="30678120"/>
            <a:ext cx="6629400" cy="11109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288000" y="30769560"/>
            <a:ext cx="6446520" cy="109270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[1]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Li, H., et al. (2024). CodeS: Towards building open-source language models for text-to-SQL. arXiv:2402.16347.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[2]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[3]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Deng, X., et al.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[4]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[5]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[6]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[7]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[8]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5008839" y="30678120"/>
            <a:ext cx="4617720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100280" y="30769560"/>
            <a:ext cx="4434840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Project Guide: </a:t>
            </a: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 Parameswar, Associate Professor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Project Coordinator: </a:t>
            </a: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Dr. Jagan Mohan Reddy Danda, Associate Professor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Students (Team 18):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N V V S S Jayakanth Kamisetti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2320090050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Boddupally Narendar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2320090009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 Praneeth Reddy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2320090018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5008839" y="36027360"/>
            <a:ext cx="461772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Future Work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008839" y="36896040"/>
            <a:ext cx="4617720" cy="4892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CodeS-3B and more, more diverse candidate queries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Real-world databases (BIRD)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A platform for any database (Spark, Snowflake, NoSQL) with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
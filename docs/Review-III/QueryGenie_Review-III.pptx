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6"/>
  </p:notesMasterIdLst>
  <p:sldIdLst>
    <p:sldId id="264" r:id="rId2"/>
    <p:sldId id="265" r:id="rId3"/>
    <p:sldId id="270" r:id="rId4"/>
    <p:sldId id="266" r:id="rId5"/>
    <p:sldId id="269" r:id="rId6"/>
    <p:sldId id="278" r:id="rId21"/>
    <p:sldId id="279" r:id="rId22"/>
    <p:sldId id="275" r:id="rId7"/>
    <p:sldId id="267" r:id="rId8"/>
    <p:sldId id="268" r:id="rId9"/>
    <p:sldId id="280" r:id="rId23"/>
    <p:sldId id="272" r:id="rId10"/>
    <p:sldId id="281" r:id="rId24"/>
    <p:sldId id="271" r:id="rId11"/>
    <p:sldId id="276" r:id="rId12"/>
    <p:sldId id="273" r:id="rId13"/>
    <p:sldId id="277" r:id="rId14"/>
    <p:sldId id="27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80"/>
    <p:restoredTop sz="94747"/>
  </p:normalViewPr>
  <p:slideViewPr>
    <p:cSldViewPr snapToGrid="0">
      <p:cViewPr>
        <p:scale>
          <a:sx n="115" d="100"/>
          <a:sy n="115" d="100"/>
        </p:scale>
        <p:origin x="968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9F710-3F52-6D41-8DB8-0B9A5127554D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0E01AF-D756-414C-96CA-00F6CC1B3A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94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89FD7-650A-4B41-A47C-7DB9A1398E28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7CD3A4-E3C5-6637-8CF3-7C98EFEBC05E}"/>
              </a:ext>
            </a:extLst>
          </p:cNvPr>
          <p:cNvGrpSpPr/>
          <p:nvPr userDrawn="1"/>
        </p:nvGrpSpPr>
        <p:grpSpPr>
          <a:xfrm>
            <a:off x="8107323" y="5978820"/>
            <a:ext cx="3874494" cy="339792"/>
            <a:chOff x="5297214" y="5609063"/>
            <a:chExt cx="3874494" cy="339792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B6EB4AF5-76D0-6A68-E198-C80710486E1D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3E1CC496-B217-F290-09C2-CF6A0B49EAD9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458E0D9-8B49-F020-136E-83D1B4C8EF37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18314F5A-4EF0-C4B4-5B93-AAFDDA8ED12A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B895E10-1CAD-688A-3DB4-D04D36067FE0}"/>
                </a:ext>
              </a:extLst>
            </p:cNvPr>
            <p:cNvSpPr txBox="1"/>
            <p:nvPr/>
          </p:nvSpPr>
          <p:spPr>
            <a:xfrm>
              <a:off x="5297214" y="5609063"/>
              <a:ext cx="379783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rgbClr val="002060"/>
                  </a:solidFill>
                </a:rPr>
                <a:t>STUDENTS       |    INNOVATION     |      RESEARCH        |          IMPACT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C68B6-2386-1C47-3707-FBD3182CEE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560" y="132452"/>
            <a:ext cx="30353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174ED-A240-DA45-95BF-9EC07CF61638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DAB2-1A6D-0D4B-88BD-E82C6C2F515C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FE3A2-088A-1D40-8603-26F52BE22814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01085-6EF0-CB42-9261-A0DFFE6B0901}" type="datetime1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08155-6D39-E346-91FD-3DEC50B40A03}" type="datetime1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18D81-DEF3-2B44-A23B-DA2B8661119C}" type="datetime1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0CF80-2303-284B-B68E-5D73CF852739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130A6-8BD3-2B40-A6F6-7469DDA1C381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DD498-F0B9-6E47-9392-9A3A59B63216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889F3-D91E-454F-BA67-FCF4939D51C5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0DF6D-B19F-AF48-A4B2-8ECC3A443320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jayakanthh/QueryGeni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07779"/>
            <a:ext cx="9144000" cy="1448183"/>
          </a:xfrm>
        </p:spPr>
        <p:txBody>
          <a:bodyPr>
            <a:normAutofit/>
          </a:bodyPr>
          <a:lstStyle/>
          <a:p>
            <a:r>
              <a:rPr sz="3400"/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3602038"/>
            <a:ext cx="5284424" cy="1364818"/>
          </a:xfrm>
        </p:spPr>
        <p:txBody>
          <a:bodyPr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/>
              <a:t>Presented by — Team 18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2320090050 : N V V S S Jayakanth Kamisetti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2320090009 : Boddupally Narendar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2320090018 : M Praneeth Reddy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605928" y="4772747"/>
            <a:ext cx="5850628" cy="16392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0070C0"/>
                </a:solidFill>
              </a:rPr>
              <a:t>M Parameswar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Associate Professor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Dept of Computer Science &amp; Information Technology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KLEF</a:t>
            </a: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E840D99-F374-9763-26DC-22333636F187}"/>
              </a:ext>
            </a:extLst>
          </p:cNvPr>
          <p:cNvSpPr txBox="1">
            <a:spLocks/>
          </p:cNvSpPr>
          <p:nvPr/>
        </p:nvSpPr>
        <p:spPr>
          <a:xfrm>
            <a:off x="2950231" y="1146011"/>
            <a:ext cx="6291538" cy="5446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00206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solidFill>
                  <a:srgbClr val="C00000"/>
                </a:solidFill>
              </a:rPr>
              <a:t>Capstone Project – I (Review – III)</a:t>
            </a:r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9975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002060"/>
                </a:solidFill>
              </a:rPr>
              <a:t>Problem Statement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Related Research Papers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Research Gap</a:t>
            </a:r>
          </a:p>
          <a:p>
            <a:r>
              <a:rPr lang="en-US" sz="2000" dirty="0">
                <a:solidFill>
                  <a:srgbClr val="002060"/>
                </a:solidFill>
              </a:rPr>
              <a:t>Proposed Methodology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Dataset(s), if any (detailed analysis) 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Architecture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Experimental Results</a:t>
            </a:r>
            <a:endParaRPr lang="en-US" sz="2400" dirty="0">
              <a:solidFill>
                <a:srgbClr val="002060"/>
              </a:solidFill>
            </a:endParaRPr>
          </a:p>
          <a:p>
            <a:r>
              <a:rPr lang="en-US" sz="2000" dirty="0">
                <a:solidFill>
                  <a:srgbClr val="002060"/>
                </a:solidFill>
              </a:rPr>
              <a:t>Limitations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Conclusion and Future work 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References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GitHub URL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35C7C-EF9D-FCB1-DF74-2DB4E72E3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8BCEB-E212-A36D-4C59-EFFA0544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78211-B63A-D5D3-1A95-6D7F9A77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Problem </a:t>
            </a:r>
            <a:r>
              <a:rPr lang="en-US" dirty="0"/>
              <a:t>S</a:t>
            </a:r>
            <a:r>
              <a:rPr lang="en-US" b="1" dirty="0">
                <a:solidFill>
                  <a:srgbClr val="002060"/>
                </a:solidFill>
              </a:rPr>
              <a:t>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900"/>
              <a:t>Problem: </a:t>
            </a:r>
            <a:r>
              <a:rPr sz="1900"/>
              <a:t>people who don't know SQL can't get answers out of a database without help.</a:t>
            </a:r>
          </a:p>
          <a:p>
            <a:pPr/>
            <a:r>
              <a:rPr b="1" sz="1900"/>
              <a:t>Text-to-SQL</a:t>
            </a:r>
            <a:r>
              <a:rPr sz="1900"/>
              <a:t> translates a plain-English question into SQL, runs it and returns the result.</a:t>
            </a:r>
          </a:p>
          <a:p>
            <a:pPr/>
            <a:r>
              <a:rPr b="1" sz="1900"/>
              <a:t>The risk: </a:t>
            </a:r>
            <a:r>
              <a:rPr sz="1900"/>
              <a:t>these systems answer every question with the same confidence, so a wrong table looks exactly like a right one.</a:t>
            </a:r>
          </a:p>
          <a:p>
            <a:pPr lvl="1"/>
            <a:r>
              <a:rPr sz="1600"/>
              <a:t>Even CodeS, a strong open model, is wrong on about 1 in 5 Spider questions (77.9% accuracy).</a:t>
            </a:r>
          </a:p>
          <a:p>
            <a:pPr/>
            <a:r>
              <a:rPr b="1" sz="1900"/>
              <a:t>Most strong systems use closed models</a:t>
            </a:r>
            <a:r>
              <a:rPr sz="1900"/>
              <a:t> (GPT-4, …): the database schema goes to a third party.</a:t>
            </a:r>
          </a:p>
          <a:p>
            <a:pPr/>
            <a:r>
              <a:rPr b="1" sz="1900"/>
              <a:t>Our goal: </a:t>
            </a:r>
            <a:r>
              <a:rPr sz="1900"/>
              <a:t>reproduce CodeS, an open model that runs locally, and make it say when it is unsure instead of answering wrongly.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97FD9-FF55-8E92-EA19-D5FD1F604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FE720-1719-C0FB-48A2-C6350721E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550DB-866A-4060-3369-159531E4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050429"/>
              </p:ext>
            </p:extLst>
          </p:nvPr>
        </p:nvGraphicFramePr>
        <p:xfrm>
          <a:off x="614275" y="2501900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Seq2SQL (Zhong et al., 2017)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Querying databases without knowing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WikiSQL (80,654 examples; introduced)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Seq2seq with RL rewards from query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Execution accuracy 35.9% → 59.4%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Spider (Yu et al.,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Complex, cross-domain text-to-SQL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Spider: 10,181 questions, 200 databases, 138 domains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Human-annotated benchmark; unseen databases at test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Best model then: 12.4% exact match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RAT-SQL (Wang et al.,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Generalising to unseen schemas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Relation-aware self-attention for schema encoding and linking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57.2% exact match; 65.6% with 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Test-suite accuracy (Zhong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Metrics misjudge equivalent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and 10 other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Distilled test suites of databases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metric: 2.5% false negatives on average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758537" y="1726962"/>
            <a:ext cx="9898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300"/>
              <a:t>Papers 1–4 of 16 (all from arXiv); results as stated in each paper's abstract.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C4740B-AAA5-3152-1996-F594D7D4A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3002C-7857-DB27-C3BE-D508C739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659B93-5ED4-1EDF-5B12-9EF76BB6A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66CB-2487-4483-7A3C-144E36126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StruG / Spider-Realistic (Deng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Questions rarely name the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Spider-Realistic (introduced) + 8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Structure-grounded pre-training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Beats all baselines on the realistic sets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BRIDGE (Lin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Linking questions to database 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WikiSQL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Schema + matched cell values encoded with 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71.1% dev, 67.5%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PICARD (Scholak et al., 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Language models produce invalid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CoSQL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Constrained decoding by incremental parsing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Fine-tuned T5 → state of the 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Self-consistency (Wang et al., 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Unreliable single (greedy)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GSM8K, SVAMP, AQuA, StrategyQA, ARC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Sample several reasoning paths, keep the most consistent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GSM8K +17.9%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5–8 of 16 (all from arXiv); results as stated in each paper's abstract.</a:t>
            </a:r>
          </a:p>
        </p:txBody>
      </p:sp>
    </p:spTree>
    <p:extLst>
      <p:ext uri="{BB962C8B-B14F-4D97-AF65-F5344CB8AC3E}">
        <p14:creationId xmlns:p14="http://schemas.microsoft.com/office/powerpoint/2010/main" val="387190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00087-2C29-5A7C-8875-4E5FDFFA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C954-D482-DD20-D4D3-8F5E040D2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Research Gap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7ADB7-E231-E6CC-9094-7CC3A70A6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6D29AF-6342-E7F4-8AF5-C9FEACB71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B1B252-9D5A-46B2-7B97-424B7EBDA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63AE00B-7237-3222-6252-A90642CC8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wrap="square"/>
          <a:lstStyle/>
          <a:p>
            <a:pPr/>
            <a:r>
              <a:rPr b="1" sz="1800"/>
              <a:t>No confidence. </a:t>
            </a:r>
            <a:r>
              <a:rPr sz="1800"/>
              <a:t>Every system reviewed answers every question; none says when it is unsure or reports an accuracy–coverage trade-off.</a:t>
            </a:r>
          </a:p>
          <a:p>
            <a:pPr/>
            <a:r>
              <a:rPr b="1" sz="1800"/>
              <a:t>Closed models. </a:t>
            </a:r>
            <a:r>
              <a:rPr sz="1800"/>
              <a:t>The strongest systems send the schema to GPT-4-class services: cost, privacy and reproducibility problems.</a:t>
            </a:r>
          </a:p>
          <a:p>
            <a:pPr/>
            <a:r>
              <a:rPr b="1" sz="1800"/>
              <a:t>Benchmark-to-reality gap. </a:t>
            </a:r>
            <a:r>
              <a:rPr sz="1800"/>
              <a:t>Results are reported on Spider, whose questions often name the columns and whose databases are small; how the same model does on realistic wording and real databases is rarely measured.</a:t>
            </a:r>
          </a:p>
          <a:p>
            <a:pPr/>
            <a:r>
              <a:rPr b="1" sz="1800"/>
              <a:t>Our answer: </a:t>
            </a:r>
            <a:r>
              <a:rPr sz="1800"/>
              <a:t>use the 4 candidate queries CodeS already generates — if they agree, answer; if they disagree, ask the user.</a:t>
            </a:r>
          </a:p>
        </p:txBody>
      </p:sp>
    </p:spTree>
    <p:extLst>
      <p:ext uri="{BB962C8B-B14F-4D97-AF65-F5344CB8AC3E}">
        <p14:creationId xmlns:p14="http://schemas.microsoft.com/office/powerpoint/2010/main" val="3903839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700"/>
              <a:t>All data from Hugging Face</a:t>
            </a:r>
            <a:r>
              <a:rPr sz="1700"/>
              <a:t> (approved source); no Kaggle.</a:t>
            </a:r>
          </a:p>
          <a:p>
            <a:pPr/>
            <a:r>
              <a:rPr b="1" sz="1700"/>
              <a:t>Spider dev</a:t>
            </a:r>
            <a:r>
              <a:rPr sz="1700"/>
              <a:t> — xlangai/spider: 1,034 questions, 20 unseen databases (2–11 tables). Reproduction, ablation, enhancement.</a:t>
            </a:r>
          </a:p>
          <a:p>
            <a:pPr lvl="1"/>
            <a:r>
              <a:rPr sz="1400"/>
              <a:t>39.5% need a JOIN, 26.8% GROUP BY, 8.0% nested queries; difficulty: 248 easy, 446 medium, 174 hard, 166 extra hard.</a:t>
            </a:r>
          </a:p>
          <a:p>
            <a:pPr/>
            <a:r>
              <a:rPr b="1" sz="1700"/>
              <a:t>Spider-Realistic</a:t>
            </a:r>
            <a:r>
              <a:rPr sz="1700"/>
              <a:t> — 508 Spider questions reworded without column names (same databases and answers).</a:t>
            </a:r>
          </a:p>
          <a:p>
            <a:pPr/>
            <a:r>
              <a:rPr b="1" sz="1700"/>
              <a:t>BIRD Mini-Dev</a:t>
            </a:r>
            <a:r>
              <a:rPr sz="1700"/>
              <a:t> — 500 questions on 11 real-world databases (finance, medicine, sport…), up to 571 MB, dirty values.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433D-1A8D-34BE-746E-4D6CB054E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D4282-3899-E404-7E9F-A0A5C3FE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DA996-170E-B445-FC15-75A2393AE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Methodology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63CBD-81DA-5839-1A5B-ED1925DB9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34077-3BB5-701D-EF33-49FF24C0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4FBE0-DFBE-5CA0-CE2E-E444F7F53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8</a:t>
            </a:fld>
            <a:endParaRPr lang="en-US"/>
          </a:p>
        </p:txBody>
      </p:sp>
      <p:pic>
        <p:nvPicPr>
          <p:cNvPr id="7" name="Picture 6" descr="fina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6949440" cy="37353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500"/>
              <a:t>Reproduced CodeS (blue)</a:t>
            </a:r>
            <a:r>
              <a:rPr sz="1500"/>
              <a:t/>
            </a:r>
          </a:p>
          <a:p>
            <a:pPr lvl="1"/>
            <a:r>
              <a:rPr sz="1300"/>
              <a:t>Prompt: schema, keys, sample values, matched values</a:t>
            </a:r>
          </a:p>
          <a:p>
            <a:pPr lvl="1"/>
            <a:r>
              <a:rPr sz="1300"/>
              <a:t>4 candidate queries (beam search)</a:t>
            </a:r>
          </a:p>
          <a:p>
            <a:pPr lvl="1"/>
            <a:r>
              <a:rPr sz="1300"/>
              <a:t>Pick first query that runs</a:t>
            </a:r>
          </a:p>
          <a:p>
            <a:pPr/>
            <a:r>
              <a:rPr b="1" sz="1500"/>
              <a:t>Enhancement (amber)</a:t>
            </a:r>
            <a:r>
              <a:rPr sz="1500"/>
              <a:t/>
            </a:r>
          </a:p>
          <a:p>
            <a:pPr lvl="1"/>
            <a:r>
              <a:rPr sz="1300"/>
              <a:t>Run all 4, count how many agree</a:t>
            </a:r>
          </a:p>
          <a:p>
            <a:pPr lvl="1"/>
            <a:r>
              <a:rPr sz="1300"/>
              <a:t>Low agreement → ask the user</a:t>
            </a:r>
          </a:p>
          <a:p>
            <a:pPr/>
            <a:r>
              <a:rPr b="1" sz="1500"/>
              <a:t>Application (green)</a:t>
            </a:r>
            <a:r>
              <a:rPr sz="1500"/>
              <a:t/>
            </a:r>
          </a:p>
          <a:p>
            <a:pPr lvl="1"/>
            <a:r>
              <a:rPr sz="1300"/>
              <a:t>Desktop app, runs locally</a:t>
            </a:r>
          </a:p>
          <a:p>
            <a:pPr lvl="1"/>
            <a:r>
              <a:rPr sz="1300"/>
              <a:t>Table, chart, SQL, self-correction</a:t>
            </a:r>
          </a:p>
        </p:txBody>
      </p:sp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72D5D-E060-CC29-4E2D-904293E1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BCB13-628F-A290-8CEE-D654DE24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FE733-A014-2277-A8AD-3C947A3A2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Reproduction — Execution Accuracy, Spider dev (official evaluator)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920240"/>
          <a:ext cx="512064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94560"/>
              </a:tblGrid>
              <a:tr h="292608">
                <a:tc>
                  <a:txBody>
                    <a:bodyPr/>
                    <a:lstStyle/>
                    <a:p/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EX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CodeS-1B, paper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77.9%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Our reproduction (T2-006)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77.8% (804/1,034)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Difference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−0.1 pts ✓ within ±5%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3429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Ablation — each component removed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384048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Removed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Change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Foreign keys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76.9%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−0.9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Sample column values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76.4%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−1.4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Candidate selection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76.0%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−1.8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Value retriever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75.9%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−1.9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Enhancement — same 1,034 questions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920240"/>
          <a:ext cx="5394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1554480"/>
                <a:gridCol w="9144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System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Answered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Correct when answering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Wrong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Original CodeS-1B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100%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230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Enhanced, tested setting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90.4%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83.3%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156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3 of 4 must agree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62.8%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86.1%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All 4 must agree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39.8%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88.3%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48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397763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400"/>
              <a:t>Significant: </a:t>
            </a:r>
            <a:r>
              <a:rPr sz="1400"/>
              <a:t>paired t-test p = 7.7×10⁻¹⁰, Wilcoxon p = 9.8×10⁻⁴, bootstrap 95% CI +4.5 to +6.7 pts.</a:t>
            </a:r>
          </a:p>
          <a:p>
            <a:pPr/>
            <a:r>
              <a:rPr b="1" sz="1400"/>
              <a:t>Wrong answers −32% </a:t>
            </a:r>
            <a:r>
              <a:rPr sz="1400"/>
              <a:t>(230 → 156) by declining 9.6% of questions.</a:t>
            </a:r>
          </a:p>
          <a:p>
            <a:pPr/>
            <a:r>
              <a:rPr b="1" sz="1400"/>
              <a:t>Calibrated: </a:t>
            </a:r>
            <a:r>
              <a:rPr sz="1400"/>
              <a:t>1 of 4 agree → 56.8% right; 4 of 4 → 88.3%.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700"/>
              <a:t>Overall accuracy is unchanged: </a:t>
            </a:r>
            <a:r>
              <a:rPr sz="1700"/>
              <a:t>the system is right more often when it answers, by declining ~10% of questions; plain EX stays 77.8%.</a:t>
            </a:r>
          </a:p>
          <a:p>
            <a:pPr/>
            <a:r>
              <a:rPr b="1" sz="1700"/>
              <a:t>Agreement is not proof: </a:t>
            </a:r>
            <a:r>
              <a:rPr sz="1700"/>
              <a:t>11.7% of answers where all 4 queries agree are still wrong.</a:t>
            </a:r>
          </a:p>
          <a:p>
            <a:pPr/>
            <a:r>
              <a:rPr b="1" sz="1700"/>
              <a:t>One calibration: </a:t>
            </a:r>
            <a:r>
              <a:rPr sz="1700"/>
              <a:t>the threshold was tuned on Spider with CodeS-1B; other models in the app are not measured.</a:t>
            </a:r>
          </a:p>
          <a:p>
            <a:pPr/>
            <a:r>
              <a:rPr b="1" sz="1700"/>
              <a:t>Single questions: </a:t>
            </a:r>
            <a:r>
              <a:rPr sz="1700"/>
              <a:t>CodeS was trained on one question at a time, so follow-ups need a chat model.</a:t>
            </a:r>
          </a:p>
          <a:p>
            <a:pPr/>
            <a:r>
              <a:rPr b="1" sz="1700"/>
              <a:t>Reproduction scope: </a:t>
            </a:r>
            <a:r>
              <a:rPr sz="1700"/>
              <a:t>inference only (pre-training needs 8× A800 GPUs); test-suite accuracy TBD.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E82D3-E182-179D-574D-773B1CAFE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F2586-884C-0E17-0CFF-7C0DA97CA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3F515-7425-9F7A-7E25-256E3DF86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67E34-D1B7-0596-4C1E-D919915F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Future 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1F884-61AD-A5E1-E18D-8E63F49E7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600"/>
              <a:t>Reproduced </a:t>
            </a:r>
            <a:r>
              <a:rPr sz="1600"/>
              <a:t>CodeS-1B: 77.8% vs 77.9% (−0.1 pts) on a free Colab T4, after auditing our own evaluation.</a:t>
            </a:r>
          </a:p>
          <a:p>
            <a:pPr/>
            <a:r>
              <a:rPr b="1" sz="1600"/>
              <a:t>Enhanced </a:t>
            </a:r>
            <a:r>
              <a:rPr sz="1600"/>
              <a:t>with confidence-aware abstention: 83.3% correct when answering, 32% fewer wrong answers, statistically significant.</a:t>
            </a:r>
          </a:p>
          <a:p>
            <a:pPr/>
            <a:r>
              <a:rPr b="1" sz="1600"/>
              <a:t>Delivered </a:t>
            </a:r>
            <a:r>
              <a:rPr sz="1600"/>
              <a:t>QueryGenie, a desktop app that runs locally and asks when it isn't sure.</a:t>
            </a:r>
          </a:p>
          <a:p>
            <a:pPr/>
            <a:r>
              <a:rPr b="1" sz="1600"/>
              <a:t>Future work — research:</a:t>
            </a:r>
            <a:r>
              <a:rPr sz="1600"/>
              <a:t> test-suite accuracy; CodeS-3B; a learned reranker (a correct query is among the 4 for 83.1% of questions); calibration on real-world data.</a:t>
            </a:r>
          </a:p>
          <a:p>
            <a:pPr/>
            <a:r>
              <a:rPr b="1" sz="1600"/>
              <a:t>Future work — from app to platform</a:t>
            </a:r>
            <a:r>
              <a:rPr sz="1600"/>
              <a:t> (local, so no data leaves the company):</a:t>
            </a:r>
          </a:p>
          <a:p>
            <a:pPr lvl="1"/>
            <a:r>
              <a:rPr sz="1400"/>
              <a:t>Any database: SQL Server, Snowflake, Apache Spark; MongoDB and other NoSQL through a SQL gateway</a:t>
            </a:r>
          </a:p>
          <a:p>
            <a:pPr lvl="1"/>
            <a:r>
              <a:rPr sz="1400"/>
              <a:t>Per-database adaptation: value index per database; optional one-time fine-tuning (CodeS data augmentation)</a:t>
            </a:r>
          </a:p>
          <a:p>
            <a:pPr lvl="1"/>
            <a:r>
              <a:rPr sz="1400"/>
              <a:t>Access control: users and roles per database / table / column, with an audit log</a:t>
            </a:r>
          </a:p>
          <a:p>
            <a:pPr lvl="1"/>
            <a:r>
              <a:rPr sz="1400"/>
              <a:t>Serving at scale: quantised larger models on laptops; a shared server for many users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DFE86-25CE-15E8-0155-62C136473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DF5BC-18A7-9FF8-B887-7137BFCAB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1F47F-CAAA-99D7-1865-C58A425A8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967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800"/>
              <a:t>Deng, X., Awadallah, A. H., Meek, C., Polozov, O., Sun, H., &amp; Richardson, M. (2020). Structure-grounded pretraining for text-to-SQL. arXiv:2010.12773.</a:t>
            </a:r>
          </a:p>
          <a:p>
            <a:r>
              <a:rPr sz="800"/>
              <a:t>Gao, D., et al. (2023). Text-to-SQL empowered by large language models: A benchmark evaluation. arXiv:2308.15363.</a:t>
            </a:r>
          </a:p>
          <a:p>
            <a:r>
              <a:rPr sz="800"/>
              <a:t>Geifman, Y., &amp; El-Yaniv, R. (2017). Selective classification for deep neural networks. arXiv:1705.08500.</a:t>
            </a:r>
          </a:p>
          <a:p>
            <a:r>
              <a:rPr sz="800"/>
              <a:t>Li, H., et al. (2023). RESDSQL: Decoupling schema linking and skeleton parsing for text-to-SQL. arXiv:2302.05965.</a:t>
            </a:r>
          </a:p>
          <a:p>
            <a:r>
              <a:rPr sz="800"/>
              <a:t>Li, H., et al. (2024). CodeS: Towards building open-source language models for text-to-SQL. arXiv:2402.16347.</a:t>
            </a:r>
          </a:p>
          <a:p>
            <a:r>
              <a:rPr sz="800"/>
              <a:t>Li, J., et al. (2023). Can LLM already serve as a database interface? A big bench for large-scale database grounded text-to-SQLs. arXiv:2305.03111.</a:t>
            </a:r>
          </a:p>
          <a:p>
            <a:r>
              <a:rPr sz="800"/>
              <a:t>Lin, X. V., Socher, R., &amp; Xiong, C. (2020). Bridging textual and tabular data for cross-domain text-to-SQL semantic parsing. arXiv:2012.12627.</a:t>
            </a:r>
          </a:p>
          <a:p>
            <a:r>
              <a:rPr sz="800"/>
              <a:t>Pourreza, M., &amp; Rafiei, D. (2023). DIN-SQL: Decomposed in-context learning of text-to-SQL with self-correction. arXiv:2304.11015.</a:t>
            </a:r>
          </a:p>
          <a:p>
            <a:r>
              <a:rPr sz="800"/>
              <a:t>Pourreza, M., et al. (2024). CHASE-SQL: Multi-path reasoning and preference optimized candidate selection in text-to-SQL. arXiv:2410.01943.</a:t>
            </a:r>
          </a:p>
          <a:p>
            <a:r>
              <a:rPr sz="800"/>
              <a:t>Scholak, T., Schucher, N., &amp; Bahdanau, D. (2021). PICARD: Parsing incrementally for constrained auto-regressive decoding from language models. arXiv:2109.05093.</a:t>
            </a:r>
          </a:p>
          <a:p>
            <a:r>
              <a:rPr sz="800"/>
              <a:t>Talaei, S., et al. (2024). CHESS: Contextual harnessing for efficient SQL synthesis. arXiv:2405.16755.</a:t>
            </a:r>
          </a:p>
          <a:p>
            <a:r>
              <a:rPr sz="800"/>
              <a:t>Wang, B., Shin, R., Liu, X., Polozov, O., &amp; Richardson, M. (2019). RAT-SQL: Relation-aware schema encoding and linking for text-to-SQL parsers. arXiv:1911.04942.</a:t>
            </a:r>
          </a:p>
          <a:p>
            <a:r>
              <a:rPr sz="800"/>
              <a:t>Wang, B., et al. (2023). MAC-SQL: A multi-agent collaborative framework for text-to-SQL. arXiv:2312.11242.</a:t>
            </a:r>
          </a:p>
          <a:p>
            <a:r>
              <a:rPr sz="800"/>
              <a:t>Wang, X., et al. (2022). Self-consistency improves chain of thought reasoning in language models. arXiv:2203.11171.</a:t>
            </a:r>
          </a:p>
          <a:p>
            <a:r>
              <a:rPr sz="800"/>
              <a:t>Yu, T., et al. (2018). Spider: A large-scale human-labeled dataset for complex and cross-domain semantic parsing and text-to-SQL task. arXiv:1809.08887.</a:t>
            </a:r>
          </a:p>
          <a:p>
            <a:r>
              <a:rPr sz="800"/>
              <a:t>Zhong, R., Yu, T., &amp; Klein, D. (2020). Semantic evaluation for text-to-SQL with distilled test suites. arXiv:2010.02840.</a:t>
            </a:r>
          </a:p>
          <a:p>
            <a:r>
              <a:rPr sz="800"/>
              <a:t>Zhong, V., Xiong, C., &amp; Socher, R. (2017). Seq2SQL: Generating structured queries from natural language using reinforcement learning. arXiv:1709.00103.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81438-5716-1A4A-FC8D-69CAACD85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E631B-D82B-58A8-37FF-FF102F86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F3908-E319-5D95-666C-951656471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9924E-6BBF-582A-7E58-FBDE1B4D0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25154"/>
            <a:ext cx="10515600" cy="1325563"/>
          </a:xfrm>
        </p:spPr>
        <p:txBody>
          <a:bodyPr/>
          <a:lstStyle/>
          <a:p>
            <a:r>
              <a:t>GitHub URL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8B4CA-B23A-D08F-096B-A897A06FA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D12D26-D3EF-AB60-F8A3-9B8906C2D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8B56B-403E-AC07-154C-C6069DB04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hlinkClick r:id="rId2"/>
              </a:rPr>
              <a:t>https://github.com/jayakanthh/QueryGenie</a:t>
            </a:r>
          </a:p>
        </p:txBody>
      </p:sp>
    </p:spTree>
    <p:extLst>
      <p:ext uri="{BB962C8B-B14F-4D97-AF65-F5344CB8AC3E}">
        <p14:creationId xmlns:p14="http://schemas.microsoft.com/office/powerpoint/2010/main" val="3174692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E433E2-FE28-7F11-9CBD-E19753560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B5AF8C-F026-40DE-5B0F-166037247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315939-1AE8-3C9E-D257-F1BF3A42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RESDSQL (Li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Schema linking and SQL skeleton parsed together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Spider-DK, -Syn, -Realistic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Ranking-enhanced encoder, skeleton-aware 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Strong accuracy and robustness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DIN-SQL (Pourreza &amp; Rafiei,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Prompting lags fine-tuned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Decomposed prompting with self-correction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test 85.3% EX; BIRD 55.9%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BIRD (Li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ignore large, dirty databases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BIRD: 12,751 pairs, 95 databases, 33.4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Benchmark with external knowledge and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ChatGPT 40.08% vs human 92.96%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DAIL-SQL (Gao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systematic study of LLM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Prompt engineering comparison; DAIL-SQL 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leaderboard 86.6% 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9–12 of 16 (all from arXiv); results as stated in each paper's abstract.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MAC-SQL (Wang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Huge databases, multi-step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BIRD, 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Multi-agent: decomposer, selector, refiner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59.59% EX (GPT-4)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CodeS (Li et al., 2024) — reproduced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Dependence on closed LLMs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BIRD, robustness 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Open 1B–15B models, incremental pre-training on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CodeS-1B 77.9% EX (Spider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CHESS (Talaei et al.,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Large catalogs and schemas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Four LLM agents: retrieve, prune, generate,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71.10%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CHASE-SQL (Pourreza et al.,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Choosing among SQL candidates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Multi-path generation + learned candidate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73.0%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13–16 of 16 (all from arXiv); results as stated in each paper's abstract.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Methodology — the QueryGenie app</a:t>
            </a:r>
          </a:p>
        </p:txBody>
      </p:sp>
      <p:pic>
        <p:nvPicPr>
          <p:cNvPr id="3" name="Picture 2" descr="app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349240" cy="3343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16627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Confident answer: 4 of 4 queries agree → table, chart, SQL</a:t>
            </a:r>
          </a:p>
        </p:txBody>
      </p:sp>
      <p:pic>
        <p:nvPicPr>
          <p:cNvPr id="5" name="Picture 4" descr="app_not_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5016627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Abstention: queries disagree → it asks which reading you meant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321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Desktop app (macOS, Windows) · runs locally on open weights · chats, schema map, charts, self-correction · SQLite, PostgreSQL, MySQL · optional Ollama / cloud models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 (continued)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72D5D-E060-CC29-4E2D-904293E1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BCB13-628F-A290-8CEE-D654DE24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FE733-A014-2277-A8AD-3C947A3A2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 descr="accuracy_coverage_T2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669280" cy="3307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Accuracy vs coverage: declining the least-agreed questions raises accuracy on the rest.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31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Self-correction (app feature), measured on Spider dev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2743200"/>
          <a:ext cx="521208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80160"/>
                <a:gridCol w="1645920"/>
              </a:tblGrid>
              <a:tr h="292608">
                <a:tc>
                  <a:txBody>
                    <a:bodyPr/>
                    <a:lstStyle/>
                    <a:p/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Without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With repair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77.76%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77.85%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Failed queries repaired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—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61 of 377 now run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Benchmark-to-reality gap (CodeS-1B, unchanged)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4343400"/>
          <a:ext cx="521208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10312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Set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EX (paper)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Answered / correct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Spider dev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77.8% (77.9%)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90.4% / 83.3%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Spider-Realistic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69.5% (70.9%)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86.2% / 76.7%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BIRD Mini-Dev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451</TotalTime>
  <Words>328</Words>
  <Application>Microsoft Macintosh PowerPoint</Application>
  <PresentationFormat>Widescreen</PresentationFormat>
  <Paragraphs>104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Project Title</vt:lpstr>
      <vt:lpstr>Outline</vt:lpstr>
      <vt:lpstr>Problem Statement</vt:lpstr>
      <vt:lpstr>Related Research Papers</vt:lpstr>
      <vt:lpstr>Related Research Papers</vt:lpstr>
      <vt:lpstr>Research Gap</vt:lpstr>
      <vt:lpstr>Proposed Methodology</vt:lpstr>
      <vt:lpstr>Proposed Methodology</vt:lpstr>
      <vt:lpstr>Proposed Methodology</vt:lpstr>
      <vt:lpstr>Limitations</vt:lpstr>
      <vt:lpstr>Conclusion and Future work </vt:lpstr>
      <vt:lpstr>References</vt:lpstr>
      <vt:lpstr>GitHub URL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69</cp:revision>
  <dcterms:created xsi:type="dcterms:W3CDTF">2026-04-11T11:52:12Z</dcterms:created>
  <dcterms:modified xsi:type="dcterms:W3CDTF">2026-09-30T18:23:03Z</dcterms:modified>
</cp:coreProperties>
</file>
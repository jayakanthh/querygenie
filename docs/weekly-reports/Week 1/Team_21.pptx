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70" r:id="rId4"/>
    <p:sldId id="266" r:id="rId5"/>
    <p:sldId id="269" r:id="rId6"/>
    <p:sldId id="275" r:id="rId7"/>
    <p:sldId id="276" r:id="rId8"/>
    <p:sldId id="267" r:id="rId9"/>
    <p:sldId id="268" r:id="rId10"/>
    <p:sldId id="272" r:id="rId11"/>
    <p:sldId id="271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7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/>
    <p:restoredTop sz="94781"/>
  </p:normalViewPr>
  <p:slideViewPr>
    <p:cSldViewPr snapToGrid="0">
      <p:cViewPr varScale="1">
        <p:scale>
          <a:sx n="108" d="100"/>
          <a:sy n="108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80D2-3210-912A-EAB9-9FB8B9C99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9709-DACA-6248-E100-B0ECBF06C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E0CAD-274A-8EB8-41BB-0A2DAD95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D9FF-5437-8580-7E8D-5E093A48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77B7-A933-51E1-7ED8-C5FD3C16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3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D5C5-34BB-D05C-5BF1-D3EBB9BA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47A8-E79B-B989-D2F4-E5FA5C71C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EEB9-1376-EE8F-F3DC-3FCFE186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384B-BA06-0930-C01C-B2F6086C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B126-C958-C555-6CFA-73CE22E1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9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D28E-80CC-F7AA-32D7-B6BC8EA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718AA-1385-5C98-0620-D46E4EB3D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891A3-72AB-D73B-8135-C924572A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52309-F54E-EADA-1B95-D5D29CFC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47D4D-C2F1-14A0-DB09-545C9E46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CD33-3C2D-BA95-6FC7-E8F2C270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6976-4EEE-6FF8-C74E-E83ED7951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6B0CA-C266-3574-3AEF-337918AD2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CF2A0-02E1-51C5-5759-BC8B15CB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9E6B7-6CE7-B841-9BFE-410A0CB7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247AA-0BC7-711F-DA03-1EECB85D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93B1-E183-30AC-47C3-21AC8F75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4F9DE-EF14-7665-901E-4880A8D0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C9DB0-FEE4-35F7-9E4F-44CEA1464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66758-71E4-5F6B-675E-D1ECA0F96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2D50A-0E2E-96E7-05EC-52A743BA3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97762-018C-12BC-04DB-6E7E88C0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C95DE-965E-895A-DBB2-B12F5DA0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6364D-694A-6CA7-B515-4407450E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5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3264-EBD3-3D1C-0FC0-833B97AA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267DA-78FA-229A-BDF6-3EB519EA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6282F-E5CA-8CF4-6042-8E073B76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B1BE6-C620-0CBA-57BA-190BC439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C1A99-8DAE-9613-1174-ACFD5574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C0C3C-FAD8-81F9-1824-6EBFF435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7FDA3-15A7-8D68-D9AA-BAB73E68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7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77DF-3358-881E-2F48-C5FE9EBD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003E0-17B9-1DB5-6348-2E2985E2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52784-4692-7036-E89B-B1F462776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BC907-6808-EB7A-21CC-5927FF50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C2BC6-C248-AC24-F465-FB9E556E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9868C-55F4-3EF2-38B6-D9E379DD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5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6681-A4F3-464B-9B36-3D2554B2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22278-9479-94E9-D59F-D556B16BF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C56DC-F45F-AEE8-F25F-92AA686F9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19543-A28E-71D0-F201-4C6DA3D3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414BC-640B-3629-FBBB-1DE6F5F9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6521F-240F-37D7-DA3B-7BCFAEC4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2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F38-9505-8578-AA43-638C99C1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15CF6-DA69-9F0C-3071-AF5DEEFD6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0D348-45B5-F666-DEA7-93D3F7C2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2C03D-B434-7AD0-8324-A8722985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DC2E-99F3-5512-42AA-38731A55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9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72120-70B8-1E4B-D211-AE4F23EDE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FE469-F259-EBEE-F382-0506895E0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1F4DD-7ABA-78CD-F2CA-14BE94C9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CB28F-35DC-5294-9DA9-786B75EC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3FEE-C90B-CDF5-9562-CC93F8FD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516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"/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encilGrayscale pencilSize="26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08B6F-8CC1-E0E9-AA2E-1B007427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CFCE2-44B5-14D0-6A3B-CBCF7F8F5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BEAC-4286-09DA-3AD0-5D588AA60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861E2-95D1-6345-9736-0F1D842AE3C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F0DC-7878-B607-45D5-6F8D06D70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BBAB7-AC82-3663-8F80-B1959BD23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0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987-A089-04F2-3763-62E5D827BC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1F3864"/>
                </a:solidFill>
              </a:rPr>
              <a:t>QueryGenie: A Self-Correcting Natural Language to SQL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BF962-D7B8-3044-BC3C-112E78CC1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364818"/>
          </a:xfrm>
        </p:spPr>
        <p:txBody>
          <a:bodyPr/>
          <a:lstStyle/>
          <a:p>
            <a:pPr algn="r"/>
            <a:r>
              <a:rPr sz="1800" dirty="0"/>
              <a:t>2320090050 : N V V S S </a:t>
            </a:r>
            <a:r>
              <a:rPr sz="1800" dirty="0" err="1"/>
              <a:t>Jayakanth</a:t>
            </a:r>
            <a:r>
              <a:rPr sz="1800" dirty="0"/>
              <a:t> Kamisetti</a:t>
            </a:r>
          </a:p>
          <a:p>
            <a:r>
              <a:rPr lang="en-US" sz="1800" dirty="0"/>
              <a:t>				   </a:t>
            </a:r>
            <a:r>
              <a:rPr sz="1800" dirty="0"/>
              <a:t>2320090009 : </a:t>
            </a:r>
            <a:r>
              <a:rPr sz="1800" dirty="0" err="1"/>
              <a:t>Boddupally</a:t>
            </a:r>
            <a:r>
              <a:rPr sz="1800" dirty="0"/>
              <a:t> Narendar</a:t>
            </a:r>
          </a:p>
          <a:p>
            <a:r>
              <a:rPr lang="en-US" sz="1800" dirty="0"/>
              <a:t>				   2320090018 : M Praneeth Reddy</a:t>
            </a:r>
            <a:r>
              <a:rPr sz="1800" dirty="0"/>
              <a:t/>
            </a:r>
            <a:r>
              <a:rPr sz="1800" dirty="0" err="1"/>
              <a:t/>
            </a:r>
            <a:r>
              <a:rPr sz="1800" dirty="0"/>
              <a:t/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207E50-8B7C-54B1-3E27-4620CCBA6CF4}"/>
              </a:ext>
            </a:extLst>
          </p:cNvPr>
          <p:cNvSpPr txBox="1">
            <a:spLocks/>
          </p:cNvSpPr>
          <p:nvPr/>
        </p:nvSpPr>
        <p:spPr>
          <a:xfrm>
            <a:off x="1524000" y="5320145"/>
            <a:ext cx="3546764" cy="817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1" dirty="0">
                <a:solidFill>
                  <a:schemeClr val="accent2">
                    <a:lumMod val="50000"/>
                  </a:schemeClr>
                </a:solidFill>
              </a:rPr>
              <a:t>Supervisor: M </a:t>
            </a:r>
            <a:r>
              <a:rPr sz="1800" b="1" dirty="0" err="1">
                <a:solidFill>
                  <a:schemeClr val="accent2">
                    <a:lumMod val="50000"/>
                  </a:schemeClr>
                </a:solidFill>
              </a:rPr>
              <a:t>Parameswar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357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0424-00EE-4DF7-F2C6-50391674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BC2F5-B651-06DA-36E3-17F7CACB0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  <a:p>
            <a:r>
              <a:rPr lang="en-US" b="1" dirty="0"/>
              <a:t>Related Research Papers</a:t>
            </a:r>
          </a:p>
          <a:p>
            <a:r>
              <a:rPr lang="en-US" b="1" dirty="0"/>
              <a:t>Dataset(s)</a:t>
            </a:r>
          </a:p>
          <a:p>
            <a:r>
              <a:rPr lang="en-US" b="1" dirty="0"/>
              <a:t>Architecture Diagram / workflow</a:t>
            </a:r>
          </a:p>
          <a:p>
            <a:r>
              <a:rPr lang="en-US" b="1" dirty="0"/>
              <a:t>Environment setup</a:t>
            </a:r>
          </a:p>
          <a:p>
            <a:r>
              <a:rPr lang="en-US" b="1" dirty="0"/>
              <a:t>Expected Outcome</a:t>
            </a:r>
          </a:p>
          <a:p>
            <a:r>
              <a:rPr lang="en-US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24910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47EC-F709-BA87-FB72-313CFD69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ACFE-A3CB-D225-E1F3-DC82C307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Problem </a:t>
            </a:r>
            <a:r>
              <a:rPr lang="en-US" dirty="0"/>
              <a:t>S</a:t>
            </a:r>
            <a:r>
              <a:rPr lang="en-US" b="1" dirty="0">
                <a:solidFill>
                  <a:srgbClr val="002060"/>
                </a:solidFill>
              </a:rPr>
              <a:t>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20EC-224E-A5B3-968C-E3C7BFDF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/>
              <a:t>Relational databases store the majority of institutional data, but retrieving information requires proficiency in SQL.</a:t>
            </a:r>
          </a:p>
          <a:p>
            <a:pPr>
              <a:spcAft>
                <a:spcPts val="500"/>
              </a:spcAft>
            </a:pPr>
            <a:r>
              <a:rPr sz="1500"/>
              <a:t>Non-technical stakeholders (administrative staff, faculty, management) therefore depend on developers for routine data requests.</a:t>
            </a:r>
          </a:p>
          <a:p>
            <a:pPr>
              <a:spcAft>
                <a:spcPts val="500"/>
              </a:spcAft>
            </a:pPr>
            <a:r>
              <a:rPr sz="1500"/>
              <a:t>Text-to-SQL aims to remove this barrier by translating a natural language question into an executable SQL query.</a:t>
            </a:r>
          </a:p>
          <a:p>
            <a:pPr>
              <a:spcAft>
                <a:spcPts val="500"/>
              </a:spcAft>
            </a:pPr>
            <a:r>
              <a:rPr sz="1500" b="1"/>
              <a:t>Limitations identified in the anchor paper (CodeS, SIGMOD 2024):</a:t>
            </a:r>
          </a:p>
          <a:p>
            <a:pPr lvl="1">
              <a:spcAft>
                <a:spcPts val="500"/>
              </a:spcAft>
            </a:pPr>
            <a:r>
              <a:rPr sz="1300"/>
              <a:t>State-of-the-art accuracy relies on closed-source LLMs such as GPT-4, which brings unclear model architectures, data privacy risk and high inference cost.</a:t>
            </a:r>
          </a:p>
          <a:p>
            <a:pPr lvl="1">
              <a:spcAft>
                <a:spcPts val="500"/>
              </a:spcAft>
            </a:pPr>
            <a:r>
              <a:rPr sz="1300"/>
              <a:t>Schema linking over large, domain-specific schemas remains the principal bottleneck.</a:t>
            </a:r>
          </a:p>
          <a:p>
            <a:pPr lvl="1">
              <a:spcAft>
                <a:spcPts val="500"/>
              </a:spcAft>
            </a:pPr>
            <a:r>
              <a:rPr sz="1300"/>
              <a:t>Rapid adaptation to a new database domain is difficult without large amounts of labelled data.</a:t>
            </a:r>
          </a:p>
          <a:p>
            <a:pPr>
              <a:spcAft>
                <a:spcPts val="500"/>
              </a:spcAft>
            </a:pPr>
            <a:r>
              <a:rPr sz="1500" b="1"/>
              <a:t>Additional limitations identified across the wider literature:</a:t>
            </a:r>
          </a:p>
          <a:p>
            <a:pPr lvl="1">
              <a:spcAft>
                <a:spcPts val="500"/>
              </a:spcAft>
            </a:pPr>
            <a:r>
              <a:rPr sz="1300"/>
              <a:t>A significant proportion of generated queries fail to execute against the target database.</a:t>
            </a:r>
          </a:p>
          <a:p>
            <a:pPr lvl="1">
              <a:spcAft>
                <a:spcPts val="500"/>
              </a:spcAft>
            </a:pPr>
            <a:r>
              <a:rPr sz="1300"/>
              <a:t>Systems answer with uniform confidence and provide no signal when the generated query is likely to be wrong.</a:t>
            </a:r>
          </a:p>
          <a:p>
            <a:pPr lvl="1">
              <a:spcAft>
                <a:spcPts val="500"/>
              </a:spcAft>
            </a:pPr>
            <a:r>
              <a:rPr sz="1300"/>
              <a:t>Results are returned as raw tables with no interpretive support for the end user.</a:t>
            </a:r>
          </a:p>
        </p:txBody>
      </p:sp>
    </p:spTree>
    <p:extLst>
      <p:ext uri="{BB962C8B-B14F-4D97-AF65-F5344CB8AC3E}">
        <p14:creationId xmlns:p14="http://schemas.microsoft.com/office/powerpoint/2010/main" val="288807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B8A5-CBB4-AB86-EE45-892BA927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Related Research Papers (1/4)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87D798-5446-8714-262B-462E922AA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50429"/>
              </p:ext>
            </p:extLst>
          </p:nvPr>
        </p:nvGraphicFramePr>
        <p:xfrm>
          <a:off x="614275" y="2501900"/>
          <a:ext cx="11193345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CodeS (SIGMOD 2024)
arXiv:2402.16347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SOTA text-to-SQL depends on closed-source LLMs (privacy, cost, opacity)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Spider, BIRD, Spider-DK/Syn/Realistic, Dr.Spider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Open-source LLMs (1B-15B) incrementally pre-trained on an SQL-centric corpus; strategic prompt construction; bi-directional data augmentation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Reports new SOTA accuracy and robustness on nearly all benchmarks with far smaller parameter sizes; weights released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RESDSQL (AAAI 2023)
arXiv:2302.05965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Schema linking and skeleton parsing entangled in one decoder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 + Spider-DK, Syn, Realistic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Ranking-enhanced encoder decoupled from a skeleton-aware decoder; optional NatSQL intermediate representation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Improved EM/EX over prior encoder-decoder baselines; Base/Large/3B checkpoints released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DIN-SQL (NeurIPS 2023)
arXiv:2304.11015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Single-pass LLM prompting fails on complex, multi-clause queries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Spider, WikiSQL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Decomposes the task into sub-problems (schema linking, classification, generation) with an explicit self-correction 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Decomposition plus self-correction substantially improves in-context learning performance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PICARD (EMNLP 2021)
arXiv:2109.05093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Seq2seq models emit syntactically invalid 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Spider, CoSQL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Constrained incremental parsing that rejects inadmissible tokens during auto-regressive decoding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Execution errors on Spider dev reduced from 12% to 2%; SOTA on Spider and CoSQL at publication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90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66CB-2487-4483-7A3C-144E3612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Related Research Papers (2/4)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Spider (EMNLP 2018)
arXiv:1809.08887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 large cross-domain benchmark existed for complex 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 (introduced)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Human-annotated dataset: 10,181 questions, 5,693 unique complex SQL queries, 200 databases, 138 domains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Best model of the time reached only 12.4% exact match on the database split, establishing task difficulty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BIRD (NeurIPS 2023)
arXiv:2305.03111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Benchmarks ignore dirty, large-scale real-world databases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BIRD (introduced)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Large-scale benchmark with external knowledge grounding and efficiency-aware evaluation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Reveals a large gap between model performance and human performance on realistic databases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DAIL-SQL (VLDB 2024)
arXiv:2308.15363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 systematic comparison of LLM prompting strategies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Spider, Spider-Realistic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Systematic benchmark of question representation, example selection and example organization for LLM prompting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Identifies an effective prompt design and reports strong Spider accuracy at reduced token cost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MAC-SQL (ACL 2025)
arXiv:2312.11242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Single-agent LLMs struggle with large schemas and complex questions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Spider, BIRD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Multi-agent framework: a Selector prunes the schema, a Decomposer splits the question, a Refiner repairs faulty 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Multi-agent collaboration with refinement improves execution accuracy over single-agent baselines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9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Related Research Papers (3/4)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CHESS (arXiv 2024)
arXiv:2405.16755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Industrial-scale schemas exceed the usable LLM context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Spider, BIRD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Contextual harnessing: retrieval-based schema pruning, column-value grounding and efficient SQL synthesis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Achieves competitive accuracy while substantially reducing the schema context supplied to the model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CHASE-SQL (arXiv 2024)
arXiv:2410.01943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 single generated query is unreliable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Spider, BIRD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Multi-path reasoning generates diverse candidates; a preference-optimized selector picks the best 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Candidate generation with learned selection yields leading BIRD execution accuracy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E-SQL (arXiv 2024)
arXiv:2409.16751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Schema linking errors propagate to the final query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BIRD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Direct schema linking via question enrichment, augmenting the question with relevant schema and value context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Improved execution accuracy on BIRD through enriched question representation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Distillery (NeurIPS 2024)
arXiv:2408.07702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Is an explicit schema-linking module still required?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BIRD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Empirical study feeding the entire schema to well-reasoned LLMs instead of pruning 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Finds that with strong reasoning models, explicit schema linking can hurt rather than help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Related Research Papers (4/4)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SuperSQL / NL2SQL360 (VLDB 2024)
arXiv:2406.01265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Modules of NL2SQL pipelines are never compared fairly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Spider, BIRD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 multi-angle evaluation framework that isolates and recombines pipeline modules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Identifies the best-performing module combination and reports strong Spider execution accuracy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RAT-SQL (ACL 2020)
arXiv:1911.04942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Encoding database structure and linking it to the question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Spider, WikiSQL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Relation-aware self-attention that jointly encodes schema structure and question-schema alignment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Large improvement over prior cross-domain parsers; a long-standing pre-LLM baseline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Survey of LLM-based Text-to-SQL (TKDE 2025)
arXiv:2406.08426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Field lacks a consolidated view of LLM-era methods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Reviews Spider, BIRD and robustness variants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Systematic survey of datasets, prompting and fine-tuning paradigms, and evaluation metrics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Consolidates open challenges: schema linking, robustness, efficiency and trustworthiness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LIDA (ACL 2023)
arXiv:2303.02927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Query results are returned without interpretation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Grammar-agnostic; works over arbitrary tabular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LLM-driven pipeline that summarizes data, generates visualization goals and produces chart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Demonstrates automatic generation of appropriate, grammar-agnostic visualizations from tabular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DDE0-8A2C-ED6B-154D-D21691F7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Dataset(s)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DDA3-3837-1013-1D85-7CA3CDCC8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/>
              <a:t>Primary benchmark: Spider (Yu et al., EMNLP 2018)</a:t>
            </a:r>
          </a:p>
          <a:p>
            <a:pPr lvl="1">
              <a:spcAft>
                <a:spcPts val="500"/>
              </a:spcAft>
            </a:pPr>
            <a:r>
              <a:rPr sz="1300"/>
              <a:t>10,181 natural language questions paired with 5,693 unique complex SQL queries</a:t>
            </a:r>
          </a:p>
          <a:p>
            <a:pPr lvl="1">
              <a:spcAft>
                <a:spcPts val="500"/>
              </a:spcAft>
            </a:pPr>
            <a:r>
              <a:rPr sz="1300"/>
              <a:t>200 databases containing multiple tables, spanning 138 different domains</a:t>
            </a:r>
          </a:p>
          <a:p>
            <a:pPr lvl="1">
              <a:spcAft>
                <a:spcPts val="500"/>
              </a:spcAft>
            </a:pPr>
            <a:r>
              <a:rPr sz="1300"/>
              <a:t>Annotated by 11 college students; train / dev / test splits use disjoint databases</a:t>
            </a:r>
          </a:p>
          <a:p>
            <a:pPr lvl="1">
              <a:spcAft>
                <a:spcPts val="500"/>
              </a:spcAft>
            </a:pPr>
            <a:r>
              <a:rPr sz="1300"/>
              <a:t>Cross-domain by design: the model must generalise to unseen schemas, not memorise them</a:t>
            </a:r>
          </a:p>
          <a:p>
            <a:pPr>
              <a:spcAft>
                <a:spcPts val="500"/>
              </a:spcAft>
            </a:pPr>
            <a:r>
              <a:rPr sz="1500"/>
              <a:t>Source: Hugging Face Datasets - https://huggingface.co/datasets/spider</a:t>
            </a:r>
          </a:p>
          <a:p>
            <a:pPr lvl="1">
              <a:spcAft>
                <a:spcPts val="500"/>
              </a:spcAft>
            </a:pPr>
            <a:r>
              <a:rPr sz="1300"/>
              <a:t>Hugging Face is an approved data source under the department SOP. Kaggle is excluded.</a:t>
            </a:r>
          </a:p>
          <a:p>
            <a:pPr>
              <a:spcAft>
                <a:spcPts val="500"/>
              </a:spcAft>
            </a:pPr>
            <a:r>
              <a:rPr sz="1500" b="1"/>
              <a:t>Evaluation metrics:</a:t>
            </a:r>
          </a:p>
          <a:p>
            <a:pPr lvl="1">
              <a:spcAft>
                <a:spcPts val="500"/>
              </a:spcAft>
            </a:pPr>
            <a:r>
              <a:rPr sz="1300"/>
              <a:t>Exact-set Match (EM): clause-wise set comparison against the gold query</a:t>
            </a:r>
          </a:p>
          <a:p>
            <a:pPr lvl="1">
              <a:spcAft>
                <a:spcPts val="500"/>
              </a:spcAft>
            </a:pPr>
            <a:r>
              <a:rPr sz="1300"/>
              <a:t>Execution Accuracy (EX): compares the result set obtained by executing the query</a:t>
            </a:r>
          </a:p>
          <a:p>
            <a:pPr>
              <a:spcAft>
                <a:spcPts val="500"/>
              </a:spcAft>
            </a:pPr>
            <a:r>
              <a:rPr sz="1500"/>
              <a:t>Robustness variants used during the enhancement phase: Spider-Syn, Spider-DK, Spider-Realistic.</a:t>
            </a:r>
          </a:p>
          <a:p>
            <a:pPr>
              <a:spcAft>
                <a:spcPts val="500"/>
              </a:spcAft>
            </a:pPr>
            <a:r>
              <a:rPr sz="1500"/>
              <a:t>A custom academic database schema will additionally be constructed to evaluate domain adaptation.</a:t>
            </a:r>
          </a:p>
        </p:txBody>
      </p:sp>
    </p:spTree>
    <p:extLst>
      <p:ext uri="{BB962C8B-B14F-4D97-AF65-F5344CB8AC3E}">
        <p14:creationId xmlns:p14="http://schemas.microsoft.com/office/powerpoint/2010/main" val="3765852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3DF0-FB58-63D4-45FC-2D647681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Architecture Diagram / Workflow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00" y="1750000"/>
            <a:ext cx="10600000" cy="369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1173-DB9D-2A55-1AC2-0B9A8596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Environment setup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75B2-4CCF-E3CC-67EB-BAFDAAE3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 dirty="0"/>
              <a:t>Anchor repository: https://</a:t>
            </a:r>
            <a:r>
              <a:rPr sz="1500" dirty="0" err="1"/>
              <a:t>github.com</a:t>
            </a:r>
            <a:r>
              <a:rPr sz="1500" dirty="0"/>
              <a:t>/RUCKBReasoning/codes  (official, Apache-2.0)</a:t>
            </a:r>
          </a:p>
          <a:p>
            <a:pPr lvl="1">
              <a:spcAft>
                <a:spcPts val="500"/>
              </a:spcAft>
            </a:pPr>
            <a:r>
              <a:rPr sz="1300" dirty="0"/>
              <a:t>Includes a dedicated "Reproduce our results" section with inference and evaluation scripts</a:t>
            </a:r>
          </a:p>
          <a:p>
            <a:pPr>
              <a:spcAft>
                <a:spcPts val="500"/>
              </a:spcAft>
            </a:pPr>
            <a:r>
              <a:rPr sz="1500" dirty="0"/>
              <a:t>Pretrained weights: Hugging Face - </a:t>
            </a:r>
            <a:r>
              <a:rPr sz="1500" dirty="0" err="1"/>
              <a:t>seeklhy</a:t>
            </a:r>
            <a:r>
              <a:rPr sz="1500" dirty="0"/>
              <a:t>/codes-1b, codes-3b, codes-7b, codes-15b</a:t>
            </a:r>
          </a:p>
          <a:p>
            <a:pPr>
              <a:spcAft>
                <a:spcPts val="500"/>
              </a:spcAft>
            </a:pPr>
            <a:r>
              <a:rPr sz="1500" dirty="0"/>
              <a:t>Backup repository: https://</a:t>
            </a:r>
            <a:r>
              <a:rPr sz="1500" dirty="0" err="1"/>
              <a:t>github.com</a:t>
            </a:r>
            <a:r>
              <a:rPr sz="1500" dirty="0"/>
              <a:t>/RUCKBReasoning/RESDSQL  (official, MIT)</a:t>
            </a:r>
          </a:p>
          <a:p>
            <a:pPr>
              <a:spcAft>
                <a:spcPts val="500"/>
              </a:spcAft>
            </a:pPr>
            <a:r>
              <a:rPr sz="1500" dirty="0"/>
              <a:t>Enhancement reference code: https://</a:t>
            </a:r>
            <a:r>
              <a:rPr sz="1500" dirty="0" err="1"/>
              <a:t>github.com</a:t>
            </a:r>
            <a:r>
              <a:rPr sz="1500" dirty="0"/>
              <a:t>/</a:t>
            </a:r>
            <a:r>
              <a:rPr sz="1500" dirty="0" err="1"/>
              <a:t>MohammadrezaPourreza</a:t>
            </a:r>
            <a:r>
              <a:rPr sz="1500" dirty="0"/>
              <a:t>/Few-shot-NL2SQL-with-prompting  (MIT)</a:t>
            </a:r>
          </a:p>
          <a:p>
            <a:pPr>
              <a:spcAft>
                <a:spcPts val="500"/>
              </a:spcAft>
            </a:pPr>
            <a:r>
              <a:rPr sz="1500" dirty="0"/>
              <a:t>Software stack: Python 3.9+, </a:t>
            </a:r>
            <a:r>
              <a:rPr sz="1500" dirty="0" err="1"/>
              <a:t>PyTorch</a:t>
            </a:r>
            <a:r>
              <a:rPr sz="1500" dirty="0"/>
              <a:t>, Hugging Face Transformers, SQLite, Flask/</a:t>
            </a:r>
            <a:r>
              <a:rPr sz="1500" dirty="0" err="1"/>
              <a:t>FastAPI</a:t>
            </a:r>
            <a:r>
              <a:rPr sz="1500" dirty="0"/>
              <a:t> backend, React frontend.</a:t>
            </a:r>
          </a:p>
          <a:p>
            <a:pPr>
              <a:spcAft>
                <a:spcPts val="500"/>
              </a:spcAft>
            </a:pPr>
            <a:r>
              <a:rPr sz="1500" b="1" dirty="0"/>
              <a:t>Hardware plan:</a:t>
            </a:r>
          </a:p>
          <a:p>
            <a:pPr lvl="1">
              <a:spcAft>
                <a:spcPts val="500"/>
              </a:spcAft>
            </a:pPr>
            <a:r>
              <a:rPr sz="1300" dirty="0"/>
              <a:t>CodeS-1B inference runs on a free Google </a:t>
            </a:r>
            <a:r>
              <a:rPr sz="1300" dirty="0" err="1"/>
              <a:t>Colab</a:t>
            </a:r>
            <a:r>
              <a:rPr sz="1300" dirty="0"/>
              <a:t> T4 GPU - no dedicated hardware required</a:t>
            </a:r>
          </a:p>
          <a:p>
            <a:pPr lvl="1">
              <a:spcAft>
                <a:spcPts val="500"/>
              </a:spcAft>
            </a:pPr>
            <a:r>
              <a:rPr sz="1300" dirty="0"/>
              <a:t>Larger scales (3B/7B) optional, subject to GPU availability</a:t>
            </a:r>
          </a:p>
          <a:p>
            <a:pPr>
              <a:spcAft>
                <a:spcPts val="500"/>
              </a:spcAft>
            </a:pPr>
            <a:r>
              <a:rPr sz="1500" dirty="0"/>
              <a:t>Version control: public GitHub repository "</a:t>
            </a:r>
            <a:r>
              <a:rPr sz="1500" dirty="0" err="1"/>
              <a:t>querygenie</a:t>
            </a:r>
            <a:r>
              <a:rPr sz="1500" dirty="0"/>
              <a:t>" with the supervisor added as a collaborator; both members commit under their own accounts.</a:t>
            </a:r>
          </a:p>
          <a:p>
            <a:pPr>
              <a:spcAft>
                <a:spcPts val="500"/>
              </a:spcAft>
            </a:pPr>
            <a:r>
              <a:rPr sz="1500" dirty="0"/>
              <a:t>Reproducibility: fixed random seeds, logged runtime and hardware specification, three independent runs recorded.</a:t>
            </a:r>
          </a:p>
        </p:txBody>
      </p:sp>
    </p:spTree>
    <p:extLst>
      <p:ext uri="{BB962C8B-B14F-4D97-AF65-F5344CB8AC3E}">
        <p14:creationId xmlns:p14="http://schemas.microsoft.com/office/powerpoint/2010/main" val="3472489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656B-0821-0969-8445-5D6D4A10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Expected Outcome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7D505-03EF-17A6-20CD-8D127B1A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 dirty="0"/>
              <a:t>Reproduction (Month 2):</a:t>
            </a:r>
          </a:p>
          <a:p>
            <a:pPr lvl="1">
              <a:spcAft>
                <a:spcPts val="400"/>
              </a:spcAft>
            </a:pPr>
            <a:r>
              <a:rPr sz="1200" dirty="0"/>
              <a:t>Independently reproduce the Execution Accuracy and Exact Match reported by </a:t>
            </a:r>
            <a:r>
              <a:rPr sz="1200" dirty="0" err="1"/>
              <a:t>CodeS</a:t>
            </a:r>
            <a:r>
              <a:rPr sz="1200" dirty="0"/>
              <a:t> on Spider, within the +/- 5-10% tolerance permitted by the SOP.</a:t>
            </a:r>
          </a:p>
          <a:p>
            <a:pPr lvl="1">
              <a:spcAft>
                <a:spcPts val="400"/>
              </a:spcAft>
            </a:pPr>
            <a:r>
              <a:rPr sz="1200" dirty="0"/>
              <a:t>Ablation study disabling the schema filter module to verify its contribution.</a:t>
            </a:r>
          </a:p>
          <a:p>
            <a:pPr>
              <a:spcAft>
                <a:spcPts val="400"/>
              </a:spcAft>
            </a:pPr>
            <a:r>
              <a:rPr sz="1400" b="1" dirty="0"/>
              <a:t>Enhancement 1 - Execution-guided self-correction:</a:t>
            </a:r>
          </a:p>
          <a:p>
            <a:pPr lvl="1">
              <a:spcAft>
                <a:spcPts val="400"/>
              </a:spcAft>
            </a:pPr>
            <a:r>
              <a:rPr sz="1200" dirty="0"/>
              <a:t>Detect queries that fail to execute and repair them automatically, following the decomposed self-correction strategy of DIN-SQL.</a:t>
            </a:r>
          </a:p>
          <a:p>
            <a:pPr>
              <a:spcAft>
                <a:spcPts val="400"/>
              </a:spcAft>
            </a:pPr>
            <a:r>
              <a:rPr sz="1400" b="1" dirty="0"/>
              <a:t>Enhancement 2 - Confidence-aware abstention (novel contribution):</a:t>
            </a:r>
          </a:p>
          <a:p>
            <a:pPr lvl="1">
              <a:spcAft>
                <a:spcPts val="400"/>
              </a:spcAft>
            </a:pPr>
            <a:r>
              <a:rPr sz="1200" dirty="0"/>
              <a:t>Generate multiple candidate queries, measure agreement, and abstain with a clarifying question when confidence is low, instead of answering incorrectly.</a:t>
            </a:r>
          </a:p>
          <a:p>
            <a:pPr lvl="1">
              <a:spcAft>
                <a:spcPts val="400"/>
              </a:spcAft>
            </a:pPr>
            <a:r>
              <a:rPr sz="1200" dirty="0"/>
              <a:t>Evaluated using an accuracy-versus-coverage curve - a dimension existing systems do not report.</a:t>
            </a:r>
          </a:p>
          <a:p>
            <a:pPr>
              <a:spcAft>
                <a:spcPts val="400"/>
              </a:spcAft>
            </a:pPr>
            <a:r>
              <a:rPr sz="1400" b="1" dirty="0"/>
              <a:t>Practical evaluation:</a:t>
            </a:r>
          </a:p>
          <a:p>
            <a:pPr lvl="1">
              <a:spcAft>
                <a:spcPts val="400"/>
              </a:spcAft>
            </a:pPr>
            <a:r>
              <a:rPr sz="1200" dirty="0"/>
              <a:t>Quantify the benchmark-to-reality gap by evaluating on a custom academic schema alongside Spider.</a:t>
            </a:r>
          </a:p>
          <a:p>
            <a:pPr lvl="1">
              <a:spcAft>
                <a:spcPts val="400"/>
              </a:spcAft>
            </a:pPr>
            <a:r>
              <a:rPr sz="1200" dirty="0"/>
              <a:t>Fully local, open-weight deployment: no database schema is transmitted to a third-party API.</a:t>
            </a:r>
          </a:p>
          <a:p>
            <a:pPr>
              <a:spcAft>
                <a:spcPts val="400"/>
              </a:spcAft>
            </a:pPr>
            <a:r>
              <a:rPr sz="1400" dirty="0"/>
              <a:t>Final deliverable: a full-stack web application returning validated SQL, a results table and an automatically generated chart, with a public reproducible repository.</a:t>
            </a:r>
          </a:p>
        </p:txBody>
      </p:sp>
    </p:spTree>
    <p:extLst>
      <p:ext uri="{BB962C8B-B14F-4D97-AF65-F5344CB8AC3E}">
        <p14:creationId xmlns:p14="http://schemas.microsoft.com/office/powerpoint/2010/main" val="62151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C1D4-A931-668D-A188-5C11E68A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35C1D-7495-EB2D-9FA3-079F41663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100"/>
              <a:t>Dibia, V. (2023). LIDA: A tool for automatic generation of grammar-agnostic visualizations and infographics using large language models. arXiv. https://arxiv.org/abs/2303.02927</a:t>
            </a:r>
          </a:p>
          <a:p>
            <a:pPr>
              <a:spcAft>
                <a:spcPts val="300"/>
              </a:spcAft>
            </a:pPr>
            <a:r>
              <a:rPr sz="1100"/>
              <a:t>Gao, D., Wang, H., Li, J., et al. (2024). Text-to-SQL empowered by large language models: A benchmark evaluation. arXiv. https://arxiv.org/abs/2308.15363</a:t>
            </a:r>
          </a:p>
          <a:p>
            <a:pPr>
              <a:spcAft>
                <a:spcPts val="300"/>
              </a:spcAft>
            </a:pPr>
            <a:r>
              <a:rPr sz="1100"/>
              <a:t>Hong, Z., Yuan, Z., Zhang, Q., et al. (2025). Next-generation database interfaces: A survey of LLM-based text-to-SQL. arXiv. https://arxiv.org/abs/2406.08426</a:t>
            </a:r>
          </a:p>
          <a:p>
            <a:pPr>
              <a:spcAft>
                <a:spcPts val="300"/>
              </a:spcAft>
            </a:pPr>
            <a:r>
              <a:rPr sz="1100"/>
              <a:t>Li, H., Zhang, J., Li, C., &amp; Chen, H. (2023). RESDSQL: Decoupling schema linking and skeleton parsing for text-to-SQL. arXiv. https://arxiv.org/abs/2302.05965</a:t>
            </a:r>
          </a:p>
          <a:p>
            <a:pPr>
              <a:spcAft>
                <a:spcPts val="300"/>
              </a:spcAft>
            </a:pPr>
            <a:r>
              <a:rPr sz="1100"/>
              <a:t>Li, H., Zhang, J., Liu, H., Fan, J., Zhang, X., Zhu, J., Wei, R., Pan, H., Li, C., &amp; Chen, H. (2024). CodeS: Towards building open-source language models for text-to-SQL. arXiv. https://arxiv.org/abs/2402.16347</a:t>
            </a:r>
          </a:p>
          <a:p>
            <a:pPr>
              <a:spcAft>
                <a:spcPts val="300"/>
              </a:spcAft>
            </a:pPr>
            <a:r>
              <a:rPr sz="1100"/>
              <a:t>Li, J., Hui, B., Qu, G., et al. (2023). Can LLM already serve as a database interface? A big bench for large-scale database grounded text-to-SQLs. arXiv. https://arxiv.org/abs/2305.03111</a:t>
            </a:r>
          </a:p>
          <a:p>
            <a:pPr>
              <a:spcAft>
                <a:spcPts val="300"/>
              </a:spcAft>
            </a:pPr>
            <a:r>
              <a:rPr sz="1100"/>
              <a:t>Pourreza, M., &amp; Rafiei, D. (2023). DIN-SQL: Decomposed in-context learning of text-to-SQL with self-correction. arXiv. https://arxiv.org/abs/2304.11015</a:t>
            </a:r>
          </a:p>
          <a:p>
            <a:pPr>
              <a:spcAft>
                <a:spcPts val="300"/>
              </a:spcAft>
            </a:pPr>
            <a:r>
              <a:rPr sz="1100"/>
              <a:t>Scholak, T., Schucher, N., &amp; Bahdanau, D. (2021). PICARD: Parsing incrementally for constrained auto-regressive decoding from language models. arXiv. https://arxiv.org/abs/2109.05093</a:t>
            </a:r>
          </a:p>
          <a:p>
            <a:pPr>
              <a:spcAft>
                <a:spcPts val="300"/>
              </a:spcAft>
            </a:pPr>
            <a:r>
              <a:rPr sz="1100"/>
              <a:t>Talaei, S., Pourreza, M., Chang, Y.-C., et al. (2024). CHESS: Contextual harnessing for efficient SQL synthesis. arXiv. https://arxiv.org/abs/2405.16755</a:t>
            </a:r>
          </a:p>
          <a:p>
            <a:pPr>
              <a:spcAft>
                <a:spcPts val="300"/>
              </a:spcAft>
            </a:pPr>
            <a:r>
              <a:rPr sz="1100"/>
              <a:t>Wang, B., Shin, R., Liu, X., Polozov, O., &amp; Richardson, M. (2020). RAT-SQL: Relation-aware schema encoding and linking for text-to-SQL parsers. arXiv. https://arxiv.org/abs/1911.04942</a:t>
            </a:r>
          </a:p>
          <a:p>
            <a:pPr>
              <a:spcAft>
                <a:spcPts val="300"/>
              </a:spcAft>
            </a:pPr>
            <a:r>
              <a:rPr sz="1100"/>
              <a:t>Yu, T., Zhang, R., Yang, K., et al. (2018). Spider: A large-scale human-labeled dataset for complex and cross-domain semantic parsing and text-to-SQL task. arXiv. https://arxiv.org/abs/1809.08887</a:t>
            </a:r>
          </a:p>
        </p:txBody>
      </p:sp>
    </p:spTree>
    <p:extLst>
      <p:ext uri="{BB962C8B-B14F-4D97-AF65-F5344CB8AC3E}">
        <p14:creationId xmlns:p14="http://schemas.microsoft.com/office/powerpoint/2010/main" val="2237049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03201-DBE6-7383-5D47-94178423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8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651</TotalTime>
  <Words>2056</Words>
  <Application>Microsoft Macintosh PowerPoint</Application>
  <PresentationFormat>Widescreen</PresentationFormat>
  <Paragraphs>180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QueryGenie: A Self-Correcting Natural Language to SQL Interface</vt:lpstr>
      <vt:lpstr>Outline</vt:lpstr>
      <vt:lpstr>Problem Statement</vt:lpstr>
      <vt:lpstr>Related Research Papers (1/4)</vt:lpstr>
      <vt:lpstr>Related Research Papers (2/4)</vt:lpstr>
      <vt:lpstr>Related Research Papers (3/4)</vt:lpstr>
      <vt:lpstr>Related Research Papers (4/4)</vt:lpstr>
      <vt:lpstr>Dataset(s)</vt:lpstr>
      <vt:lpstr>Architecture Diagram / Workflow</vt:lpstr>
      <vt:lpstr>Environment setup</vt:lpstr>
      <vt:lpstr>Expected Outcome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Jagan Mohan Reddy D</dc:creator>
  <cp:lastModifiedBy>N V V S S JAYAKANTH KAMISETTI .</cp:lastModifiedBy>
  <cp:revision>51</cp:revision>
  <dcterms:created xsi:type="dcterms:W3CDTF">2026-04-11T11:52:12Z</dcterms:created>
  <dcterms:modified xsi:type="dcterms:W3CDTF">2026-08-04T17:23:39Z</dcterms:modified>
</cp:coreProperties>
</file>